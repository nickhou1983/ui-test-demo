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0212F"/>
                </a:solidFill>
                <a:latin typeface="Microsoft YaHei"/>
              </a:defRPr>
            </a:pPr>
            <a:r>
              <a:rPr sz="1600" b="0" i="0" u="none" strike="noStrike">
                <a:solidFill>
                  <a:srgbClr val="10212F"/>
                </a:solidFill>
                <a:latin typeface="Microsoft YaHei"/>
              </a:rPr>
              <a:t>现有测试资产分布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现有资产</c:v>
                </c:pt>
              </c:strCache>
            </c:strRef>
          </c:tx>
          <c:spPr>
            <a:solidFill>
              <a:srgbClr val="0E8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1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功能型 CT</c:v>
                  </c:pt>
                  <c:pt idx="1">
                    <c:v>E2E 规格</c:v>
                  </c:pt>
                  <c:pt idx="2">
                    <c:v>页面视觉基线</c:v>
                  </c:pt>
                  <c:pt idx="3">
                    <c:v>组件视觉基线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1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8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83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覆盖结构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8C8F"/>
              </a:solidFill>
              <a:effectLst/>
            </c:spPr>
          </c:dPt>
          <c:dPt>
            <c:idx val="1"/>
            <c:bubble3D val="0"/>
            <c:spPr>
              <a:solidFill>
                <a:srgbClr val="E3725B"/>
              </a:solidFill>
              <a:effectLst/>
            </c:spPr>
          </c:dPt>
          <c:dPt>
            <c:idx val="2"/>
            <c:bubble3D val="0"/>
            <c:spPr>
              <a:solidFill>
                <a:srgbClr val="D5A44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功能验证</c:v>
                </c:pt>
                <c:pt idx="1">
                  <c:v>视觉验证</c:v>
                </c:pt>
                <c:pt idx="2">
                  <c:v>治理扩展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</c:v>
                </c:pt>
                <c:pt idx="1">
                  <c:v>18</c:v>
                </c:pt>
                <c:pt idx="2">
                  <c:v>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-822960"/>
            <a:ext cx="5120640" cy="5120640"/>
          </a:xfrm>
          <a:prstGeom prst="arc">
            <a:avLst/>
          </a:prstGeom>
          <a:solidFill>
            <a:srgbClr val="17324D">
              <a:alpha val="0"/>
            </a:srgbClr>
          </a:solidFill>
          <a:ln w="127000">
            <a:solidFill>
              <a:srgbClr val="0E8C8F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71800"/>
            <a:ext cx="4754880" cy="3291840"/>
          </a:xfrm>
          <a:prstGeom prst="arc">
            <a:avLst/>
          </a:prstGeom>
          <a:solidFill>
            <a:srgbClr val="17324D">
              <a:alpha val="0"/>
            </a:srgbClr>
          </a:solidFill>
          <a:ln w="88900">
            <a:solidFill>
              <a:srgbClr val="E3725B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035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59C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SOLUTION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07899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4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面向技术负责人，聚焦 UI 自动化分层、回归效率、视觉治理与 Azure 扩展路径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49808" y="2944368"/>
            <a:ext cx="1920240" cy="749808"/>
          </a:xfrm>
          <a:prstGeom prst="roundRect">
            <a:avLst>
              <a:gd name="adj" fmla="val 14634"/>
            </a:avLst>
          </a:prstGeom>
          <a:solidFill>
            <a:srgbClr val="244B6A"/>
          </a:solidFill>
          <a:ln w="12700">
            <a:solidFill>
              <a:srgbClr val="244B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9776" y="2944368"/>
            <a:ext cx="2057400" cy="749808"/>
          </a:xfrm>
          <a:prstGeom prst="roundRect">
            <a:avLst>
              <a:gd name="adj" fmla="val 14634"/>
            </a:avLst>
          </a:prstGeom>
          <a:solidFill>
            <a:srgbClr val="244B6A"/>
          </a:solidFill>
          <a:ln w="12700">
            <a:solidFill>
              <a:srgbClr val="244B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6048" y="2944368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244B6A"/>
          </a:solidFill>
          <a:ln w="12700">
            <a:solidFill>
              <a:srgbClr val="244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14553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个测试代理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35808" y="314553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条日常测试链路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39512" y="31455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/ VLM 可选增强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0" y="960120"/>
            <a:ext cx="3749040" cy="4800600"/>
          </a:xfrm>
          <a:prstGeom prst="roundRect">
            <a:avLst>
              <a:gd name="adj" fmla="val 2927"/>
            </a:avLst>
          </a:prstGeom>
          <a:solidFill>
            <a:srgbClr val="FBF9F5"/>
          </a:solidFill>
          <a:ln w="12700">
            <a:solidFill>
              <a:srgbClr val="FBF9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82128" y="129844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方案核心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18120" y="1783080"/>
            <a:ext cx="2971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ui-test 作为统一入口，对测试请求做快速分类与路由。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discovery 复用环境、路由、组件、定位器、旅程等上下文。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CT、E2E、Visual 三条链路承担日常测试执行。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Governance 独立承接 Azure、CI/CD、VLM 与基线策略。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默认本地优先，治理能力按需升级，避免一开始就引入重流程。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27264" y="5074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基于当前 UI-test-Demo 仓库现状梳理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2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为什么现在要升级 UI 测试体系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核心目标不是“多写测试”，而是把质量验证做成可编排、可治理、可扩展的工程能力。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6002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600200"/>
            <a:ext cx="128016" cy="1920240"/>
          </a:xfrm>
          <a:prstGeom prst="rect">
            <a:avLst/>
          </a:prstGeom>
          <a:solidFill>
            <a:srgbClr val="0E8C8F"/>
          </a:solidFill>
          <a:ln w="12700">
            <a:solidFill>
              <a:srgbClr val="0E8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64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2037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降低协作成本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测试诉求统一进入 ui-test，再由专业代理接管，避免“先问工具、后问目标”的沟通摩擦。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6002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600200"/>
            <a:ext cx="128016" cy="1920240"/>
          </a:xfrm>
          <a:prstGeom prst="rect">
            <a:avLst/>
          </a:prstGeom>
          <a:solidFill>
            <a:srgbClr val="E3725B"/>
          </a:solidFill>
          <a:ln w="12700">
            <a:solidFill>
              <a:srgbClr val="E372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764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 Discovery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99432" y="22037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减少重复分析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9432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路由、组件、i18n、locator、journey 不再被每条链路重复发现，降低生成测试时的随机性。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28432" y="1600200"/>
            <a:ext cx="34747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600200"/>
            <a:ext cx="128016" cy="1920240"/>
          </a:xfrm>
          <a:prstGeom prst="rect">
            <a:avLst/>
          </a:prstGeom>
          <a:solidFill>
            <a:srgbClr val="D5A44B"/>
          </a:solidFill>
          <a:ln w="12700">
            <a:solidFill>
              <a:srgbClr val="D5A4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84464" y="17647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治理可插拔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84464" y="22037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本地优先，云上增强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84464" y="251460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本地默认使用原生 Playwright，只有在需要 PR 门禁、Azure 云执行、VLM 审查时再引入治理链路。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3840480"/>
            <a:ext cx="1097280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206240"/>
            <a:ext cx="384048" cy="384048"/>
          </a:xfrm>
          <a:prstGeom prst="ellipse">
            <a:avLst/>
          </a:prstGeom>
          <a:solidFill>
            <a:srgbClr val="0E8C8F"/>
          </a:solidFill>
          <a:ln w="12700">
            <a:solidFill>
              <a:srgbClr val="0E8C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913632" y="4206240"/>
            <a:ext cx="384048" cy="384048"/>
          </a:xfrm>
          <a:prstGeom prst="ellipse">
            <a:avLst/>
          </a:prstGeom>
          <a:solidFill>
            <a:srgbClr val="E3725B"/>
          </a:solidFill>
          <a:ln w="12700">
            <a:solidFill>
              <a:srgbClr val="E372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4206240"/>
            <a:ext cx="384048" cy="384048"/>
          </a:xfrm>
          <a:prstGeom prst="ellipse">
            <a:avLst/>
          </a:prstGeom>
          <a:solidFill>
            <a:srgbClr val="D5A44B"/>
          </a:solidFill>
          <a:ln w="12700">
            <a:solidFill>
              <a:srgbClr val="D5A4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11512" y="4206240"/>
            <a:ext cx="384048" cy="38404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426464" y="4160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2F"/>
                </a:solidFill>
              </a:rPr>
              <a:t>质量目标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70832" y="4160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2F"/>
                </a:solidFill>
              </a:rPr>
              <a:t>工程目标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24344" y="4160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2F"/>
                </a:solidFill>
              </a:rPr>
              <a:t>治理目标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268712" y="416052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12F"/>
                </a:solidFill>
              </a:rPr>
              <a:t>业务目标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26464" y="4462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8494"/>
                </a:solidFill>
              </a:rPr>
              <a:t>发现回归更早、定位更快。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70832" y="4462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8494"/>
                </a:solidFill>
              </a:rPr>
              <a:t>测试链路标准化，可重复生成。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24344" y="44622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8494"/>
                </a:solidFill>
              </a:rPr>
              <a:t>基线与云执行能力可控引入。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268712" y="446227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08494"/>
                </a:solidFill>
              </a:rPr>
              <a:t>保障关键页面和用户旅程稳定。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仓库现状与机会点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当前项目已经具备较好的 Playwright 基础，但覆盖结构仍偏“点状”，需要升级为体系化能力。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1600200"/>
          <a:ext cx="4846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600200"/>
            <a:ext cx="5486400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36208" y="1847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12F"/>
                </a:solidFill>
              </a:rPr>
              <a:t>关键观察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217920" y="22402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日常执行已分为 E2E、Visual、CT 三条本地链路，基础配置完整。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视觉测试具备 VLM fallback 扩展，但默认仍保持像素比对优先。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Trip/Favorites 等业务页面已有视觉基线，功能型 E2E 仍相对薄弱。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组件测试重点集中于 Navbar、DestinationCard、FilterBar、SearchBar，仍有组件只做了视觉基线。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9808" y="498348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E9F7F5"/>
          </a:solidFill>
          <a:ln w="12700">
            <a:solidFill>
              <a:srgbClr val="D0ECE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498348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1EC"/>
          </a:solidFill>
          <a:ln w="12700">
            <a:solidFill>
              <a:srgbClr val="F3D6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19872" y="4983480"/>
            <a:ext cx="3246120" cy="1051560"/>
          </a:xfrm>
          <a:prstGeom prst="roundRect">
            <a:avLst>
              <a:gd name="adj" fmla="val 10435"/>
            </a:avLst>
          </a:prstGeom>
          <a:solidFill>
            <a:srgbClr val="FFF7E8"/>
          </a:solidFill>
          <a:ln w="12700">
            <a:solidFill>
              <a:srgbClr val="EEDDB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523036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8F68"/>
                </a:solidFill>
              </a:rPr>
              <a:t>优势：配置与目录结构已经稳定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90872" y="523036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725B"/>
                </a:solidFill>
              </a:rPr>
              <a:t>缺口：功能覆盖与视觉覆盖不均衡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375904" y="5230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782B"/>
                </a:solidFill>
              </a:rPr>
              <a:t>机会：治理能力可以按需接入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05840" y="55138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494"/>
                </a:solidFill>
              </a:rPr>
              <a:t>适合在现有基础上升级，不需要重做框架。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690872" y="551383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08494"/>
                </a:solidFill>
              </a:rPr>
              <a:t>需要一套更清晰的场景矩阵与推进优先级。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375904" y="551383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494"/>
                </a:solidFill>
              </a:rPr>
              <a:t>适合把 Azure / CI / VLM 留在后续治理阶段。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总体架构：轻入口 + 专业代理 + 可复用发现层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把“请求分类、测试执行、云上治理”拆开，是这套体系能长期演进的关键。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49040" y="1417320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77640" y="166420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ui-test 统一入口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60520" y="190195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7E4EB"/>
                </a:solidFill>
              </a:rPr>
              <a:t>接收自然语言测试需求，判断应走哪一条能力链路。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89904" y="2212848"/>
            <a:ext cx="0" cy="411480"/>
          </a:xfrm>
          <a:prstGeom prst="line">
            <a:avLst/>
          </a:prstGeom>
          <a:noFill/>
          <a:ln w="27940">
            <a:solidFill>
              <a:srgbClr val="0E8C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670048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F0FAFA"/>
          </a:solidFill>
          <a:ln w="12700">
            <a:solidFill>
              <a:srgbClr val="CDE9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90672" y="2670048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F5FBFC"/>
          </a:solidFill>
          <a:ln w="12700">
            <a:solidFill>
              <a:srgbClr val="CDE9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76672" y="2670048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FFF7EF"/>
          </a:solidFill>
          <a:ln w="12700">
            <a:solidFill>
              <a:srgbClr val="EFDCC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2670048"/>
            <a:ext cx="2057400" cy="1078992"/>
          </a:xfrm>
          <a:prstGeom prst="roundRect">
            <a:avLst>
              <a:gd name="adj" fmla="val 10169"/>
            </a:avLst>
          </a:prstGeom>
          <a:solidFill>
            <a:srgbClr val="FFF3EF"/>
          </a:solidFill>
          <a:ln w="12700">
            <a:solidFill>
              <a:srgbClr val="EBCF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48672" y="2670048"/>
            <a:ext cx="1463040" cy="1078992"/>
          </a:xfrm>
          <a:prstGeom prst="roundRect">
            <a:avLst>
              <a:gd name="adj" fmla="val 10169"/>
            </a:avLst>
          </a:prstGeom>
          <a:solidFill>
            <a:srgbClr val="EFF2F7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880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Discovery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1832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08494"/>
                </a:solidFill>
              </a:rPr>
              <a:t>环境、路由、组件、locator、journey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73552" y="2880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Component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27832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08494"/>
                </a:solidFill>
              </a:rPr>
              <a:t>隔离渲染、props、event、provider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559552" y="2880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E2E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13832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08494"/>
                </a:solidFill>
              </a:rPr>
              <a:t>页面流、筛选、导航、用户旅程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45552" y="288036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Visual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99832" y="31821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08494"/>
                </a:solidFill>
              </a:rPr>
              <a:t>页面/组件基线、差异分析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122408" y="288036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Governance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76688" y="318211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708494"/>
                </a:solidFill>
              </a:rPr>
              <a:t>Azure、CI、VLM、基线策略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10512" y="3803904"/>
            <a:ext cx="8915400" cy="0"/>
          </a:xfrm>
          <a:prstGeom prst="line">
            <a:avLst/>
          </a:prstGeom>
          <a:noFill/>
          <a:ln w="15240">
            <a:solidFill>
              <a:srgbClr val="D8E2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160520"/>
            <a:ext cx="3063240" cy="128016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160520"/>
            <a:ext cx="3063240" cy="128016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4160520"/>
            <a:ext cx="3063240" cy="1280160"/>
          </a:xfrm>
          <a:prstGeom prst="roundRect">
            <a:avLst>
              <a:gd name="adj" fmla="val 8571"/>
            </a:avLst>
          </a:prstGeom>
          <a:solidFill>
            <a:srgbClr val="F7FB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16152" y="4416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配置与运行层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16152" y="47091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494"/>
                </a:solidFill>
              </a:rPr>
              <a:t>playwright.config.ts / playwright-ct.config.ts / playwright.service.config.ts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28032" y="4416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执行产物层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28032" y="47091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494"/>
                </a:solidFill>
              </a:rPr>
              <a:t>HTML 报告、test-results、视觉快照、VLM JSON、Azure Portal 结果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439912" y="44165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组织收益层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9912" y="47091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708494"/>
                </a:solidFill>
              </a:rPr>
              <a:t>统一协作入口、回归效率、基线治理、云执行能力、面向 PR 的质量门禁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 MATRIX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测试场景矩阵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不同链路解决的是不同层次的问题，不能用一套测试去替代全部需求。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27632"/>
          <a:ext cx="10881360" cy="338328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24612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链路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核心目标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主要输入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Component / CT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验证组件渲染、props、event、条件分支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组件路径、样例 props、provider 依赖、关键渲染输出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 spec、挂载断言、失败定位结论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验证页面流程、交互与用户旅程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路由清单、交互点、locator 建议、预期 URL / 文本 / 状态变化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 spec、旅程 spec、失败证据与 root cause 分析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Visual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 UI 布局与视觉回归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页面清单、视口、状态变体、基线环境、i18n 变体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基线快照、差异截图、像素或语义级判定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Governance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 Azure / CI / VLM / 基线治理规则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套件目标、Workspace、认证方式、门禁策略、成本约束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执行策略、CI 约束、审查标准、平台报表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25780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F0FAFA"/>
          </a:solidFill>
          <a:ln w="12700">
            <a:solidFill>
              <a:srgbClr val="CFE8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25696" y="525780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FFF3EF"/>
          </a:solidFill>
          <a:ln w="12700">
            <a:solidFill>
              <a:srgbClr val="EBCFC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28432" y="5257800"/>
            <a:ext cx="2834640" cy="868680"/>
          </a:xfrm>
          <a:prstGeom prst="roundRect">
            <a:avLst>
              <a:gd name="adj" fmla="val 12632"/>
            </a:avLst>
          </a:prstGeom>
          <a:solidFill>
            <a:srgbClr val="FFF7E8"/>
          </a:solidFill>
          <a:ln w="12700">
            <a:solidFill>
              <a:srgbClr val="EDDA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60704" y="55138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F"/>
                </a:solidFill>
              </a:rPr>
              <a:t>原则 1：先问测试目标，再决定链路。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663440" y="55138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3725B"/>
                </a:solidFill>
              </a:rPr>
              <a:t>原则 2：先像素、后 VLM，保持默认链路简单。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57032" y="55138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782B"/>
                </a:solidFill>
              </a:rPr>
              <a:t>原则 3：CT 不上 Azure。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端到端测试流程设计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把“从需求到报告”的每一步标准化，才能把测试从手工作坊变成稳定流程。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25856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需求进入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5420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5"/>
                </a:solidFill>
              </a:rPr>
              <a:t>自然语言需求进入 ui-test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2313432"/>
            <a:ext cx="438912" cy="457200"/>
          </a:xfrm>
          <a:prstGeom prst="chevron">
            <a:avLst/>
          </a:prstGeom>
          <a:solidFill>
            <a:srgbClr val="BFD7DE"/>
          </a:solidFill>
          <a:ln w="12700">
            <a:solidFill>
              <a:srgbClr val="BF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205740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0E8C8F"/>
          </a:solidFill>
          <a:ln w="12700">
            <a:solidFill>
              <a:srgbClr val="0E8C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6936" y="225856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能力分类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898648" y="25420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5"/>
                </a:solidFill>
              </a:rPr>
              <a:t>路由到 discovery / CT / E2E / Visual / Governance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2313432"/>
            <a:ext cx="438912" cy="457200"/>
          </a:xfrm>
          <a:prstGeom prst="chevron">
            <a:avLst/>
          </a:prstGeom>
          <a:solidFill>
            <a:srgbClr val="BFD7DE"/>
          </a:solidFill>
          <a:ln w="12700">
            <a:solidFill>
              <a:srgbClr val="BF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205740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E3725B"/>
          </a:solidFill>
          <a:ln w="12700">
            <a:solidFill>
              <a:srgbClr val="E372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225856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上下文补齐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47488" y="25420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5"/>
                </a:solidFill>
              </a:rPr>
              <a:t>补齐路由、组件、locator、journey、环境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0840" y="2313432"/>
            <a:ext cx="438912" cy="457200"/>
          </a:xfrm>
          <a:prstGeom prst="chevron">
            <a:avLst/>
          </a:prstGeom>
          <a:solidFill>
            <a:srgbClr val="BFD7DE"/>
          </a:solidFill>
          <a:ln w="12700">
            <a:solidFill>
              <a:srgbClr val="BFD7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05740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D5A44B"/>
          </a:solidFill>
          <a:ln w="12700">
            <a:solidFill>
              <a:srgbClr val="D5A4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14616" y="225856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测试执行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196328" y="25420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5"/>
                </a:solidFill>
              </a:rPr>
              <a:t>运行 Playwright 本地或 Azure 云上套件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869680" y="2313432"/>
            <a:ext cx="438912" cy="457200"/>
          </a:xfrm>
          <a:prstGeom prst="chevron">
            <a:avLst/>
          </a:prstGeom>
          <a:solidFill>
            <a:srgbClr val="BFD7DE"/>
          </a:solidFill>
          <a:ln w="12700">
            <a:solidFill>
              <a:srgbClr val="BFD7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35440" y="2057400"/>
            <a:ext cx="1874520" cy="960120"/>
          </a:xfrm>
          <a:prstGeom prst="roundRect">
            <a:avLst>
              <a:gd name="adj" fmla="val 11429"/>
            </a:avLst>
          </a:prstGeom>
          <a:solidFill>
            <a:srgbClr val="10212F"/>
          </a:solidFill>
          <a:ln w="12700">
            <a:solidFill>
              <a:srgbClr val="1021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63456" y="2258568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结果沉淀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45168" y="254203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EAF2F5"/>
                </a:solidFill>
              </a:rPr>
              <a:t>产出 HTML 报告、截图、JSON、Portal 记录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31520" y="3977640"/>
            <a:ext cx="10972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2793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12F"/>
                </a:solidFill>
              </a:rPr>
              <a:t>标准化检查点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0120" y="45720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输入不完整时，优先走 discovery，而不是直接猜测组件或 locator。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测试生成后默认先本地执行；只有在用户明确提出 CI / Azure / 门禁要求时才升级治理链路。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失败处理遵循 report-only：定位、分类、给方向，不默认自动改业务代码。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视觉回归默认使用原生 toHaveScreenshot，只有像素失败且 VLM_REVIEW=true 时才触发语义判断。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输入输出契约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对技术负责人而言，最重要的不是“有多少测试”，而是每一条链路的输入是否稳定、输出是否可消费。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645920"/>
            <a:ext cx="5349240" cy="4389120"/>
          </a:xfrm>
          <a:prstGeom prst="roundRect">
            <a:avLst>
              <a:gd name="adj" fmla="val 2500"/>
            </a:avLst>
          </a:prstGeom>
          <a:solidFill>
            <a:srgbClr val="F7FBFD"/>
          </a:solidFill>
          <a:ln w="12700">
            <a:solidFill>
              <a:srgbClr val="D7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0" y="1645920"/>
            <a:ext cx="5257800" cy="4389120"/>
          </a:xfrm>
          <a:prstGeom prst="roundRect">
            <a:avLst>
              <a:gd name="adj" fmla="val 2500"/>
            </a:avLst>
          </a:prstGeom>
          <a:solidFill>
            <a:srgbClr val="FFFDF8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901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输入层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1901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输出层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2304288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测试意图：组件、E2E、视觉、Azure、VLM、CI 门禁。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发现产物：Project Analysis Report、Route Inventory、Component Inventory、Locator Notes、Journey Notes。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运行参数：baseURL、视口、语言、样例数据、localStorage seed、云端认证。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治理约束：基线环境、并发、成本上限、PR 通过条件、VLM 阈值。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19088" y="2304288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代码层：CT/E2E/Visual spec、fixture、reporter、service config。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证据层：HTML 报告、test-results、trace、失败截图、视觉快照。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治理层：vlm-review-report.json、Azure Portal Test Runs、CI Artifact。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决策层：通过 / 失败 / 基线更新 / 低置信度待人工复核。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874520"/>
            <a:ext cx="0" cy="3840480"/>
          </a:xfrm>
          <a:prstGeom prst="line">
            <a:avLst/>
          </a:prstGeom>
          <a:noFill/>
          <a:ln w="17780">
            <a:solidFill>
              <a:srgbClr val="D8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4754880"/>
            <a:ext cx="4526280" cy="896112"/>
          </a:xfrm>
          <a:prstGeom prst="roundRect">
            <a:avLst>
              <a:gd name="adj" fmla="val 12245"/>
            </a:avLst>
          </a:prstGeom>
          <a:solidFill>
            <a:srgbClr val="EAF6F6"/>
          </a:solidFill>
          <a:ln w="12700">
            <a:solidFill>
              <a:srgbClr val="D0E8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4754880"/>
            <a:ext cx="4480560" cy="896112"/>
          </a:xfrm>
          <a:prstGeom prst="roundRect">
            <a:avLst>
              <a:gd name="adj" fmla="val 12245"/>
            </a:avLst>
          </a:prstGeom>
          <a:solidFill>
            <a:srgbClr val="FFF6EA"/>
          </a:solidFill>
          <a:ln w="12700">
            <a:solidFill>
              <a:srgbClr val="EED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50566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8C8F"/>
                </a:solidFill>
              </a:rPr>
              <a:t>输入设计的目标：减少猜测，提升生成稳定性。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56832" y="505663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C8782B"/>
                </a:solidFill>
              </a:rPr>
              <a:t>输出设计的目标：让测试结果能直接被研发、测试、CI 消费。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当前仓库落地映射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技术方案不是从零开始，而是建立在当前已经可运行的仓库资产之上。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664208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53712" y="1664208"/>
            <a:ext cx="3657600" cy="448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57616" y="1664208"/>
            <a:ext cx="3090672" cy="4480560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901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配置与脚本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264" y="2240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playwright.config.ts：本地 E2E + Visual。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playwright-ct.config.ts：本地组件测试。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playwright.service.config.ts：Azure Playwright Workspace。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package.json 脚本：test:e2e / test:ct / test:visual / test:azure:*。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28032" y="1901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测试目录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73168" y="224028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tests/component：功能型组件测试 + 组件视觉基线。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tests/e2e：页面验证、导航、i18n、用户旅程。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tests/visual：页面级视觉回归。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tests/fixtures 与 tests/utils：wrapper、VLM fixture、reporter、reviewer。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31936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已有业务覆盖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77072" y="22402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首页、列表页、详情页、About 已有 E2E。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Favorites、Trips、TripEdit 已有视觉基线。</a:t>
            </a:r>
            <a:endParaRPr lang="en-US" sz="1220" dirty="0"/>
          </a:p>
          <a:p>
            <a:pPr marL="342900" indent="-342900">
              <a:buSzPct val="100000"/>
              <a:buChar char="•"/>
            </a:pPr>
            <a:r>
              <a:rPr lang="en-US" sz="12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Navbar、DestinationCard、FilterBar、SearchBar 已有核心 CT。</a:t>
            </a:r>
            <a:endParaRPr lang="en-US" sz="122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097280" y="4343400"/>
          <a:ext cx="196596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1399032" y="47091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12F"/>
                </a:solidFill>
              </a:rPr>
              <a:t>当前资产以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12F"/>
                </a:solidFill>
              </a:rPr>
              <a:t>视觉验证占比更高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87952" y="4754880"/>
            <a:ext cx="3493008" cy="868680"/>
          </a:xfrm>
          <a:prstGeom prst="roundRect">
            <a:avLst>
              <a:gd name="adj" fmla="val 12632"/>
            </a:avLst>
          </a:prstGeom>
          <a:solidFill>
            <a:srgbClr val="F0FAFA"/>
          </a:solidFill>
          <a:ln w="12700">
            <a:solidFill>
              <a:srgbClr val="CFE9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10144" y="4754880"/>
            <a:ext cx="2999232" cy="868680"/>
          </a:xfrm>
          <a:prstGeom prst="roundRect">
            <a:avLst>
              <a:gd name="adj" fmla="val 12632"/>
            </a:avLst>
          </a:prstGeom>
          <a:solidFill>
            <a:srgbClr val="FFF3EF"/>
          </a:solidFill>
          <a:ln w="12700">
            <a:solidFill>
              <a:srgbClr val="EBCFC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34840" y="50474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E8C8F"/>
                </a:solidFill>
              </a:rPr>
              <a:t>建议一：优先补 Trip / Favorites 的功能型 E2E。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257032" y="5047488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3725B"/>
                </a:solidFill>
              </a:rPr>
              <a:t>建议二：对仅有视觉基线的组件补充行为断言。</a:t>
            </a:r>
            <a:endParaRPr lang="en-US" sz="1210" dirty="0"/>
          </a:p>
        </p:txBody>
      </p:sp>
      <p:sp>
        <p:nvSpPr>
          <p:cNvPr id="20" name="Text 17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治理与平台扩展边界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默认把日常测试留在本地，把复杂性留给真正需要治理的场景。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83080"/>
            <a:ext cx="128016" cy="3337560"/>
          </a:xfrm>
          <a:prstGeom prst="rect">
            <a:avLst/>
          </a:prstGeom>
          <a:solidFill>
            <a:srgbClr val="0E8C8F"/>
          </a:solidFill>
          <a:ln w="12700">
            <a:solidFill>
              <a:srgbClr val="0E8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47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First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7552" y="23865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默认执行模型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69748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 E2E、Visual、CT 都优先使用本地 Playwright。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优点是反馈快、链路简单、对团队门槛低。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07992" y="1783080"/>
            <a:ext cx="356616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1783080"/>
            <a:ext cx="128016" cy="3337560"/>
          </a:xfrm>
          <a:prstGeom prst="rect">
            <a:avLst/>
          </a:prstGeom>
          <a:solidFill>
            <a:srgbClr val="E3725B"/>
          </a:solidFill>
          <a:ln w="12700">
            <a:solidFill>
              <a:srgbClr val="E372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64024" y="1947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 PT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64024" y="238658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云执行与规模化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64024" y="2697480"/>
            <a:ext cx="3154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只承接 E2E 与 Visual。CT 不上云。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 PR 门禁、统一浏览器环境、并行执行、平台可观测。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84464" y="1783080"/>
            <a:ext cx="3154680" cy="3337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84464" y="1783080"/>
            <a:ext cx="128016" cy="3337560"/>
          </a:xfrm>
          <a:prstGeom prst="rect">
            <a:avLst/>
          </a:prstGeom>
          <a:solidFill>
            <a:srgbClr val="D5A44B"/>
          </a:solidFill>
          <a:ln w="12700">
            <a:solidFill>
              <a:srgbClr val="D5A4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19476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VLM Review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540496" y="2386584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视觉语义兜底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40496" y="2697480"/>
            <a:ext cx="27432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仅在像素差异失败且显式开启 VLM_REVIEW=true 时触发。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目的不是替代像素比对，而是降低误报、辅助人工判断。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" y="5440680"/>
            <a:ext cx="10716768" cy="685800"/>
          </a:xfrm>
          <a:prstGeom prst="roundRect">
            <a:avLst>
              <a:gd name="adj" fmla="val 16000"/>
            </a:avLst>
          </a:prstGeom>
          <a:solidFill>
            <a:srgbClr val="F7FBFD"/>
          </a:solidFill>
          <a:ln w="12700">
            <a:solidFill>
              <a:srgbClr val="D7E4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5687568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12F"/>
                </a:solidFill>
              </a:rPr>
              <a:t>治理边界结论：把 Azure、CI、VLM 视为“可插拔能力”，而不是所有团队一开始就必须承受的复杂度。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分阶段实施路线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先补覆盖，再补治理；先把高频问题解决，再把平台能力做深。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" y="3611880"/>
            <a:ext cx="10058400" cy="0"/>
          </a:xfrm>
          <a:prstGeom prst="line">
            <a:avLst/>
          </a:prstGeom>
          <a:noFill/>
          <a:ln w="27940">
            <a:solidFill>
              <a:srgbClr val="D8E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3291840"/>
            <a:ext cx="0" cy="658368"/>
          </a:xfrm>
          <a:prstGeom prst="line">
            <a:avLst/>
          </a:prstGeom>
          <a:noFill/>
          <a:ln w="63500">
            <a:solidFill>
              <a:srgbClr val="0E8C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0E8C8F"/>
          </a:solidFill>
          <a:ln w="12700">
            <a:solidFill>
              <a:srgbClr val="0E8C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33272" y="2423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F5"/>
                </a:solidFill>
              </a:rPr>
              <a:t>覆盖补齐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8952" y="393192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160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 Trip / Favorites / TripEdit 的 E2E 关键路径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 FavoriteButton / WeatherWidget 等组件行为 CT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862072" y="2176272"/>
            <a:ext cx="411480" cy="384048"/>
          </a:xfrm>
          <a:prstGeom prst="chevron">
            <a:avLst/>
          </a:prstGeom>
          <a:solidFill>
            <a:srgbClr val="BFD7DE"/>
          </a:solidFill>
          <a:ln w="12700">
            <a:solidFill>
              <a:srgbClr val="BF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291840"/>
            <a:ext cx="0" cy="658368"/>
          </a:xfrm>
          <a:prstGeom prst="line">
            <a:avLst/>
          </a:prstGeom>
          <a:noFill/>
          <a:ln w="63500">
            <a:solidFill>
              <a:srgbClr val="E372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11880" y="18745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E3725B"/>
          </a:solidFill>
          <a:ln w="12700">
            <a:solidFill>
              <a:srgbClr val="E372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791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867912" y="2423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F5"/>
                </a:solidFill>
              </a:rPr>
              <a:t>视觉治理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93592" y="393192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4160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区分“基线更新”与“真实回归”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补多视口和关键 i18n 页面视觉覆盖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5696712" y="2176272"/>
            <a:ext cx="411480" cy="384048"/>
          </a:xfrm>
          <a:prstGeom prst="chevron">
            <a:avLst/>
          </a:prstGeom>
          <a:solidFill>
            <a:srgbClr val="BFD7DE"/>
          </a:solidFill>
          <a:ln w="12700">
            <a:solidFill>
              <a:srgbClr val="BF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52360" y="3291840"/>
            <a:ext cx="0" cy="658368"/>
          </a:xfrm>
          <a:prstGeom prst="line">
            <a:avLst/>
          </a:prstGeom>
          <a:noFill/>
          <a:ln w="63500">
            <a:solidFill>
              <a:srgbClr val="D5A44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8745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D5A44B"/>
          </a:solidFill>
          <a:ln w="12700">
            <a:solidFill>
              <a:srgbClr val="D5A4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0255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02552" y="2423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F5"/>
                </a:solidFill>
              </a:rPr>
              <a:t>平台接入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28232" y="393192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160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 Azure PT 的 PR / main 执行路径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Artifact、Trace、Portal 查看入口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8531352" y="2176272"/>
            <a:ext cx="411480" cy="384048"/>
          </a:xfrm>
          <a:prstGeom prst="chevron">
            <a:avLst/>
          </a:prstGeom>
          <a:solidFill>
            <a:srgbClr val="BFD7DE"/>
          </a:solidFill>
          <a:ln w="12700">
            <a:solidFill>
              <a:srgbClr val="BFD7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87000" y="3291840"/>
            <a:ext cx="0" cy="658368"/>
          </a:xfrm>
          <a:prstGeom prst="line">
            <a:avLst/>
          </a:prstGeom>
          <a:noFill/>
          <a:ln w="63500">
            <a:solidFill>
              <a:srgbClr val="1732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81160" y="187452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37192" y="213969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Phase 4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9537192" y="242316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AF2F5"/>
                </a:solidFill>
              </a:rPr>
              <a:t>智能审查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262872" y="3931920"/>
            <a:ext cx="2103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0" y="4160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VLM 控制在视觉差异误报场景</a:t>
            </a:r>
            <a:endParaRPr lang="en-US" sz="1120" dirty="0"/>
          </a:p>
          <a:p>
            <a:pPr marL="342900" indent="-342900">
              <a:buSzPct val="100000"/>
              <a:buChar char="•"/>
            </a:pPr>
            <a:r>
              <a:rPr lang="en-US" sz="112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以阈值、成本、置信度为约束上线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841248" y="5806440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建议节奏：先解决业务高频回归与关键页面覆盖，再把治理能力逐步提升为平台标准。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RISKS &amp; CONTROLS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主要风险与控制策略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技术负责人需要关注的是：这套方案如何避免失控，而不是它理论上能做多少。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755648"/>
            <a:ext cx="2834640" cy="1572768"/>
          </a:xfrm>
          <a:prstGeom prst="roundRect">
            <a:avLst>
              <a:gd name="adj" fmla="val 6977"/>
            </a:avLst>
          </a:prstGeom>
          <a:solidFill>
            <a:srgbClr val="FB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2834640" cy="128016"/>
          </a:xfrm>
          <a:prstGeom prst="rect">
            <a:avLst/>
          </a:prstGeom>
          <a:solidFill>
            <a:srgbClr val="0E8C8F"/>
          </a:solidFill>
          <a:ln w="12700">
            <a:solidFill>
              <a:srgbClr val="0E8C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定位器脆弱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340864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494"/>
                </a:solidFill>
              </a:rPr>
              <a:t>尽量依赖 role / label / text，必要时先经过 discovery 形成 locator strategy map。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4160520" y="1755648"/>
            <a:ext cx="2834640" cy="1572768"/>
          </a:xfrm>
          <a:prstGeom prst="roundRect">
            <a:avLst>
              <a:gd name="adj" fmla="val 6977"/>
            </a:avLst>
          </a:prstGeom>
          <a:solidFill>
            <a:srgbClr val="FB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55648"/>
            <a:ext cx="2834640" cy="128016"/>
          </a:xfrm>
          <a:prstGeom prst="rect">
            <a:avLst/>
          </a:prstGeom>
          <a:solidFill>
            <a:srgbClr val="E3725B"/>
          </a:solidFill>
          <a:ln w="12700">
            <a:solidFill>
              <a:srgbClr val="E372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视觉误报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343400" y="2340864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494"/>
                </a:solidFill>
              </a:rPr>
              <a:t>默认像素比对；只有用户显式开启时才用 VLM 做语义兜底，并加置信度阈值。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7543800" y="1755648"/>
            <a:ext cx="2834640" cy="1572768"/>
          </a:xfrm>
          <a:prstGeom prst="roundRect">
            <a:avLst>
              <a:gd name="adj" fmla="val 6977"/>
            </a:avLst>
          </a:prstGeom>
          <a:solidFill>
            <a:srgbClr val="FB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43800" y="1755648"/>
            <a:ext cx="2834640" cy="128016"/>
          </a:xfrm>
          <a:prstGeom prst="rect">
            <a:avLst/>
          </a:prstGeom>
          <a:solidFill>
            <a:srgbClr val="D5A44B"/>
          </a:solidFill>
          <a:ln w="12700">
            <a:solidFill>
              <a:srgbClr val="D5A4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011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基线漂移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26680" y="2340864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494"/>
                </a:solidFill>
              </a:rPr>
              <a:t>明确 authoritative baseline 环境，避免本地与 Azure 基线混用。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77240" y="3840480"/>
            <a:ext cx="2834640" cy="1572768"/>
          </a:xfrm>
          <a:prstGeom prst="roundRect">
            <a:avLst>
              <a:gd name="adj" fmla="val 6977"/>
            </a:avLst>
          </a:prstGeom>
          <a:solidFill>
            <a:srgbClr val="FB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840480"/>
            <a:ext cx="2834640" cy="128016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965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云上复杂度过早引入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425696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494"/>
                </a:solidFill>
              </a:rPr>
              <a:t>把 Azure / CI / 门禁放到治理层，不污染日常测试链路。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160520" y="3840480"/>
            <a:ext cx="2834640" cy="1572768"/>
          </a:xfrm>
          <a:prstGeom prst="roundRect">
            <a:avLst>
              <a:gd name="adj" fmla="val 6977"/>
            </a:avLst>
          </a:prstGeom>
          <a:solidFill>
            <a:srgbClr val="FB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60520" y="3840480"/>
            <a:ext cx="2834640" cy="128016"/>
          </a:xfrm>
          <a:prstGeom prst="rect">
            <a:avLst/>
          </a:prstGeom>
          <a:solidFill>
            <a:srgbClr val="2C8F68"/>
          </a:solidFill>
          <a:ln w="12700">
            <a:solidFill>
              <a:srgbClr val="2C8F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40965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业务覆盖失衡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4425696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494"/>
                </a:solidFill>
              </a:rPr>
              <a:t>用覆盖矩阵驱动补强优先级，先补高价值页面与旅程。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543800" y="3840480"/>
            <a:ext cx="2834640" cy="1572768"/>
          </a:xfrm>
          <a:prstGeom prst="roundRect">
            <a:avLst>
              <a:gd name="adj" fmla="val 6977"/>
            </a:avLst>
          </a:prstGeom>
          <a:solidFill>
            <a:srgbClr val="FBFCFD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3840480"/>
            <a:ext cx="2834640" cy="128016"/>
          </a:xfrm>
          <a:prstGeom prst="rect">
            <a:avLst/>
          </a:prstGeom>
          <a:solidFill>
            <a:srgbClr val="C8782B"/>
          </a:solidFill>
          <a:ln w="12700">
            <a:solidFill>
              <a:srgbClr val="C878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409651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12F"/>
                </a:solidFill>
              </a:rPr>
              <a:t>结果不可消费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26680" y="4425696"/>
            <a:ext cx="24505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708494"/>
                </a:solidFill>
              </a:rPr>
              <a:t>输出必须带 HTML 报告、截图证据、JSON 或 Portal 结果，避免只留终端日志。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59C3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建议的决策与下一步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4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这不是要不要做自动化的问题，而是要不要把现有能力升级成可持续的平台化体系。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01952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07408" y="1901952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1856" y="1901952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173A52"/>
          </a:solidFill>
          <a:ln w="12700">
            <a:solidFill>
              <a:srgbClr val="173A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76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9C3C3"/>
                </a:solidFill>
              </a:rPr>
              <a:t>决策 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确认 ui-test 作为统一入口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926080"/>
            <a:ext cx="2670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4EA"/>
                </a:solidFill>
              </a:rPr>
              <a:t>统一团队使用口径，避免按人和工具分裂测试流程。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4681728" y="2176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725B"/>
                </a:solidFill>
              </a:rPr>
              <a:t>决策 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81728" y="2487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优先补关键业务路径覆盖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81728" y="2926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4EA"/>
                </a:solidFill>
              </a:rPr>
              <a:t>优先级建议：Trip / Favorites 的功能型 E2E，其次补仅有视觉基线的组件行为 CT。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8266176" y="21762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5A44B"/>
                </a:solidFill>
              </a:rPr>
              <a:t>决策 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66176" y="2487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治理能力按阶段启用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66176" y="29260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9E4EA"/>
                </a:solidFill>
              </a:rPr>
              <a:t>先把本地链路做稳定，再接入 Azure 门禁与 VLM；不要让治理能力反过来拖慢研发反馈。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914400" y="5010912"/>
            <a:ext cx="10332720" cy="0"/>
          </a:xfrm>
          <a:prstGeom prst="line">
            <a:avLst/>
          </a:prstGeom>
          <a:noFill/>
          <a:ln w="15240">
            <a:solidFill>
              <a:srgbClr val="506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5303520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最终结论：当前仓库已经具备“升级为平台化 UI 测试体系”的基础条件，建议以“覆盖补齐 + 治理延后”的方式推进。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2E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附录：关键配置映射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把入口、配置、执行范围和治理边界映射清楚，便于技术评审时快速对齐责任。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00200"/>
          <a:ext cx="1097280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3657600"/>
                <a:gridCol w="3474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 / 文件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主要职责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关键边界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ui-test.agent.md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.github/agents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统一入口，负责把需求路由到 Discovery / CT / E2E / Visual / Governance。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不直接承载完整实现逻辑，避免重新变回单体代理。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playwright.config.ts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仓库根目录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 E2E 与 Visual 默认配置，定义 baseURL、reporter、webServer、project 拆分。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默认本地优先；Visual 仍以原生像素比对为主。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playwright-ct.config.ts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仓库根目录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组件测试配置，复用 Vite / PostCSS，负责 CT 挂载环境。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CT 仅本地执行，不进入 Azure Playwright Workspace。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playwright.service.config.ts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仓库根目录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Azure Playwright Workspace 云执行配置，增加 cloud reporter 与连接参数。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仅承接 E2E / Visual；引入 Azure 凭据与平台侧并发。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tests/fixtures/visual-test.ts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tests/fixtures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封装像素优先、VLM 兜底的视觉断言逻辑。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只有像素失败且 VLM_REVIEW=true 时才进入语义审查。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669280"/>
            <a:ext cx="5166360" cy="548640"/>
          </a:xfrm>
          <a:prstGeom prst="roundRect">
            <a:avLst>
              <a:gd name="adj" fmla="val 20000"/>
            </a:avLst>
          </a:prstGeom>
          <a:solidFill>
            <a:srgbClr val="F0FAFA"/>
          </a:solidFill>
          <a:ln w="12700">
            <a:solidFill>
              <a:srgbClr val="CFE8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44768" y="5669280"/>
            <a:ext cx="5166360" cy="548640"/>
          </a:xfrm>
          <a:prstGeom prst="roundRect">
            <a:avLst>
              <a:gd name="adj" fmla="val 20000"/>
            </a:avLst>
          </a:prstGeom>
          <a:solidFill>
            <a:srgbClr val="FFF3EF"/>
          </a:solidFill>
          <a:ln w="12700">
            <a:solidFill>
              <a:srgbClr val="EBCFC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60704" y="58613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E8C8F"/>
                </a:solidFill>
              </a:rPr>
              <a:t>评审重点 1：是否接受“主流程本地优先、治理能力后置”的工程边界。</a:t>
            </a:r>
            <a:endParaRPr lang="en-US" sz="1160" dirty="0"/>
          </a:p>
        </p:txBody>
      </p:sp>
      <p:sp>
        <p:nvSpPr>
          <p:cNvPr id="9" name="Text 6"/>
          <p:cNvSpPr/>
          <p:nvPr/>
        </p:nvSpPr>
        <p:spPr>
          <a:xfrm>
            <a:off x="6382512" y="5861304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E3725B"/>
                </a:solidFill>
              </a:rPr>
              <a:t>评审重点 2：是否确认 ui-test 与 3 套 Playwright 配置的职责拆分长期保持不变。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附录：当前覆盖矩阵与缺口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这页用于技术评审时回答“我们现在具体测到了哪里，还差哪里”。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972800" cy="3611880"/>
        </p:xfrm>
        <a:graphic>
          <a:graphicData uri="http://schemas.openxmlformats.org/drawingml/2006/table">
            <a:tbl>
              <a:tblPr/>
              <a:tblGrid>
                <a:gridCol w="2560320"/>
                <a:gridCol w="1600200"/>
                <a:gridCol w="1417320"/>
                <a:gridCol w="1417320"/>
                <a:gridCol w="3977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功能型 CT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E2E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视觉回归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Home / Destinations / Detail / About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核心主链路相对完整，可作为标准样板。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Favorites / Trip Planner / Trip Edit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未覆盖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弱覆盖 / 待补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属于当前最值得优先补强的业务缺口。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Navbar / DestinationCard / FilterBar / SearchBar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间接覆盖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组件行为断言基础较好，可持续复用。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FavoriteButton / WeatherWidget / ScrollToTop / Layout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弱覆盖 / 未覆盖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间接覆盖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已覆盖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目前更偏视觉基线，缺行为型验证。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Azure / VLM 治理链路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不适用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按需启用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按需启用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2030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能力已具雏形，但不应早于本地链路标准化。</a:t>
                      </a:r>
                      <a:endParaRPr lang="en-US" sz="104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" y="544068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5440680"/>
            <a:ext cx="128016" cy="868680"/>
          </a:xfrm>
          <a:prstGeom prst="rect">
            <a:avLst/>
          </a:prstGeom>
          <a:solidFill>
            <a:srgbClr val="0E8C8F"/>
          </a:solidFill>
          <a:ln w="12700">
            <a:solidFill>
              <a:srgbClr val="0E8C8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" y="56052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78992" y="60441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先补业务高价值 E2E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" y="6355080"/>
            <a:ext cx="29260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Trip / Favorites / TripEdit 直接影响业务闭环，应优先补充功能流验证。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25696" y="544068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25696" y="5440680"/>
            <a:ext cx="128016" cy="868680"/>
          </a:xfrm>
          <a:prstGeom prst="rect">
            <a:avLst/>
          </a:prstGeom>
          <a:solidFill>
            <a:srgbClr val="E3725B"/>
          </a:solidFill>
          <a:ln w="12700">
            <a:solidFill>
              <a:srgbClr val="E372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81728" y="56052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B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681728" y="60441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再补组件行为 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681728" y="6355080"/>
            <a:ext cx="29260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针对仅有视觉基线的组件补断言，降低 UI 变化误判与行为漏测。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028432" y="5440680"/>
            <a:ext cx="33375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8E2E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28432" y="5440680"/>
            <a:ext cx="128016" cy="868680"/>
          </a:xfrm>
          <a:prstGeom prst="rect">
            <a:avLst/>
          </a:prstGeom>
          <a:solidFill>
            <a:srgbClr val="D5A44B"/>
          </a:solidFill>
          <a:ln w="12700">
            <a:solidFill>
              <a:srgbClr val="D5A4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84464" y="560527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 C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284464" y="604418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73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最后补治理门禁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84464" y="6355080"/>
            <a:ext cx="2926080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等本地链路、基线策略和覆盖矩阵稳定后，再引入 Azure / VLM 门禁。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8C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1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附录：执行命令与治理触发条件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这页用于回答“团队如何跑、何时上云、何时启用 VLM”。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7FBFD"/>
          </a:solidFill>
          <a:ln w="12700">
            <a:solidFill>
              <a:srgbClr val="D7E4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627632"/>
            <a:ext cx="5074920" cy="4526280"/>
          </a:xfrm>
          <a:prstGeom prst="roundRect">
            <a:avLst>
              <a:gd name="adj" fmla="val 2424"/>
            </a:avLst>
          </a:prstGeom>
          <a:solidFill>
            <a:srgbClr val="FFFDF8"/>
          </a:solidFill>
          <a:ln w="12700">
            <a:solidFill>
              <a:srgbClr val="E8DF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874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常用执行命令</a:t>
            </a:r>
            <a:endParaRPr lang="en-US" sz="1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87552" y="2176272"/>
          <a:ext cx="4983480" cy="3291840"/>
        </p:xfrm>
        <a:graphic>
          <a:graphicData uri="http://schemas.openxmlformats.org/drawingml/2006/table">
            <a:tbl>
              <a:tblPr/>
              <a:tblGrid>
                <a:gridCol w="1645920"/>
                <a:gridCol w="33375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场景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命令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C8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本地 E2E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test:e2e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本地 Visual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test:visual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本地 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test:ct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本地更新视觉基线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test:update-snapshots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E2E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test:azure:e2e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Azure Visual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test:azure:visual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启用 VLM 的本地 Visual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test:visual:vlm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启用 VLM 的 Azure Visual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030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npm run test:azure:visual:vlm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mid">
                    <a:lnL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20256" y="1874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治理触发条件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65392" y="2212848"/>
            <a:ext cx="42062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6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只有明确要求 PR 门禁、统一浏览器环境、平台报表时，才切到 Azure Playwright Workspace。</a:t>
            </a:r>
            <a:endParaRPr lang="en-US" sz="1260" dirty="0"/>
          </a:p>
          <a:p>
            <a:pPr marL="342900" indent="-342900">
              <a:buSzPct val="100000"/>
              <a:buChar char="•"/>
            </a:pPr>
            <a:r>
              <a:rPr lang="en-US" sz="126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只有像素差异失败且团队希望降低视觉误报时，才显式开启 VLM_REVIEW=true。</a:t>
            </a:r>
            <a:endParaRPr lang="en-US" sz="1260" dirty="0"/>
          </a:p>
          <a:p>
            <a:pPr marL="342900" indent="-342900">
              <a:buSzPct val="100000"/>
              <a:buChar char="•"/>
            </a:pPr>
            <a:r>
              <a:rPr lang="en-US" sz="126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 永远留在本地，因为它依赖本地组件挂载和 Vite 开发上下文。</a:t>
            </a:r>
            <a:endParaRPr lang="en-US" sz="1260" dirty="0"/>
          </a:p>
          <a:p>
            <a:pPr marL="342900" indent="-342900">
              <a:buSzPct val="100000"/>
              <a:buChar char="•"/>
            </a:pPr>
            <a:r>
              <a:rPr lang="en-US" sz="1260" dirty="0">
                <a:solidFill>
                  <a:srgbClr val="2030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本地链路没有稳定之前，不建议先上云治理，否则会把问题复杂化而不是解决问题。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565392" y="4572000"/>
            <a:ext cx="4206240" cy="1115568"/>
          </a:xfrm>
          <a:prstGeom prst="roundRect">
            <a:avLst>
              <a:gd name="adj" fmla="val 9836"/>
            </a:avLst>
          </a:prstGeom>
          <a:solidFill>
            <a:srgbClr val="FFF3EF"/>
          </a:solidFill>
          <a:ln w="12700">
            <a:solidFill>
              <a:srgbClr val="EBCF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21424" y="47914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725B"/>
                </a:solidFill>
              </a:rPr>
              <a:t>给技术负责人的控制点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821424" y="510235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708494"/>
                </a:solidFill>
              </a:rPr>
              <a:t>先控制入口、配置、覆盖优先级，再控制云执行与语义审查成本。</a:t>
            </a:r>
            <a:endParaRPr lang="en-US" sz="1160" dirty="0"/>
          </a:p>
        </p:txBody>
      </p:sp>
      <p:sp>
        <p:nvSpPr>
          <p:cNvPr id="14" name="Text 11"/>
          <p:cNvSpPr/>
          <p:nvPr/>
        </p:nvSpPr>
        <p:spPr>
          <a:xfrm>
            <a:off x="502920" y="64282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84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UI-test 智能测试体系技术方案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247120" y="638251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UI-test-Demo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 Test 智能测试体系技术方案</dc:title>
  <dc:subject>UI Test 智能测试体系技术方案</dc:subject>
  <dc:creator>GitHub Copilot</dc:creator>
  <cp:lastModifiedBy>GitHub Copilot</cp:lastModifiedBy>
  <cp:revision>1</cp:revision>
  <dcterms:created xsi:type="dcterms:W3CDTF">2026-03-18T14:21:03Z</dcterms:created>
  <dcterms:modified xsi:type="dcterms:W3CDTF">2026-03-18T14:21:03Z</dcterms:modified>
</cp:coreProperties>
</file>