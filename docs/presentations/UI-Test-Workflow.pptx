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TravelVista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自动化测试架构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· React 19 · Vite 8 · Azure Cloud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374904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74904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8912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74904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21208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74904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3504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490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3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411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371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657600" cy="411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类型安全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657600" cy="411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构建工具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657600" cy="411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4.2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880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样式系统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657600" cy="411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7.13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383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客户端路由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657600" cy="411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i18next 25.8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886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 (中/英)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路由结构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1371600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3716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13716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— 首页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847088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18470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/destinations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18470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DestinationsPage — 目的地列表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322576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232257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/destinations/:id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23225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DestinationDetailPage — 详情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798064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27980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27980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AboutPage — 关于页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37760" y="3840480"/>
            <a:ext cx="86868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3840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937760" y="42976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3840480"/>
            <a:ext cx="86868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0" y="3840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943600" y="42976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地区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3840480"/>
            <a:ext cx="86868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49440" y="3840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949440" y="42976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55280" y="3840480"/>
            <a:ext cx="86868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955280" y="3840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955280" y="42976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测试分层架构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三层测试金字塔 — 从底层到顶层覆盖度递减、集成度递增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463040"/>
            <a:ext cx="32918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08960" y="16002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112" y="16733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视觉回归测试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661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spec · 8 截图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03120" y="2468880"/>
            <a:ext cx="4937760" cy="822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0" y="26060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6791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端到端测试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spec · 页面导航 + 用户旅程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88720" y="3474720"/>
            <a:ext cx="676656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371600" y="3611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36850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3474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组件测试 (Component Testing)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828800" y="3886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spec · 隔离组件单元测试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 rot="16200000">
            <a:off x="274320" y="1463040"/>
            <a:ext cx="731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集成度 ↑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1: 组件测试 (Component Testing)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核心配置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工具: @playwright/experimental-ct-react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配置: playwright-ct.config.ts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命令: npm run test:ct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浏览器: Desktop Chrome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核心机制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内置 Vite 加载组件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mount() 挂载到隔离 DOM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TestWrapper 提供 Router + i18n 上下文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expect() 断言可见性/文本/CSS/回调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个组件测试规格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51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导航链接 · 语言切换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移动端菜单 · Logo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51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· 值输入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onChange 回调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51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FilterBar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搜索框 + 下拉菜单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地区 / 4 类型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2651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轮播项 · 导航圆点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自动播放 · 切换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4206240"/>
            <a:ext cx="2651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DestinationCard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526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名称/国家(i18n)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 · 星级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4206240"/>
            <a:ext cx="2651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526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品牌名 · 导航链接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 · 版权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2: E2E 端到端测试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核心配置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配置: playwright.config.ts → project: e2e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命令: npm run test:e2e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Server: Vite dev (自动启动)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浏览器: Desktop Chrome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执行流程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 Chromium → goto() 访问路由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执行用户操作 (点击/填充/选择)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expect() 断言页面内容 &amp; URL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首次重试 · 失败截图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个 E2E 测试规格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home.spec.ts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搜索 · 热门目的地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旅行主题 · 评价轮播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301752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destinations.spec.ts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目的地 · 关键字搜索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地区/类型筛选 · 卡片导航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destination-detail.spec.ts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面包屑 · 图片画廊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景点 · 侧边栏 · 推荐卡片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about.spec.ts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使命 · 价值观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 · 联系区域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406908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navigation.spec.ts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 导航 · Logo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中英文切换 · Footer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406908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user-journey.spec.ts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首页→列表→筛选→详情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面包屑返回→关于→首页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3: 视觉回归测试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核心配置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项目: playwright.config.ts → visual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命令: npm run test:visual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阈值: maxDiffPixelRatio: 0.05%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动画: animations: 'disabled'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比对流程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 → networkidle 等待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验证关键内容已渲染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禁用动画 → fullPage 截图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与基线逐像素比对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个页面截图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5468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home-page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97480" y="301752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15468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6324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destinations-page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78892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目的地列表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46320" y="301752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5468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208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about-page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93776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关于页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995160" y="301752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15468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3063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detail-bali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086600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巴厘岛详情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397764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440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favorites-page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收藏页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697480" y="397764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4114800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06324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trip-planner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278892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行程规划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846320" y="397764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114800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21208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trip-edit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493776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行程编辑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995160" y="3977640"/>
            <a:ext cx="1965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114800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36092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not-found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708660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页面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执行环境对比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161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本地开发环境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7160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playwright.config.ts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playwright-ct.config.ts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0939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71600" y="2093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test:ct / test:e2e / test:visual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4963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371600" y="2496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dev (localhost:5173)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2898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371600" y="2898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Chromium (macOS/Win/Linux)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33009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并行度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71600" y="3300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fullyParallel, workers: auto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重试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37160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次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41056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37160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Shape 22"/>
          <p:cNvSpPr/>
          <p:nvPr/>
        </p:nvSpPr>
        <p:spPr>
          <a:xfrm>
            <a:off x="4937760" y="11430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21615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9496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Playwright Workspace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937760" y="1691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66928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playwright.service.config.ts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(继承主配置 + Azure overlay)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937760" y="20939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669280" y="2093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test:azure / test:azure:e2e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test:azure:visual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937760" y="24963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669280" y="2496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Vite + exposeNetwork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937760" y="2898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669280" y="2898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托管 Linux Chromium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937760" y="33009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并行度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669280" y="3300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workers: 10 (最多 50)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937760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重试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66928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2 次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937760" y="41056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66928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DefaultAzureCredential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(Entra ID / az login)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39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本地基线截图与 Azure 云端基线不兼容 (OS 字体渲染差异) — 需选择单一环境作为基线来源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双流水线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两条流水线独立并行运行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PR to main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16459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3931920" cy="26517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playwright-azure.yml  (测试验证)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9748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checkout + setup-node 22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26664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29809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npm ci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5584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playwright install chromium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8503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639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E2E tests on Azure PT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1421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3968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Visual tests on Azure PT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4340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297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Upload artifacts (14 天)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754880" y="2103120"/>
            <a:ext cx="3931920" cy="26517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18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deploy.yml  (生产部署)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697480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checkout + setup-node 22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026664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212080" y="29809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npm ci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355848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212080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npm run build (tsc + vite)</a:t>
            </a:r>
            <a:endParaRPr lang="en-US" sz="1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685032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212080" y="3639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Upload dist/ artifact</a:t>
            </a:r>
            <a:endParaRPr lang="en-US" sz="10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4014216"/>
            <a:ext cx="182880" cy="18288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212080" y="3968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Deploy to GitHub Pages</a:t>
            </a:r>
            <a:endParaRPr lang="en-US" sz="1000" dirty="0"/>
          </a:p>
        </p:txBody>
      </p:sp>
      <p:sp>
        <p:nvSpPr>
          <p:cNvPr id="37" name="Shape 24"/>
          <p:cNvSpPr/>
          <p:nvPr/>
        </p:nvSpPr>
        <p:spPr>
          <a:xfrm>
            <a:off x="457200" y="4709160"/>
            <a:ext cx="3931920" cy="0"/>
          </a:xfrm>
          <a:prstGeom prst="rect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45720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HTML 报告 + Trace + Azure Portal 仪表板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4754880" y="4709160"/>
            <a:ext cx="3931920" cy="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475488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GitHub Pages 线上应用</a:t>
            </a:r>
            <a:endParaRPr lang="en-US" sz="900" dirty="0"/>
          </a:p>
        </p:txBody>
      </p:sp>
      <p:sp>
        <p:nvSpPr>
          <p:cNvPr id="41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测试覆盖矩阵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92024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被测对象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组件测试 (CT)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E2E 测试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视觉回归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Navbar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SearchBar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FilterBar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Carousel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DestinationCard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DestinationsPage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i18n 语言切换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用户完整旅程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 &amp; 关键数据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测试层级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+ E2E + Visual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920240" cy="146304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测试规格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CT + 6 E2E + 1 Visual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920240" cy="146304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页面截图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全页 fullPage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1920240" cy="1463040"/>
          </a:xfrm>
          <a:prstGeom prst="rect">
            <a:avLst/>
          </a:prstGeom>
          <a:solidFill>
            <a:srgbClr val="F96167">
              <a:alpha val="8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417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0408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执行路径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+ Azure 云端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亮点特性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29000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33832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三层金字塔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286000" y="338328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从组件隔离 → 端到端 → 像素级视觉，逐层递进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76472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22960" y="373075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双环境执行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286000" y="373075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本地快速验证 + Azure 云端 CI 大规模并行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23944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2960" y="407822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可选增强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2286000" y="407822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语义级视觉审查，超越像素比对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71416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2960" y="442569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集成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2286000" y="4425696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双流水线，push 自动触发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TravelVista UI 自动化测试架构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TravelVista UI 自动化测试架构</dc:title>
  <dc:subject>PptxGenJS Presentation</dc:subject>
  <dc:creator>TravelVista Team</dc:creator>
  <cp:lastModifiedBy>TravelVista Team</cp:lastModifiedBy>
  <cp:revision>1</cp:revision>
  <dcterms:created xsi:type="dcterms:W3CDTF">2026-03-19T06:14:11Z</dcterms:created>
  <dcterms:modified xsi:type="dcterms:W3CDTF">2026-03-19T06:14:11Z</dcterms:modified>
</cp:coreProperties>
</file>