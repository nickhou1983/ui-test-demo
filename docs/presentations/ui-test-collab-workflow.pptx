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4114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0"/>
            <a:ext cx="39620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— Agent 协作流程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从一句测试需求到全栈覆盖：6 步自动化协作，联动 Discovery、CT/E2E/Visual Agent、VLM 增强、下游 Skill/Governance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92640" y="18288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0" y="182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测试入口 · 需求校准器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05840"/>
            <a:ext cx="2331720" cy="4572000"/>
          </a:xfrm>
          <a:prstGeom prst="roundRect">
            <a:avLst>
              <a:gd name="adj" fmla="val 470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15568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1155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115568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0607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Chat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325880"/>
            <a:ext cx="21488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481328"/>
            <a:ext cx="164592" cy="1645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1463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8328" y="1691640"/>
            <a:ext cx="2057400" cy="594360"/>
          </a:xfrm>
          <a:prstGeom prst="roundRect">
            <a:avLst>
              <a:gd name="adj" fmla="val 9231"/>
            </a:avLst>
          </a:prstGeom>
          <a:solidFill>
            <a:srgbClr val="13171E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" y="1691640"/>
            <a:ext cx="36576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17190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@ui-test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帮我写 TravelVista 的组件测试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和视觉回归测试</a:t>
            </a:r>
            <a:endParaRPr lang="en-US" sz="8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441448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" y="24231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38328" y="2651760"/>
            <a:ext cx="2057400" cy="1325880"/>
          </a:xfrm>
          <a:prstGeom prst="roundRect">
            <a:avLst>
              <a:gd name="adj" fmla="val 4138"/>
            </a:avLst>
          </a:prstGeom>
          <a:solidFill>
            <a:srgbClr val="13171E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38328" y="2651760"/>
            <a:ext cx="36576" cy="13258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267919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收到需求 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开始路由分析...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✂ </a:t>
            </a:r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提取核心测试类型：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组件测试 (CT)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E2E 端到端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视觉回归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关键词：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57200" y="3611880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61188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组件测试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1298448" y="3611880"/>
            <a:ext cx="768096" cy="201168"/>
          </a:xfrm>
          <a:prstGeom prst="roundRect">
            <a:avLst>
              <a:gd name="adj" fmla="val 27273"/>
            </a:avLst>
          </a:prstGeom>
          <a:solidFill>
            <a:srgbClr val="F85149">
              <a:alpha val="15000"/>
            </a:srgbClr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298448" y="361188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视觉回归</a:t>
            </a:r>
            <a:endParaRPr lang="en-US" sz="7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4133088"/>
            <a:ext cx="164592" cy="16459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4114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38328" y="4334256"/>
            <a:ext cx="2057400" cy="365760"/>
          </a:xfrm>
          <a:prstGeom prst="roundRect">
            <a:avLst>
              <a:gd name="adj" fmla="val 15000"/>
            </a:avLst>
          </a:prstGeom>
          <a:solidFill>
            <a:srgbClr val="13171E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38328" y="4334256"/>
            <a:ext cx="36576" cy="3657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3" name="Text 28"/>
          <p:cNvSpPr/>
          <p:nvPr/>
        </p:nvSpPr>
        <p:spPr>
          <a:xfrm>
            <a:off x="457200" y="43525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正在调用 Discovery Agent 扫描...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2743200" y="10058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2788920" y="1005840"/>
            <a:ext cx="23317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1"/>
          <p:cNvSpPr/>
          <p:nvPr/>
        </p:nvSpPr>
        <p:spPr>
          <a:xfrm>
            <a:off x="2816352" y="109728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/>
        </p:spPr>
      </p:sp>
      <p:sp>
        <p:nvSpPr>
          <p:cNvPr id="37" name="Text 32"/>
          <p:cNvSpPr/>
          <p:nvPr/>
        </p:nvSpPr>
        <p:spPr>
          <a:xfrm>
            <a:off x="2816352" y="10972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</a:t>
            </a:r>
            <a:endParaRPr lang="en-US" sz="7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078992"/>
            <a:ext cx="228600" cy="2286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816352" y="1280160"/>
            <a:ext cx="2276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 配置与环境检查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2816352" y="1444752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Playwright 配置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验证依赖安装状态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获取项目框架信息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2816352" y="1911096"/>
            <a:ext cx="1609344" cy="182880"/>
          </a:xfrm>
          <a:prstGeom prst="roundRect">
            <a:avLst>
              <a:gd name="adj" fmla="val 30000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2816352" y="1911096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playwright.config.ts</a:t>
            </a:r>
            <a:endParaRPr lang="en-US" sz="600" dirty="0"/>
          </a:p>
        </p:txBody>
      </p:sp>
      <p:sp>
        <p:nvSpPr>
          <p:cNvPr id="43" name="Shape 37"/>
          <p:cNvSpPr/>
          <p:nvPr/>
        </p:nvSpPr>
        <p:spPr>
          <a:xfrm>
            <a:off x="5184648" y="1577340"/>
            <a:ext cx="274320" cy="0"/>
          </a:xfrm>
          <a:prstGeom prst="line">
            <a:avLst/>
          </a:prstGeom>
          <a:noFill/>
          <a:ln w="12700">
            <a:solidFill>
              <a:srgbClr val="6E7681"/>
            </a:solidFill>
            <a:prstDash val="dash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522476"/>
            <a:ext cx="109728" cy="109728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5486400" y="10058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5532120" y="1005840"/>
            <a:ext cx="23317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Shape 40"/>
          <p:cNvSpPr/>
          <p:nvPr/>
        </p:nvSpPr>
        <p:spPr>
          <a:xfrm>
            <a:off x="5559552" y="109728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/>
        </p:spPr>
      </p:sp>
      <p:sp>
        <p:nvSpPr>
          <p:cNvPr id="48" name="Text 41"/>
          <p:cNvSpPr/>
          <p:nvPr/>
        </p:nvSpPr>
        <p:spPr>
          <a:xfrm>
            <a:off x="5559552" y="10972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</a:t>
            </a:r>
            <a:endParaRPr lang="en-US" sz="7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78992"/>
            <a:ext cx="228600" cy="2286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559552" y="1280160"/>
            <a:ext cx="2276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需求理解与路由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5559552" y="1444752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 3-5 测试类型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用户画像分析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路由分类决策</a:t>
            </a:r>
            <a:endParaRPr lang="en-US" sz="700" dirty="0"/>
          </a:p>
        </p:txBody>
      </p:sp>
      <p:sp>
        <p:nvSpPr>
          <p:cNvPr id="52" name="Shape 44"/>
          <p:cNvSpPr/>
          <p:nvPr/>
        </p:nvSpPr>
        <p:spPr>
          <a:xfrm>
            <a:off x="5559552" y="1911096"/>
            <a:ext cx="585216" cy="182880"/>
          </a:xfrm>
          <a:prstGeom prst="roundRect">
            <a:avLst>
              <a:gd name="adj" fmla="val 30000"/>
            </a:avLst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559552" y="1911096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分析</a:t>
            </a:r>
            <a:endParaRPr lang="en-US" sz="600" dirty="0"/>
          </a:p>
        </p:txBody>
      </p:sp>
      <p:sp>
        <p:nvSpPr>
          <p:cNvPr id="54" name="Shape 46"/>
          <p:cNvSpPr/>
          <p:nvPr/>
        </p:nvSpPr>
        <p:spPr>
          <a:xfrm>
            <a:off x="3954780" y="2167128"/>
            <a:ext cx="0" cy="182880"/>
          </a:xfrm>
          <a:prstGeom prst="line">
            <a:avLst/>
          </a:prstGeom>
          <a:noFill/>
          <a:ln w="12700">
            <a:solidFill>
              <a:srgbClr val="6E7681"/>
            </a:solidFill>
            <a:prstDash val="dash"/>
          </a:ln>
        </p:spPr>
      </p:sp>
      <p:sp>
        <p:nvSpPr>
          <p:cNvPr id="55" name="Shape 47"/>
          <p:cNvSpPr/>
          <p:nvPr/>
        </p:nvSpPr>
        <p:spPr>
          <a:xfrm>
            <a:off x="2743200" y="23774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2788920" y="2377440"/>
            <a:ext cx="23317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Shape 49"/>
          <p:cNvSpPr/>
          <p:nvPr/>
        </p:nvSpPr>
        <p:spPr>
          <a:xfrm>
            <a:off x="2816352" y="246888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58" name="Text 50"/>
          <p:cNvSpPr/>
          <p:nvPr/>
        </p:nvSpPr>
        <p:spPr>
          <a:xfrm>
            <a:off x="2816352" y="24688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</a:t>
            </a:r>
            <a:endParaRPr lang="en-US" sz="7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2450592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2816352" y="2651760"/>
            <a:ext cx="2276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Discovery 深度扫描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2816352" y="2816352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扫描路由/组件/定位器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逐项分析 Side Effects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全新  ⚠ 重叠  ❌ 已有</a:t>
            </a:r>
            <a:endParaRPr lang="en-US" sz="700" dirty="0"/>
          </a:p>
        </p:txBody>
      </p:sp>
      <p:sp>
        <p:nvSpPr>
          <p:cNvPr id="62" name="Shape 53"/>
          <p:cNvSpPr/>
          <p:nvPr/>
        </p:nvSpPr>
        <p:spPr>
          <a:xfrm>
            <a:off x="2816352" y="3282696"/>
            <a:ext cx="1389888" cy="182880"/>
          </a:xfrm>
          <a:prstGeom prst="roundRect">
            <a:avLst>
              <a:gd name="adj" fmla="val 30000"/>
            </a:avLst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2816352" y="328269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ui-test-discovery</a:t>
            </a:r>
            <a:endParaRPr lang="en-US" sz="600" dirty="0"/>
          </a:p>
        </p:txBody>
      </p:sp>
      <p:sp>
        <p:nvSpPr>
          <p:cNvPr id="64" name="Shape 55"/>
          <p:cNvSpPr/>
          <p:nvPr/>
        </p:nvSpPr>
        <p:spPr>
          <a:xfrm>
            <a:off x="5184648" y="2948940"/>
            <a:ext cx="274320" cy="0"/>
          </a:xfrm>
          <a:prstGeom prst="line">
            <a:avLst/>
          </a:prstGeom>
          <a:noFill/>
          <a:ln w="12700">
            <a:solidFill>
              <a:srgbClr val="6E7681"/>
            </a:solidFill>
            <a:prstDash val="dash"/>
          </a:ln>
        </p:spPr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2894076"/>
            <a:ext cx="109728" cy="109728"/>
          </a:xfrm>
          <a:prstGeom prst="rect">
            <a:avLst/>
          </a:prstGeom>
        </p:spPr>
      </p:pic>
      <p:sp>
        <p:nvSpPr>
          <p:cNvPr id="66" name="Shape 56"/>
          <p:cNvSpPr/>
          <p:nvPr/>
        </p:nvSpPr>
        <p:spPr>
          <a:xfrm>
            <a:off x="5486400" y="23774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7" name="Shape 57"/>
          <p:cNvSpPr/>
          <p:nvPr/>
        </p:nvSpPr>
        <p:spPr>
          <a:xfrm>
            <a:off x="5532120" y="2377440"/>
            <a:ext cx="23317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8" name="Shape 58"/>
          <p:cNvSpPr/>
          <p:nvPr/>
        </p:nvSpPr>
        <p:spPr>
          <a:xfrm>
            <a:off x="5559552" y="246888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/>
        </p:spPr>
      </p:sp>
      <p:sp>
        <p:nvSpPr>
          <p:cNvPr id="69" name="Text 59"/>
          <p:cNvSpPr/>
          <p:nvPr/>
        </p:nvSpPr>
        <p:spPr>
          <a:xfrm>
            <a:off x="5559552" y="24688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</a:t>
            </a:r>
            <a:endParaRPr lang="en-US" sz="700" dirty="0"/>
          </a:p>
        </p:txBody>
      </p:sp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2088" y="2450592"/>
            <a:ext cx="228600" cy="228600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5559552" y="2651760"/>
            <a:ext cx="2276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测试代码生成</a:t>
            </a:r>
            <a:endParaRPr lang="en-US" sz="900" dirty="0"/>
          </a:p>
        </p:txBody>
      </p:sp>
      <p:sp>
        <p:nvSpPr>
          <p:cNvPr id="72" name="Text 61"/>
          <p:cNvSpPr/>
          <p:nvPr/>
        </p:nvSpPr>
        <p:spPr>
          <a:xfrm>
            <a:off x="5559552" y="2816352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 / E2E / Visual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三路并行生成测试代码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覆盖组件·路由·截图</a:t>
            </a:r>
            <a:endParaRPr lang="en-US" sz="700" dirty="0"/>
          </a:p>
        </p:txBody>
      </p:sp>
      <p:sp>
        <p:nvSpPr>
          <p:cNvPr id="73" name="Shape 62"/>
          <p:cNvSpPr/>
          <p:nvPr/>
        </p:nvSpPr>
        <p:spPr>
          <a:xfrm>
            <a:off x="5559552" y="3282696"/>
            <a:ext cx="1097280" cy="182880"/>
          </a:xfrm>
          <a:prstGeom prst="roundRect">
            <a:avLst>
              <a:gd name="adj" fmla="val 30000"/>
            </a:avLst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5559552" y="32826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playwright-ct</a:t>
            </a:r>
            <a:endParaRPr lang="en-US" sz="600" dirty="0"/>
          </a:p>
        </p:txBody>
      </p:sp>
      <p:sp>
        <p:nvSpPr>
          <p:cNvPr id="75" name="Shape 64"/>
          <p:cNvSpPr/>
          <p:nvPr/>
        </p:nvSpPr>
        <p:spPr>
          <a:xfrm>
            <a:off x="6711696" y="3282696"/>
            <a:ext cx="1170432" cy="182880"/>
          </a:xfrm>
          <a:prstGeom prst="roundRect">
            <a:avLst>
              <a:gd name="adj" fmla="val 30000"/>
            </a:avLst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6711696" y="3282696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playwright-e2e</a:t>
            </a:r>
            <a:endParaRPr lang="en-US" sz="600" dirty="0"/>
          </a:p>
        </p:txBody>
      </p:sp>
      <p:sp>
        <p:nvSpPr>
          <p:cNvPr id="77" name="Shape 66"/>
          <p:cNvSpPr/>
          <p:nvPr/>
        </p:nvSpPr>
        <p:spPr>
          <a:xfrm>
            <a:off x="3954780" y="3538728"/>
            <a:ext cx="0" cy="182880"/>
          </a:xfrm>
          <a:prstGeom prst="line">
            <a:avLst/>
          </a:prstGeom>
          <a:noFill/>
          <a:ln w="12700">
            <a:solidFill>
              <a:srgbClr val="6E7681"/>
            </a:solidFill>
            <a:prstDash val="dash"/>
          </a:ln>
        </p:spPr>
      </p:sp>
      <p:sp>
        <p:nvSpPr>
          <p:cNvPr id="78" name="Shape 67"/>
          <p:cNvSpPr/>
          <p:nvPr/>
        </p:nvSpPr>
        <p:spPr>
          <a:xfrm>
            <a:off x="2743200" y="37490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9" name="Shape 68"/>
          <p:cNvSpPr/>
          <p:nvPr/>
        </p:nvSpPr>
        <p:spPr>
          <a:xfrm>
            <a:off x="2788920" y="3749040"/>
            <a:ext cx="23317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0" name="Shape 69"/>
          <p:cNvSpPr/>
          <p:nvPr/>
        </p:nvSpPr>
        <p:spPr>
          <a:xfrm>
            <a:off x="2816352" y="384048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/>
        </p:spPr>
      </p:sp>
      <p:sp>
        <p:nvSpPr>
          <p:cNvPr id="81" name="Text 70"/>
          <p:cNvSpPr/>
          <p:nvPr/>
        </p:nvSpPr>
        <p:spPr>
          <a:xfrm>
            <a:off x="2816352" y="38404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4a</a:t>
            </a:r>
            <a:endParaRPr lang="en-US" sz="700" dirty="0"/>
          </a:p>
        </p:txBody>
      </p:sp>
      <p:pic>
        <p:nvPicPr>
          <p:cNvPr id="8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3822192"/>
            <a:ext cx="228600" cy="228600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2816352" y="4023360"/>
            <a:ext cx="2276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测试执行</a:t>
            </a:r>
            <a:endParaRPr lang="en-US" sz="900" dirty="0"/>
          </a:p>
        </p:txBody>
      </p:sp>
      <p:sp>
        <p:nvSpPr>
          <p:cNvPr id="84" name="Text 72"/>
          <p:cNvSpPr/>
          <p:nvPr/>
        </p:nvSpPr>
        <p:spPr>
          <a:xfrm>
            <a:off x="2816352" y="4187952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本地运行全部测试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失败诊断 · 覆盖率统计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可收敛</a:t>
            </a:r>
            <a:endParaRPr lang="en-US" sz="700" dirty="0"/>
          </a:p>
        </p:txBody>
      </p:sp>
      <p:sp>
        <p:nvSpPr>
          <p:cNvPr id="85" name="Shape 73"/>
          <p:cNvSpPr/>
          <p:nvPr/>
        </p:nvSpPr>
        <p:spPr>
          <a:xfrm>
            <a:off x="2816352" y="4654296"/>
            <a:ext cx="1536192" cy="182880"/>
          </a:xfrm>
          <a:prstGeom prst="roundRect">
            <a:avLst>
              <a:gd name="adj" fmla="val 30000"/>
            </a:avLst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86" name="Text 74"/>
          <p:cNvSpPr/>
          <p:nvPr/>
        </p:nvSpPr>
        <p:spPr>
          <a:xfrm>
            <a:off x="2816352" y="4654296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</a:t>
            </a:r>
            <a:endParaRPr lang="en-US" sz="600" dirty="0"/>
          </a:p>
        </p:txBody>
      </p:sp>
      <p:sp>
        <p:nvSpPr>
          <p:cNvPr id="87" name="Text 75"/>
          <p:cNvSpPr/>
          <p:nvPr/>
        </p:nvSpPr>
        <p:spPr>
          <a:xfrm>
            <a:off x="5202936" y="4210812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88" name="Shape 76"/>
          <p:cNvSpPr/>
          <p:nvPr/>
        </p:nvSpPr>
        <p:spPr>
          <a:xfrm>
            <a:off x="5486400" y="37490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9" name="Shape 77"/>
          <p:cNvSpPr/>
          <p:nvPr/>
        </p:nvSpPr>
        <p:spPr>
          <a:xfrm>
            <a:off x="5532120" y="3749040"/>
            <a:ext cx="23317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0" name="Shape 78"/>
          <p:cNvSpPr/>
          <p:nvPr/>
        </p:nvSpPr>
        <p:spPr>
          <a:xfrm>
            <a:off x="5559552" y="384048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/>
        </p:spPr>
      </p:sp>
      <p:sp>
        <p:nvSpPr>
          <p:cNvPr id="91" name="Text 79"/>
          <p:cNvSpPr/>
          <p:nvPr/>
        </p:nvSpPr>
        <p:spPr>
          <a:xfrm>
            <a:off x="5559552" y="384048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4b</a:t>
            </a:r>
            <a:endParaRPr lang="en-US" sz="700" dirty="0"/>
          </a:p>
        </p:txBody>
      </p:sp>
      <p:pic>
        <p:nvPicPr>
          <p:cNvPr id="9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2088" y="3822192"/>
            <a:ext cx="228600" cy="228600"/>
          </a:xfrm>
          <a:prstGeom prst="rect">
            <a:avLst/>
          </a:prstGeom>
        </p:spPr>
      </p:pic>
      <p:sp>
        <p:nvSpPr>
          <p:cNvPr id="93" name="Text 80"/>
          <p:cNvSpPr/>
          <p:nvPr/>
        </p:nvSpPr>
        <p:spPr>
          <a:xfrm>
            <a:off x="5559552" y="4023360"/>
            <a:ext cx="2276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质量门禁评估</a:t>
            </a:r>
            <a:endParaRPr lang="en-US" sz="900" dirty="0"/>
          </a:p>
        </p:txBody>
      </p:sp>
      <p:sp>
        <p:nvSpPr>
          <p:cNvPr id="94" name="Text 81"/>
          <p:cNvSpPr/>
          <p:nvPr/>
        </p:nvSpPr>
        <p:spPr>
          <a:xfrm>
            <a:off x="5559552" y="4187952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 视觉审查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基线权威判定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可行性: 高/中/低</a:t>
            </a:r>
            <a:endParaRPr lang="en-US" sz="700" dirty="0"/>
          </a:p>
        </p:txBody>
      </p:sp>
      <p:sp>
        <p:nvSpPr>
          <p:cNvPr id="95" name="Shape 82"/>
          <p:cNvSpPr/>
          <p:nvPr/>
        </p:nvSpPr>
        <p:spPr>
          <a:xfrm>
            <a:off x="5559552" y="4654296"/>
            <a:ext cx="1170432" cy="182880"/>
          </a:xfrm>
          <a:prstGeom prst="roundRect">
            <a:avLst>
              <a:gd name="adj" fmla="val 30000"/>
            </a:avLst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96" name="Text 83"/>
          <p:cNvSpPr/>
          <p:nvPr/>
        </p:nvSpPr>
        <p:spPr>
          <a:xfrm>
            <a:off x="5559552" y="4654296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playwright-vlm</a:t>
            </a:r>
            <a:endParaRPr lang="en-US" sz="600" dirty="0"/>
          </a:p>
        </p:txBody>
      </p:sp>
      <p:sp>
        <p:nvSpPr>
          <p:cNvPr id="97" name="Shape 84"/>
          <p:cNvSpPr/>
          <p:nvPr/>
        </p:nvSpPr>
        <p:spPr>
          <a:xfrm>
            <a:off x="5326380" y="4910328"/>
            <a:ext cx="0" cy="182880"/>
          </a:xfrm>
          <a:prstGeom prst="line">
            <a:avLst/>
          </a:prstGeom>
          <a:noFill/>
          <a:ln w="12700">
            <a:solidFill>
              <a:srgbClr val="6E7681"/>
            </a:solidFill>
            <a:prstDash val="dash"/>
          </a:ln>
        </p:spPr>
      </p:sp>
      <p:sp>
        <p:nvSpPr>
          <p:cNvPr id="98" name="Shape 85"/>
          <p:cNvSpPr/>
          <p:nvPr/>
        </p:nvSpPr>
        <p:spPr>
          <a:xfrm>
            <a:off x="2743200" y="5056632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9" name="Shape 86"/>
          <p:cNvSpPr/>
          <p:nvPr/>
        </p:nvSpPr>
        <p:spPr>
          <a:xfrm>
            <a:off x="2788920" y="5056632"/>
            <a:ext cx="507492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0" name="Shape 87"/>
          <p:cNvSpPr/>
          <p:nvPr/>
        </p:nvSpPr>
        <p:spPr>
          <a:xfrm>
            <a:off x="2834640" y="514807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/>
        </p:spPr>
      </p:sp>
      <p:sp>
        <p:nvSpPr>
          <p:cNvPr id="101" name="Text 88"/>
          <p:cNvSpPr/>
          <p:nvPr/>
        </p:nvSpPr>
        <p:spPr>
          <a:xfrm>
            <a:off x="2834640" y="514807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1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5</a:t>
            </a:r>
            <a:endParaRPr lang="en-US" sz="700" dirty="0"/>
          </a:p>
        </p:txBody>
      </p:sp>
      <p:pic>
        <p:nvPicPr>
          <p:cNvPr id="10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3280" y="5129784"/>
            <a:ext cx="201168" cy="201168"/>
          </a:xfrm>
          <a:prstGeom prst="rect">
            <a:avLst/>
          </a:prstGeom>
        </p:spPr>
      </p:pic>
      <p:sp>
        <p:nvSpPr>
          <p:cNvPr id="103" name="Text 89"/>
          <p:cNvSpPr/>
          <p:nvPr/>
        </p:nvSpPr>
        <p:spPr>
          <a:xfrm>
            <a:off x="3621024" y="51297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输出《测试分析报告》</a:t>
            </a:r>
            <a:endParaRPr lang="en-US" sz="1000" dirty="0"/>
          </a:p>
        </p:txBody>
      </p:sp>
      <p:sp>
        <p:nvSpPr>
          <p:cNvPr id="104" name="Text 90"/>
          <p:cNvSpPr/>
          <p:nvPr/>
        </p:nvSpPr>
        <p:spPr>
          <a:xfrm>
            <a:off x="2834640" y="540410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Ch.1 覆盖统计</a:t>
            </a:r>
            <a:endParaRPr lang="en-US" sz="650" dirty="0"/>
          </a:p>
        </p:txBody>
      </p:sp>
      <p:sp>
        <p:nvSpPr>
          <p:cNvPr id="105" name="Text 91"/>
          <p:cNvSpPr/>
          <p:nvPr/>
        </p:nvSpPr>
        <p:spPr>
          <a:xfrm>
            <a:off x="3758184" y="5404104"/>
            <a:ext cx="109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·</a:t>
            </a:r>
            <a:endParaRPr lang="en-US" sz="700" dirty="0"/>
          </a:p>
        </p:txBody>
      </p:sp>
      <p:sp>
        <p:nvSpPr>
          <p:cNvPr id="106" name="Text 92"/>
          <p:cNvSpPr/>
          <p:nvPr/>
        </p:nvSpPr>
        <p:spPr>
          <a:xfrm>
            <a:off x="3840480" y="540410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Ch.2 CT 结果</a:t>
            </a:r>
            <a:endParaRPr lang="en-US" sz="650" dirty="0"/>
          </a:p>
        </p:txBody>
      </p:sp>
      <p:sp>
        <p:nvSpPr>
          <p:cNvPr id="107" name="Text 93"/>
          <p:cNvSpPr/>
          <p:nvPr/>
        </p:nvSpPr>
        <p:spPr>
          <a:xfrm>
            <a:off x="4855464" y="5404104"/>
            <a:ext cx="109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·</a:t>
            </a:r>
            <a:endParaRPr lang="en-US" sz="700" dirty="0"/>
          </a:p>
        </p:txBody>
      </p:sp>
      <p:sp>
        <p:nvSpPr>
          <p:cNvPr id="108" name="Text 94"/>
          <p:cNvSpPr/>
          <p:nvPr/>
        </p:nvSpPr>
        <p:spPr>
          <a:xfrm>
            <a:off x="4937760" y="5404104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Ch.3 E2E 结果</a:t>
            </a:r>
            <a:endParaRPr lang="en-US" sz="650" dirty="0"/>
          </a:p>
        </p:txBody>
      </p:sp>
      <p:sp>
        <p:nvSpPr>
          <p:cNvPr id="109" name="Text 95"/>
          <p:cNvSpPr/>
          <p:nvPr/>
        </p:nvSpPr>
        <p:spPr>
          <a:xfrm>
            <a:off x="6044184" y="5404104"/>
            <a:ext cx="109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·</a:t>
            </a:r>
            <a:endParaRPr lang="en-US" sz="700" dirty="0"/>
          </a:p>
        </p:txBody>
      </p:sp>
      <p:sp>
        <p:nvSpPr>
          <p:cNvPr id="110" name="Text 96"/>
          <p:cNvSpPr/>
          <p:nvPr/>
        </p:nvSpPr>
        <p:spPr>
          <a:xfrm>
            <a:off x="6126480" y="5404104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Ch.4 Visual Diff</a:t>
            </a:r>
            <a:endParaRPr lang="en-US" sz="650" dirty="0"/>
          </a:p>
        </p:txBody>
      </p:sp>
      <p:sp>
        <p:nvSpPr>
          <p:cNvPr id="111" name="Text 97"/>
          <p:cNvSpPr/>
          <p:nvPr/>
        </p:nvSpPr>
        <p:spPr>
          <a:xfrm>
            <a:off x="7690104" y="5404104"/>
            <a:ext cx="109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·</a:t>
            </a:r>
            <a:endParaRPr lang="en-US" sz="700" dirty="0"/>
          </a:p>
        </p:txBody>
      </p:sp>
      <p:sp>
        <p:nvSpPr>
          <p:cNvPr id="112" name="Text 98"/>
          <p:cNvSpPr/>
          <p:nvPr/>
        </p:nvSpPr>
        <p:spPr>
          <a:xfrm>
            <a:off x="7772400" y="5404104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Ch.5 VLM 审查</a:t>
            </a:r>
            <a:endParaRPr lang="en-US" sz="650" dirty="0"/>
          </a:p>
        </p:txBody>
      </p:sp>
      <p:sp>
        <p:nvSpPr>
          <p:cNvPr id="113" name="Text 99"/>
          <p:cNvSpPr/>
          <p:nvPr/>
        </p:nvSpPr>
        <p:spPr>
          <a:xfrm>
            <a:off x="8878824" y="5404104"/>
            <a:ext cx="109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·</a:t>
            </a:r>
            <a:endParaRPr lang="en-US" sz="700" dirty="0"/>
          </a:p>
        </p:txBody>
      </p:sp>
      <p:sp>
        <p:nvSpPr>
          <p:cNvPr id="114" name="Text 100"/>
          <p:cNvSpPr/>
          <p:nvPr/>
        </p:nvSpPr>
        <p:spPr>
          <a:xfrm>
            <a:off x="8961120" y="5404104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Ch.6 建议</a:t>
            </a:r>
            <a:endParaRPr lang="en-US" sz="650" dirty="0"/>
          </a:p>
        </p:txBody>
      </p:sp>
      <p:sp>
        <p:nvSpPr>
          <p:cNvPr id="115" name="Shape 101"/>
          <p:cNvSpPr/>
          <p:nvPr/>
        </p:nvSpPr>
        <p:spPr>
          <a:xfrm>
            <a:off x="8275320" y="100584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6" name="Shape 102"/>
          <p:cNvSpPr/>
          <p:nvPr/>
        </p:nvSpPr>
        <p:spPr>
          <a:xfrm>
            <a:off x="8412480" y="1115568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17" name="Shape 103"/>
          <p:cNvSpPr/>
          <p:nvPr/>
        </p:nvSpPr>
        <p:spPr>
          <a:xfrm>
            <a:off x="8549640" y="11155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8" name="Shape 104"/>
          <p:cNvSpPr/>
          <p:nvPr/>
        </p:nvSpPr>
        <p:spPr>
          <a:xfrm>
            <a:off x="8686800" y="1115568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9" name="Text 105"/>
          <p:cNvSpPr/>
          <p:nvPr/>
        </p:nvSpPr>
        <p:spPr>
          <a:xfrm>
            <a:off x="8869680" y="10607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测试分析报告</a:t>
            </a:r>
            <a:endParaRPr lang="en-US" sz="1000" dirty="0"/>
          </a:p>
        </p:txBody>
      </p:sp>
      <p:sp>
        <p:nvSpPr>
          <p:cNvPr id="120" name="Shape 106"/>
          <p:cNvSpPr/>
          <p:nvPr/>
        </p:nvSpPr>
        <p:spPr>
          <a:xfrm>
            <a:off x="8366760" y="1325880"/>
            <a:ext cx="34747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21" name="Text 107"/>
          <p:cNvSpPr/>
          <p:nvPr/>
        </p:nvSpPr>
        <p:spPr>
          <a:xfrm>
            <a:off x="8412480" y="1417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需求概述</a:t>
            </a:r>
            <a:endParaRPr lang="en-US" sz="900" dirty="0"/>
          </a:p>
        </p:txBody>
      </p:sp>
      <p:sp>
        <p:nvSpPr>
          <p:cNvPr id="122" name="Text 108"/>
          <p:cNvSpPr/>
          <p:nvPr/>
        </p:nvSpPr>
        <p:spPr>
          <a:xfrm>
            <a:off x="8458200" y="164592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750" dirty="0"/>
          </a:p>
        </p:txBody>
      </p:sp>
      <p:sp>
        <p:nvSpPr>
          <p:cNvPr id="123" name="Text 109"/>
          <p:cNvSpPr/>
          <p:nvPr/>
        </p:nvSpPr>
        <p:spPr>
          <a:xfrm>
            <a:off x="9372600" y="1645920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 · E2E · 视觉回归</a:t>
            </a:r>
            <a:endParaRPr lang="en-US" sz="750" dirty="0"/>
          </a:p>
        </p:txBody>
      </p:sp>
      <p:sp>
        <p:nvSpPr>
          <p:cNvPr id="124" name="Text 110"/>
          <p:cNvSpPr/>
          <p:nvPr/>
        </p:nvSpPr>
        <p:spPr>
          <a:xfrm>
            <a:off x="8458200" y="181051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750" dirty="0"/>
          </a:p>
        </p:txBody>
      </p:sp>
      <p:sp>
        <p:nvSpPr>
          <p:cNvPr id="125" name="Text 111"/>
          <p:cNvSpPr/>
          <p:nvPr/>
        </p:nvSpPr>
        <p:spPr>
          <a:xfrm>
            <a:off x="9372600" y="1810512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 前端项目</a:t>
            </a:r>
            <a:endParaRPr lang="en-US" sz="750" dirty="0"/>
          </a:p>
        </p:txBody>
      </p:sp>
      <p:sp>
        <p:nvSpPr>
          <p:cNvPr id="126" name="Text 112"/>
          <p:cNvSpPr/>
          <p:nvPr/>
        </p:nvSpPr>
        <p:spPr>
          <a:xfrm>
            <a:off x="8412480" y="20665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Discovery 结果</a:t>
            </a:r>
            <a:endParaRPr lang="en-US" sz="900" dirty="0"/>
          </a:p>
        </p:txBody>
      </p:sp>
      <p:sp>
        <p:nvSpPr>
          <p:cNvPr id="127" name="Text 113"/>
          <p:cNvSpPr/>
          <p:nvPr/>
        </p:nvSpPr>
        <p:spPr>
          <a:xfrm>
            <a:off x="8458200" y="2295144"/>
            <a:ext cx="3291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组件 · 8 路由 · i18n ✅ · Side Effects 5</a:t>
            </a:r>
            <a:endParaRPr lang="en-US" sz="750" dirty="0"/>
          </a:p>
        </p:txBody>
      </p:sp>
      <p:sp>
        <p:nvSpPr>
          <p:cNvPr id="128" name="Text 114"/>
          <p:cNvSpPr/>
          <p:nvPr/>
        </p:nvSpPr>
        <p:spPr>
          <a:xfrm>
            <a:off x="8412480" y="25694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🏷️ 竞品</a:t>
            </a:r>
            <a:endParaRPr lang="en-US" sz="900" dirty="0"/>
          </a:p>
        </p:txBody>
      </p:sp>
      <p:sp>
        <p:nvSpPr>
          <p:cNvPr id="129" name="Text 115"/>
          <p:cNvSpPr/>
          <p:nvPr/>
        </p:nvSpPr>
        <p:spPr>
          <a:xfrm>
            <a:off x="8458200" y="277063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Cypress</a:t>
            </a:r>
            <a:endParaRPr lang="en-US" sz="750" dirty="0"/>
          </a:p>
        </p:txBody>
      </p:sp>
      <p:sp>
        <p:nvSpPr>
          <p:cNvPr id="130" name="Text 116"/>
          <p:cNvSpPr/>
          <p:nvPr/>
        </p:nvSpPr>
        <p:spPr>
          <a:xfrm>
            <a:off x="9372600" y="2770632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组件级 · 免费 · 无 VLM</a:t>
            </a:r>
            <a:endParaRPr lang="en-US" sz="700" dirty="0"/>
          </a:p>
        </p:txBody>
      </p:sp>
      <p:sp>
        <p:nvSpPr>
          <p:cNvPr id="131" name="Text 117"/>
          <p:cNvSpPr/>
          <p:nvPr/>
        </p:nvSpPr>
        <p:spPr>
          <a:xfrm>
            <a:off x="8458200" y="293522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Chromatic</a:t>
            </a:r>
            <a:endParaRPr lang="en-US" sz="750" dirty="0"/>
          </a:p>
        </p:txBody>
      </p:sp>
      <p:sp>
        <p:nvSpPr>
          <p:cNvPr id="132" name="Text 118"/>
          <p:cNvSpPr/>
          <p:nvPr/>
        </p:nvSpPr>
        <p:spPr>
          <a:xfrm>
            <a:off x="9372600" y="2935224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视觉回归 · 付费 · 云端</a:t>
            </a:r>
            <a:endParaRPr lang="en-US" sz="700" dirty="0"/>
          </a:p>
        </p:txBody>
      </p:sp>
      <p:sp>
        <p:nvSpPr>
          <p:cNvPr id="133" name="Text 119"/>
          <p:cNvSpPr/>
          <p:nvPr/>
        </p:nvSpPr>
        <p:spPr>
          <a:xfrm>
            <a:off x="8412480" y="31912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测试执行</a:t>
            </a:r>
            <a:endParaRPr lang="en-US" sz="900" dirty="0"/>
          </a:p>
        </p:txBody>
      </p:sp>
      <p:sp>
        <p:nvSpPr>
          <p:cNvPr id="134" name="Text 120"/>
          <p:cNvSpPr/>
          <p:nvPr/>
        </p:nvSpPr>
        <p:spPr>
          <a:xfrm>
            <a:off x="8458200" y="341985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</a:t>
            </a:r>
            <a:endParaRPr lang="en-US" sz="750" dirty="0"/>
          </a:p>
        </p:txBody>
      </p:sp>
      <p:sp>
        <p:nvSpPr>
          <p:cNvPr id="135" name="Text 121"/>
          <p:cNvSpPr/>
          <p:nvPr/>
        </p:nvSpPr>
        <p:spPr>
          <a:xfrm>
            <a:off x="9006840" y="341985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tests · ✅ 38 passed · ⚠️ 4 flaky</a:t>
            </a:r>
            <a:endParaRPr lang="en-US" sz="700" dirty="0"/>
          </a:p>
        </p:txBody>
      </p:sp>
      <p:sp>
        <p:nvSpPr>
          <p:cNvPr id="136" name="Text 122"/>
          <p:cNvSpPr/>
          <p:nvPr/>
        </p:nvSpPr>
        <p:spPr>
          <a:xfrm>
            <a:off x="8458200" y="360273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</a:t>
            </a:r>
            <a:endParaRPr lang="en-US" sz="750" dirty="0"/>
          </a:p>
        </p:txBody>
      </p:sp>
      <p:sp>
        <p:nvSpPr>
          <p:cNvPr id="137" name="Text 123"/>
          <p:cNvSpPr/>
          <p:nvPr/>
        </p:nvSpPr>
        <p:spPr>
          <a:xfrm>
            <a:off x="9006840" y="360273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tests · ✅ 22 passed · ❌ 2 failed</a:t>
            </a:r>
            <a:endParaRPr lang="en-US" sz="700" dirty="0"/>
          </a:p>
        </p:txBody>
      </p:sp>
      <p:sp>
        <p:nvSpPr>
          <p:cNvPr id="138" name="Text 124"/>
          <p:cNvSpPr/>
          <p:nvPr/>
        </p:nvSpPr>
        <p:spPr>
          <a:xfrm>
            <a:off x="8458200" y="378561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</a:t>
            </a:r>
            <a:endParaRPr lang="en-US" sz="750" dirty="0"/>
          </a:p>
        </p:txBody>
      </p:sp>
      <p:sp>
        <p:nvSpPr>
          <p:cNvPr id="139" name="Text 125"/>
          <p:cNvSpPr/>
          <p:nvPr/>
        </p:nvSpPr>
        <p:spPr>
          <a:xfrm>
            <a:off x="9006840" y="37856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snapshots · ✅ 14 match · 🔶 2 diff</a:t>
            </a:r>
            <a:endParaRPr lang="en-US" sz="700" dirty="0"/>
          </a:p>
        </p:txBody>
      </p:sp>
      <p:sp>
        <p:nvSpPr>
          <p:cNvPr id="140" name="Text 126"/>
          <p:cNvSpPr/>
          <p:nvPr/>
        </p:nvSpPr>
        <p:spPr>
          <a:xfrm>
            <a:off x="8412480" y="40599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价值评分</a:t>
            </a:r>
            <a:endParaRPr lang="en-US" sz="900" dirty="0"/>
          </a:p>
        </p:txBody>
      </p:sp>
      <p:sp>
        <p:nvSpPr>
          <p:cNvPr id="141" name="Text 127"/>
          <p:cNvSpPr/>
          <p:nvPr/>
        </p:nvSpPr>
        <p:spPr>
          <a:xfrm>
            <a:off x="8458200" y="428853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组件覆盖</a:t>
            </a:r>
            <a:endParaRPr lang="en-US" sz="750" dirty="0"/>
          </a:p>
        </p:txBody>
      </p:sp>
      <p:sp>
        <p:nvSpPr>
          <p:cNvPr id="142" name="Text 128"/>
          <p:cNvSpPr/>
          <p:nvPr/>
        </p:nvSpPr>
        <p:spPr>
          <a:xfrm>
            <a:off x="9326880" y="4288536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143" name="Text 129"/>
          <p:cNvSpPr/>
          <p:nvPr/>
        </p:nvSpPr>
        <p:spPr>
          <a:xfrm>
            <a:off x="10561320" y="428853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144" name="Text 130"/>
          <p:cNvSpPr/>
          <p:nvPr/>
        </p:nvSpPr>
        <p:spPr>
          <a:xfrm>
            <a:off x="8458200" y="445312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路由覆盖</a:t>
            </a:r>
            <a:endParaRPr lang="en-US" sz="750" dirty="0"/>
          </a:p>
        </p:txBody>
      </p:sp>
      <p:sp>
        <p:nvSpPr>
          <p:cNvPr id="145" name="Text 131"/>
          <p:cNvSpPr/>
          <p:nvPr/>
        </p:nvSpPr>
        <p:spPr>
          <a:xfrm>
            <a:off x="9326880" y="445312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146" name="Text 132"/>
          <p:cNvSpPr/>
          <p:nvPr/>
        </p:nvSpPr>
        <p:spPr>
          <a:xfrm>
            <a:off x="10561320" y="4453128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147" name="Text 133"/>
          <p:cNvSpPr/>
          <p:nvPr/>
        </p:nvSpPr>
        <p:spPr>
          <a:xfrm>
            <a:off x="8458200" y="4617720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视觉基线</a:t>
            </a:r>
            <a:endParaRPr lang="en-US" sz="750" dirty="0"/>
          </a:p>
        </p:txBody>
      </p:sp>
      <p:sp>
        <p:nvSpPr>
          <p:cNvPr id="148" name="Text 134"/>
          <p:cNvSpPr/>
          <p:nvPr/>
        </p:nvSpPr>
        <p:spPr>
          <a:xfrm>
            <a:off x="9326880" y="461772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149" name="Text 135"/>
          <p:cNvSpPr/>
          <p:nvPr/>
        </p:nvSpPr>
        <p:spPr>
          <a:xfrm>
            <a:off x="10561320" y="4617720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750" dirty="0"/>
          </a:p>
        </p:txBody>
      </p:sp>
      <p:sp>
        <p:nvSpPr>
          <p:cNvPr id="150" name="Text 136"/>
          <p:cNvSpPr/>
          <p:nvPr/>
        </p:nvSpPr>
        <p:spPr>
          <a:xfrm>
            <a:off x="8458200" y="478231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 审查</a:t>
            </a:r>
            <a:endParaRPr lang="en-US" sz="750" dirty="0"/>
          </a:p>
        </p:txBody>
      </p:sp>
      <p:sp>
        <p:nvSpPr>
          <p:cNvPr id="151" name="Text 137"/>
          <p:cNvSpPr/>
          <p:nvPr/>
        </p:nvSpPr>
        <p:spPr>
          <a:xfrm>
            <a:off x="9326880" y="4782312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152" name="Text 138"/>
          <p:cNvSpPr/>
          <p:nvPr/>
        </p:nvSpPr>
        <p:spPr>
          <a:xfrm>
            <a:off x="10561320" y="478231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153" name="Shape 139"/>
          <p:cNvSpPr/>
          <p:nvPr/>
        </p:nvSpPr>
        <p:spPr>
          <a:xfrm>
            <a:off x="8412480" y="5056632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4" name="Text 140"/>
          <p:cNvSpPr/>
          <p:nvPr/>
        </p:nvSpPr>
        <p:spPr>
          <a:xfrm>
            <a:off x="8503920" y="50932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建议推进</a:t>
            </a:r>
            <a:endParaRPr lang="en-US" sz="1000" dirty="0"/>
          </a:p>
        </p:txBody>
      </p:sp>
      <p:sp>
        <p:nvSpPr>
          <p:cNvPr id="155" name="Text 141"/>
          <p:cNvSpPr/>
          <p:nvPr/>
        </p:nvSpPr>
        <p:spPr>
          <a:xfrm>
            <a:off x="8503920" y="53035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 4.0/5 — 视觉基线需更新</a:t>
            </a:r>
            <a:endParaRPr lang="en-US" sz="800" dirty="0"/>
          </a:p>
        </p:txBody>
      </p:sp>
      <p:sp>
        <p:nvSpPr>
          <p:cNvPr id="156" name="Text 142"/>
          <p:cNvSpPr/>
          <p:nvPr/>
        </p:nvSpPr>
        <p:spPr>
          <a:xfrm>
            <a:off x="365760" y="56692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下游联动 — 建议推进后的 Handoff 路径</a:t>
            </a:r>
            <a:endParaRPr lang="en-US" sz="850" dirty="0"/>
          </a:p>
        </p:txBody>
      </p:sp>
      <p:sp>
        <p:nvSpPr>
          <p:cNvPr id="157" name="Shape 143"/>
          <p:cNvSpPr/>
          <p:nvPr/>
        </p:nvSpPr>
        <p:spPr>
          <a:xfrm>
            <a:off x="365760" y="58978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8" name="Shape 144"/>
          <p:cNvSpPr/>
          <p:nvPr/>
        </p:nvSpPr>
        <p:spPr>
          <a:xfrm>
            <a:off x="420624" y="595274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3FB950"/>
          </a:solidFill>
          <a:ln/>
        </p:spPr>
      </p:sp>
      <p:sp>
        <p:nvSpPr>
          <p:cNvPr id="159" name="Text 145"/>
          <p:cNvSpPr/>
          <p:nvPr/>
        </p:nvSpPr>
        <p:spPr>
          <a:xfrm>
            <a:off x="420624" y="5952744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600" dirty="0"/>
          </a:p>
        </p:txBody>
      </p:sp>
      <p:sp>
        <p:nvSpPr>
          <p:cNvPr id="160" name="Text 146"/>
          <p:cNvSpPr/>
          <p:nvPr/>
        </p:nvSpPr>
        <p:spPr>
          <a:xfrm>
            <a:off x="420624" y="615391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</a:t>
            </a:r>
            <a:endParaRPr lang="en-US" sz="750" dirty="0"/>
          </a:p>
        </p:txBody>
      </p:sp>
      <p:sp>
        <p:nvSpPr>
          <p:cNvPr id="161" name="Text 147"/>
          <p:cNvSpPr/>
          <p:nvPr/>
        </p:nvSpPr>
        <p:spPr>
          <a:xfrm>
            <a:off x="2039112" y="6007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2" name="Shape 148"/>
          <p:cNvSpPr/>
          <p:nvPr/>
        </p:nvSpPr>
        <p:spPr>
          <a:xfrm>
            <a:off x="2331720" y="58978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3" name="Shape 149"/>
          <p:cNvSpPr/>
          <p:nvPr/>
        </p:nvSpPr>
        <p:spPr>
          <a:xfrm>
            <a:off x="2386584" y="595274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164" name="Text 150"/>
          <p:cNvSpPr/>
          <p:nvPr/>
        </p:nvSpPr>
        <p:spPr>
          <a:xfrm>
            <a:off x="2386584" y="5952744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600" dirty="0"/>
          </a:p>
        </p:txBody>
      </p:sp>
      <p:sp>
        <p:nvSpPr>
          <p:cNvPr id="165" name="Text 151"/>
          <p:cNvSpPr/>
          <p:nvPr/>
        </p:nvSpPr>
        <p:spPr>
          <a:xfrm>
            <a:off x="2386584" y="615391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playwright-config</a:t>
            </a:r>
            <a:endParaRPr lang="en-US" sz="750" dirty="0"/>
          </a:p>
        </p:txBody>
      </p:sp>
      <p:sp>
        <p:nvSpPr>
          <p:cNvPr id="166" name="Text 152"/>
          <p:cNvSpPr/>
          <p:nvPr/>
        </p:nvSpPr>
        <p:spPr>
          <a:xfrm>
            <a:off x="4005072" y="6007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7" name="Shape 153"/>
          <p:cNvSpPr/>
          <p:nvPr/>
        </p:nvSpPr>
        <p:spPr>
          <a:xfrm>
            <a:off x="4297680" y="58978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8" name="Shape 154"/>
          <p:cNvSpPr/>
          <p:nvPr/>
        </p:nvSpPr>
        <p:spPr>
          <a:xfrm>
            <a:off x="4352544" y="595274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169" name="Text 155"/>
          <p:cNvSpPr/>
          <p:nvPr/>
        </p:nvSpPr>
        <p:spPr>
          <a:xfrm>
            <a:off x="4352544" y="5952744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600" dirty="0"/>
          </a:p>
        </p:txBody>
      </p:sp>
      <p:sp>
        <p:nvSpPr>
          <p:cNvPr id="170" name="Text 156"/>
          <p:cNvSpPr/>
          <p:nvPr/>
        </p:nvSpPr>
        <p:spPr>
          <a:xfrm>
            <a:off x="4352544" y="615391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ui-test-governance</a:t>
            </a:r>
            <a:endParaRPr lang="en-US" sz="750" dirty="0"/>
          </a:p>
        </p:txBody>
      </p:sp>
      <p:sp>
        <p:nvSpPr>
          <p:cNvPr id="171" name="Text 157"/>
          <p:cNvSpPr/>
          <p:nvPr/>
        </p:nvSpPr>
        <p:spPr>
          <a:xfrm>
            <a:off x="5971032" y="6007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2" name="Shape 158"/>
          <p:cNvSpPr/>
          <p:nvPr/>
        </p:nvSpPr>
        <p:spPr>
          <a:xfrm>
            <a:off x="6263640" y="58978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3" name="Shape 159"/>
          <p:cNvSpPr/>
          <p:nvPr/>
        </p:nvSpPr>
        <p:spPr>
          <a:xfrm>
            <a:off x="6318504" y="595274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74" name="Text 160"/>
          <p:cNvSpPr/>
          <p:nvPr/>
        </p:nvSpPr>
        <p:spPr>
          <a:xfrm>
            <a:off x="6318504" y="5952744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600" dirty="0"/>
          </a:p>
        </p:txBody>
      </p:sp>
      <p:sp>
        <p:nvSpPr>
          <p:cNvPr id="175" name="Text 161"/>
          <p:cNvSpPr/>
          <p:nvPr/>
        </p:nvSpPr>
        <p:spPr>
          <a:xfrm>
            <a:off x="6318504" y="615391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playwright-azure</a:t>
            </a:r>
            <a:endParaRPr lang="en-US" sz="750" dirty="0"/>
          </a:p>
        </p:txBody>
      </p:sp>
      <p:sp>
        <p:nvSpPr>
          <p:cNvPr id="176" name="Text 162"/>
          <p:cNvSpPr/>
          <p:nvPr/>
        </p:nvSpPr>
        <p:spPr>
          <a:xfrm>
            <a:off x="7936992" y="6007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7" name="Shape 163"/>
          <p:cNvSpPr/>
          <p:nvPr/>
        </p:nvSpPr>
        <p:spPr>
          <a:xfrm>
            <a:off x="8229600" y="58978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8" name="Shape 164"/>
          <p:cNvSpPr/>
          <p:nvPr/>
        </p:nvSpPr>
        <p:spPr>
          <a:xfrm>
            <a:off x="8284464" y="595274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179" name="Text 165"/>
          <p:cNvSpPr/>
          <p:nvPr/>
        </p:nvSpPr>
        <p:spPr>
          <a:xfrm>
            <a:off x="8284464" y="5952744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600" dirty="0"/>
          </a:p>
        </p:txBody>
      </p:sp>
      <p:sp>
        <p:nvSpPr>
          <p:cNvPr id="180" name="Text 166"/>
          <p:cNvSpPr/>
          <p:nvPr/>
        </p:nvSpPr>
        <p:spPr>
          <a:xfrm>
            <a:off x="8284464" y="615391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playwright-vlm</a:t>
            </a:r>
            <a:endParaRPr lang="en-US" sz="750" dirty="0"/>
          </a:p>
        </p:txBody>
      </p:sp>
      <p:sp>
        <p:nvSpPr>
          <p:cNvPr id="181" name="Text 167"/>
          <p:cNvSpPr/>
          <p:nvPr/>
        </p:nvSpPr>
        <p:spPr>
          <a:xfrm>
            <a:off x="9902952" y="6007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2" name="Shape 168"/>
          <p:cNvSpPr/>
          <p:nvPr/>
        </p:nvSpPr>
        <p:spPr>
          <a:xfrm>
            <a:off x="10195560" y="58978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3" name="Shape 169"/>
          <p:cNvSpPr/>
          <p:nvPr/>
        </p:nvSpPr>
        <p:spPr>
          <a:xfrm>
            <a:off x="10250424" y="5952744"/>
            <a:ext cx="384048" cy="146304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/>
        </p:spPr>
      </p:sp>
      <p:sp>
        <p:nvSpPr>
          <p:cNvPr id="184" name="Text 170"/>
          <p:cNvSpPr/>
          <p:nvPr/>
        </p:nvSpPr>
        <p:spPr>
          <a:xfrm>
            <a:off x="10250424" y="5952744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600" dirty="0"/>
          </a:p>
        </p:txBody>
      </p:sp>
      <p:sp>
        <p:nvSpPr>
          <p:cNvPr id="185" name="Text 171"/>
          <p:cNvSpPr/>
          <p:nvPr/>
        </p:nvSpPr>
        <p:spPr>
          <a:xfrm>
            <a:off x="10250424" y="6153912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Gate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UI-test — Agent 协作流程</dc:title>
  <dc:subject>PptxGenJS Presentation</dc:subject>
  <dc:creator>UI-Test Agent</dc:creator>
  <cp:lastModifiedBy>UI-Test Agent</cp:lastModifiedBy>
  <cp:revision>1</cp:revision>
  <dcterms:created xsi:type="dcterms:W3CDTF">2026-04-07T14:54:28Z</dcterms:created>
  <dcterms:modified xsi:type="dcterms:W3CDTF">2026-04-07T14:54:28Z</dcterms:modified>
</cp:coreProperties>
</file>