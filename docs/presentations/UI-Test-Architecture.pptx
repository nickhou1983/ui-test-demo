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3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361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hyperlink" Target="https://github.com/nickhou1983/UI-test-Demo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hyperlink" Target="https://nickhou1983.github.io/UI-test-Demo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4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457200"/>
            <a:ext cx="457200" cy="4572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457200"/>
            <a:ext cx="457200" cy="4572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457200"/>
            <a:ext cx="457200" cy="4572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457200"/>
            <a:ext cx="457200" cy="4572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457200"/>
            <a:ext cx="457200" cy="45720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自动化测试架构</a:t>
            </a:r>
            <a:endParaRPr lang="en-US" sz="4400" dirty="0"/>
          </a:p>
        </p:txBody>
      </p:sp>
      <p:sp>
        <p:nvSpPr>
          <p:cNvPr id="9" name="Text 2"/>
          <p:cNvSpPr/>
          <p:nvPr/>
        </p:nvSpPr>
        <p:spPr>
          <a:xfrm>
            <a:off x="731520" y="22402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kern="0" spc="3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TravelVista 项目</a:t>
            </a:r>
            <a:endParaRPr lang="en-US" sz="2600" dirty="0"/>
          </a:p>
        </p:txBody>
      </p:sp>
      <p:sp>
        <p:nvSpPr>
          <p:cNvPr id="10" name="Text 3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· 三层金字塔 · Agent 智能路由 · VLM 语义审查 · Azure 云端</a:t>
            </a:r>
            <a:endParaRPr lang="en-US" sz="1300" dirty="0"/>
          </a:p>
        </p:txBody>
      </p:sp>
      <p:sp>
        <p:nvSpPr>
          <p:cNvPr id="11" name="Shape 4"/>
          <p:cNvSpPr/>
          <p:nvPr/>
        </p:nvSpPr>
        <p:spPr>
          <a:xfrm>
            <a:off x="3200400" y="3611880"/>
            <a:ext cx="27432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5"/>
          <p:cNvSpPr/>
          <p:nvPr/>
        </p:nvSpPr>
        <p:spPr>
          <a:xfrm>
            <a:off x="731520" y="3794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面向技术负责人  |  2026 年 3 月</a:t>
            </a:r>
            <a:endParaRPr lang="en-US" sz="12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7520" y="4434840"/>
            <a:ext cx="228600" cy="228600"/>
          </a:xfrm>
          <a:prstGeom prst="rect">
            <a:avLst/>
          </a:prstGeom>
        </p:spPr>
      </p:pic>
      <p:sp>
        <p:nvSpPr>
          <p:cNvPr id="14" name="Text 6">
            <a:hlinkClick r:id="rId9"/>
          </p:cNvPr>
          <p:cNvSpPr/>
          <p:nvPr/>
        </p:nvSpPr>
        <p:spPr>
          <a:xfrm>
            <a:off x="3291840" y="44348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github.com/nickhou1983/UI-test-Demo</a:t>
            </a:r>
            <a:endParaRPr lang="en-US" sz="1000" dirty="0"/>
          </a:p>
        </p:txBody>
      </p:sp>
      <p:sp>
        <p:nvSpPr>
          <p:cNvPr id="15" name="Shape 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议程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69848"/>
            <a:ext cx="310896" cy="310896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10698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07899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0332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被测系统概览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508760" y="12344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TravelVista 技术栈与产品规模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1508760"/>
            <a:ext cx="310896" cy="310896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640080" y="1508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51790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14721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三层测试金字塔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508760" y="16733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/ E2E / Visual Regression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1947672"/>
            <a:ext cx="310896" cy="310896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/>
          <p:cNvSpPr/>
          <p:nvPr/>
        </p:nvSpPr>
        <p:spPr>
          <a:xfrm>
            <a:off x="640080" y="1947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195681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19110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组件测试 (CT)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508760" y="21122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组件 · 27 断言 · 隔离挂载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40080" y="2386584"/>
            <a:ext cx="310896" cy="310896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4"/>
          <p:cNvSpPr/>
          <p:nvPr/>
        </p:nvSpPr>
        <p:spPr>
          <a:xfrm>
            <a:off x="640080" y="23865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39572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23500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端到端测试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508760" y="255117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specs · 36 cases · 用户旅程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40080" y="2825496"/>
            <a:ext cx="310896" cy="310896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18"/>
          <p:cNvSpPr/>
          <p:nvPr/>
        </p:nvSpPr>
        <p:spPr>
          <a:xfrm>
            <a:off x="640080" y="2825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283464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08760" y="2788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视觉回归测试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508760" y="2990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页面截图 · 像素比对 · VLM 语义复核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40080" y="3264408"/>
            <a:ext cx="310896" cy="310896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2"/>
          <p:cNvSpPr/>
          <p:nvPr/>
        </p:nvSpPr>
        <p:spPr>
          <a:xfrm>
            <a:off x="640080" y="32644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" y="3273552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508760" y="32278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智能路由体系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1508760" y="34290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Agent 路由 · Discovery 契约 · Report-Only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640080" y="3703320"/>
            <a:ext cx="310896" cy="310896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6"/>
          <p:cNvSpPr/>
          <p:nvPr/>
        </p:nvSpPr>
        <p:spPr>
          <a:xfrm>
            <a:off x="640080" y="3703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7280" y="3712464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508760" y="36667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语义审查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1508760" y="3867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Vision · 4 级严重度 · 成本控制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640080" y="4142232"/>
            <a:ext cx="310896" cy="310896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0"/>
          <p:cNvSpPr/>
          <p:nvPr/>
        </p:nvSpPr>
        <p:spPr>
          <a:xfrm>
            <a:off x="640080" y="41422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0" y="4151376"/>
            <a:ext cx="274320" cy="27432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508760" y="41056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与 Azure 云端</a:t>
            </a:r>
            <a:endParaRPr lang="en-US" sz="1300" dirty="0"/>
          </a:p>
        </p:txBody>
      </p:sp>
      <p:sp>
        <p:nvSpPr>
          <p:cNvPr id="42" name="Text 32"/>
          <p:cNvSpPr/>
          <p:nvPr/>
        </p:nvSpPr>
        <p:spPr>
          <a:xfrm>
            <a:off x="1508760" y="430682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+ Azure Playwright Workspace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640080" y="4581144"/>
            <a:ext cx="310896" cy="310896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34"/>
          <p:cNvSpPr/>
          <p:nvPr/>
        </p:nvSpPr>
        <p:spPr>
          <a:xfrm>
            <a:off x="640080" y="45811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7280" y="4590288"/>
            <a:ext cx="274320" cy="27432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1508760" y="45445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覆盖矩阵与规划</a:t>
            </a:r>
            <a:endParaRPr lang="en-US" sz="1300" dirty="0"/>
          </a:p>
        </p:txBody>
      </p:sp>
      <p:sp>
        <p:nvSpPr>
          <p:cNvPr id="47" name="Text 36"/>
          <p:cNvSpPr/>
          <p:nvPr/>
        </p:nvSpPr>
        <p:spPr>
          <a:xfrm>
            <a:off x="1508760" y="47457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测试覆盖全景 · 下一步路线图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5240" y="502920"/>
            <a:ext cx="411480" cy="411480"/>
          </a:xfrm>
          <a:prstGeom prst="rect">
            <a:avLst/>
          </a:prstGeom>
        </p:spPr>
      </p:pic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35240" y="1143000"/>
            <a:ext cx="411480" cy="411480"/>
          </a:xfrm>
          <a:prstGeom prst="rect">
            <a:avLst/>
          </a:prstGeom>
        </p:spPr>
      </p:pic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35240" y="1783080"/>
            <a:ext cx="411480" cy="411480"/>
          </a:xfrm>
          <a:prstGeom prst="rect">
            <a:avLst/>
          </a:prstGeom>
        </p:spPr>
      </p:pic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35240" y="2423160"/>
            <a:ext cx="411480" cy="411480"/>
          </a:xfrm>
          <a:prstGeom prst="rect">
            <a:avLst/>
          </a:prstGeom>
        </p:spPr>
      </p:pic>
      <p:pic>
        <p:nvPicPr>
          <p:cNvPr id="53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35240" y="3063240"/>
            <a:ext cx="411480" cy="411480"/>
          </a:xfrm>
          <a:prstGeom prst="rect">
            <a:avLst/>
          </a:prstGeom>
        </p:spPr>
      </p:pic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35240" y="3703320"/>
            <a:ext cx="411480" cy="411480"/>
          </a:xfrm>
          <a:prstGeom prst="rect">
            <a:avLst/>
          </a:prstGeom>
        </p:spPr>
      </p:pic>
      <p:pic>
        <p:nvPicPr>
          <p:cNvPr id="55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35240" y="4343400"/>
            <a:ext cx="411480" cy="411480"/>
          </a:xfrm>
          <a:prstGeom prst="rect">
            <a:avLst/>
          </a:prstGeom>
        </p:spPr>
      </p:pic>
      <p:sp>
        <p:nvSpPr>
          <p:cNvPr id="56" name="Text 3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被测系统概览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840480" cy="530352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4864" cy="5303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8755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9418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1704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框架 · Hooks + Router 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572768"/>
            <a:ext cx="3840480" cy="530352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548640" y="1572768"/>
            <a:ext cx="54864" cy="5303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64592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16002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5.9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88720" y="18288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严格模式类型安全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2231136"/>
            <a:ext cx="3840480" cy="530352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1"/>
          <p:cNvSpPr/>
          <p:nvPr/>
        </p:nvSpPr>
        <p:spPr>
          <a:xfrm>
            <a:off x="548640" y="2231136"/>
            <a:ext cx="54864" cy="5303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30428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22585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188720" y="24871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HMR 开发服务器 + 构建工具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2889504"/>
            <a:ext cx="3840480" cy="530352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5"/>
          <p:cNvSpPr/>
          <p:nvPr/>
        </p:nvSpPr>
        <p:spPr>
          <a:xfrm>
            <a:off x="548640" y="2889504"/>
            <a:ext cx="54864" cy="5303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2962656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291693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188720" y="31455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· PostCSS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3547872"/>
            <a:ext cx="3840480" cy="530352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19"/>
          <p:cNvSpPr/>
          <p:nvPr/>
        </p:nvSpPr>
        <p:spPr>
          <a:xfrm>
            <a:off x="548640" y="3547872"/>
            <a:ext cx="54864" cy="5303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621024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88720" y="35753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i18next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188720" y="38039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中/英运行时切换 · 200+ 翻译键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754880" y="914400"/>
            <a:ext cx="3931920" cy="352044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3"/>
          <p:cNvSpPr/>
          <p:nvPr/>
        </p:nvSpPr>
        <p:spPr>
          <a:xfrm>
            <a:off x="498348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产品规模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5029200" y="1417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32" name="Text 25"/>
          <p:cNvSpPr/>
          <p:nvPr/>
        </p:nvSpPr>
        <p:spPr>
          <a:xfrm>
            <a:off x="5852160" y="14173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核心页面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852160" y="165506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Destinations / Detail / About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5029200" y="1892808"/>
            <a:ext cx="3383280" cy="0"/>
          </a:xfrm>
          <a:prstGeom prst="line">
            <a:avLst/>
          </a:prstGeom>
          <a:noFill/>
          <a:ln w="6350">
            <a:solidFill>
              <a:srgbClr val="0F2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8"/>
          <p:cNvSpPr/>
          <p:nvPr/>
        </p:nvSpPr>
        <p:spPr>
          <a:xfrm>
            <a:off x="5029200" y="194767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3000" dirty="0"/>
          </a:p>
        </p:txBody>
      </p:sp>
      <p:sp>
        <p:nvSpPr>
          <p:cNvPr id="36" name="Text 29"/>
          <p:cNvSpPr/>
          <p:nvPr/>
        </p:nvSpPr>
        <p:spPr>
          <a:xfrm>
            <a:off x="5852160" y="19476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5852160" y="21854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· Footer · FilterBar · Carousel …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5029200" y="2423160"/>
            <a:ext cx="3383280" cy="0"/>
          </a:xfrm>
          <a:prstGeom prst="line">
            <a:avLst/>
          </a:prstGeom>
          <a:noFill/>
          <a:ln w="6350">
            <a:solidFill>
              <a:srgbClr val="0F2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2"/>
          <p:cNvSpPr/>
          <p:nvPr/>
        </p:nvSpPr>
        <p:spPr>
          <a:xfrm>
            <a:off x="5029200" y="247802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3000" dirty="0"/>
          </a:p>
        </p:txBody>
      </p:sp>
      <p:sp>
        <p:nvSpPr>
          <p:cNvPr id="40" name="Text 33"/>
          <p:cNvSpPr/>
          <p:nvPr/>
        </p:nvSpPr>
        <p:spPr>
          <a:xfrm>
            <a:off x="5852160" y="24780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目的地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5852160" y="27157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地区 × 4 类型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5029200" y="2953512"/>
            <a:ext cx="3383280" cy="0"/>
          </a:xfrm>
          <a:prstGeom prst="line">
            <a:avLst/>
          </a:prstGeom>
          <a:noFill/>
          <a:ln w="6350">
            <a:solidFill>
              <a:srgbClr val="0F2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36"/>
          <p:cNvSpPr/>
          <p:nvPr/>
        </p:nvSpPr>
        <p:spPr>
          <a:xfrm>
            <a:off x="5029200" y="300837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44" name="Text 37"/>
          <p:cNvSpPr/>
          <p:nvPr/>
        </p:nvSpPr>
        <p:spPr>
          <a:xfrm>
            <a:off x="5852160" y="30083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语言</a:t>
            </a:r>
            <a:endParaRPr lang="en-US" sz="1300" dirty="0"/>
          </a:p>
        </p:txBody>
      </p:sp>
      <p:sp>
        <p:nvSpPr>
          <p:cNvPr id="45" name="Text 38"/>
          <p:cNvSpPr/>
          <p:nvPr/>
        </p:nvSpPr>
        <p:spPr>
          <a:xfrm>
            <a:off x="5852160" y="32461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 (默认) · English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5029200" y="3483864"/>
            <a:ext cx="3383280" cy="0"/>
          </a:xfrm>
          <a:prstGeom prst="line">
            <a:avLst/>
          </a:prstGeom>
          <a:noFill/>
          <a:ln w="6350">
            <a:solidFill>
              <a:srgbClr val="0F2A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0"/>
          <p:cNvSpPr/>
          <p:nvPr/>
        </p:nvSpPr>
        <p:spPr>
          <a:xfrm>
            <a:off x="5029200" y="353872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3000" dirty="0"/>
          </a:p>
        </p:txBody>
      </p:sp>
      <p:sp>
        <p:nvSpPr>
          <p:cNvPr id="48" name="Text 41"/>
          <p:cNvSpPr/>
          <p:nvPr/>
        </p:nvSpPr>
        <p:spPr>
          <a:xfrm>
            <a:off x="5852160" y="35387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 Spec 文件</a:t>
            </a:r>
            <a:endParaRPr lang="en-US" sz="1300" dirty="0"/>
          </a:p>
        </p:txBody>
      </p:sp>
      <p:sp>
        <p:nvSpPr>
          <p:cNvPr id="49" name="Text 42"/>
          <p:cNvSpPr/>
          <p:nvPr/>
        </p:nvSpPr>
        <p:spPr>
          <a:xfrm>
            <a:off x="5852160" y="37764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CT + 6 E2E + 1 Visual + 1 CT-Visual</a:t>
            </a:r>
            <a:endParaRPr lang="en-US" sz="9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4114800"/>
            <a:ext cx="182880" cy="182880"/>
          </a:xfrm>
          <a:prstGeom prst="rect">
            <a:avLst/>
          </a:prstGeom>
        </p:spPr>
      </p:pic>
      <p:sp>
        <p:nvSpPr>
          <p:cNvPr id="51" name="Text 43">
            <a:hlinkClick r:id="rId9"/>
          </p:cNvPr>
          <p:cNvSpPr/>
          <p:nvPr/>
        </p:nvSpPr>
        <p:spPr>
          <a:xfrm>
            <a:off x="5303520" y="41148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nickhou1983.github.io/UI-test-Demo</a:t>
            </a:r>
            <a:endParaRPr lang="en-US" sz="1000" dirty="0"/>
          </a:p>
        </p:txBody>
      </p:sp>
      <p:sp>
        <p:nvSpPr>
          <p:cNvPr id="52" name="Text 4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三层测试金字塔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377440" y="1005840"/>
            <a:ext cx="2560320" cy="777240"/>
          </a:xfrm>
          <a:prstGeom prst="rect">
            <a:avLst/>
          </a:prstGeom>
          <a:solidFill>
            <a:srgbClr val="ECF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2377440" y="1005840"/>
            <a:ext cx="54864" cy="7772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0972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0515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Visual Regression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 spec · 8 截图 · 1% 像素阈值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463040" y="1920240"/>
            <a:ext cx="4389120" cy="777240"/>
          </a:xfrm>
          <a:prstGeom prst="rect">
            <a:avLst/>
          </a:prstGeom>
          <a:solidFill>
            <a:srgbClr val="DBEAF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1463040" y="192024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20116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57400" y="19659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E2E 端到端测试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6 specs · 36 cases · 页面导航 + 用户旅程 + i18n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2834640"/>
            <a:ext cx="6217920" cy="777240"/>
          </a:xfrm>
          <a:prstGeom prst="rect">
            <a:avLst/>
          </a:prstGeom>
          <a:solidFill>
            <a:srgbClr val="CCFB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548640" y="2834640"/>
            <a:ext cx="54864" cy="7772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9260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288036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Component Testing (CT)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6 specs · 27 断言 · mount() 隔离挂载 · TestWrapper (Router + i18n)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 rot="16200000">
            <a:off x="9144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覆盖度↑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 rot="16200000">
            <a:off x="9144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集成度↑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132320" y="1005840"/>
            <a:ext cx="1645920" cy="260604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118872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78040" y="17373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178040" y="196596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统一框架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7178040" y="21488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贯穿三层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178040" y="24688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E2E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Visual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19"/>
          <p:cNvSpPr/>
          <p:nvPr/>
        </p:nvSpPr>
        <p:spPr>
          <a:xfrm>
            <a:off x="77724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配置继承关系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77240" y="41148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playwright.config.ts  →  playwright-ct.config.ts  →  playwright.service.config.ts (Azure)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77240" y="431596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+ visual 项目                  CT 独立配置                        云端执行叠加层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组件测试 (CT)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4114800" cy="530352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4864" cy="5303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77240" y="950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Navbar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88920" y="969264"/>
            <a:ext cx="274320" cy="1828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788920" y="95097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188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· 3 导航 · 语言切换 · 移动汉堡菜单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4114800" cy="530352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48640" y="1554480"/>
            <a:ext cx="54864" cy="5303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77240" y="15910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SearchBar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88920" y="1609344"/>
            <a:ext cx="274320" cy="1828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2788920" y="159105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1828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· 值绑定 · onChange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194560"/>
            <a:ext cx="4114800" cy="530352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48640" y="2194560"/>
            <a:ext cx="54864" cy="5303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77240" y="2231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FilterBar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88920" y="2249424"/>
            <a:ext cx="274320" cy="1828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2788920" y="223113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2468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 + 2 下拉 · 6 地区 / 4 类型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834640"/>
            <a:ext cx="4114800" cy="530352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48640" y="2834640"/>
            <a:ext cx="54864" cy="5303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77240" y="28712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Carousel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88920" y="2889504"/>
            <a:ext cx="274320" cy="1828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2788920" y="287121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3108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导航圆点 · 点击切换 · 自动播放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474720"/>
            <a:ext cx="4114800" cy="530352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3474720"/>
            <a:ext cx="54864" cy="5303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77724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DestinationCard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88920" y="3529584"/>
            <a:ext cx="274320" cy="1828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2788920" y="351129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" y="3749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名称 · 类型徽章 · 评分星级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4114800"/>
            <a:ext cx="4114800" cy="530352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48640" y="4114800"/>
            <a:ext cx="54864" cy="5303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77240" y="4151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788920" y="4169664"/>
            <a:ext cx="274320" cy="1828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2788920" y="4151376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" y="4389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导航链接 · 社交区 · 版权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37760" y="914400"/>
            <a:ext cx="3794760" cy="384048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5166360" y="1005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核心机制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166360" y="146304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5166360" y="1463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577840" y="1417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隔离挂载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577840" y="163677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mount() API 将单组件挂载到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 DOM，不依赖完整应用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166360" y="2267712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5166360" y="22677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577840" y="22219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TestWrapper 上下文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577840" y="24414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MemoryRouter + I18nextProvider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为每个 CT 提供路由与 i18n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166360" y="3072384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5166360" y="30723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577840" y="30266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 Vite 构建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577840" y="3246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使用独立 Vite 服务器加载组件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PostCSS / Tailwind 样式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166360" y="3877056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5166360" y="38770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577840" y="38313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交互验证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577840" y="40507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点击、填充、选择等用户操作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expect() 断言可见性和回调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48640" y="4572000"/>
            <a:ext cx="8092440" cy="365760"/>
          </a:xfrm>
          <a:prstGeom prst="rect">
            <a:avLst/>
          </a:prstGeom>
          <a:solidFill>
            <a:srgbClr val="028090">
              <a:alpha val="8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73152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个组件  ·  27 个断言  ·  npm run test:ct  ·  playwright-ct.config.ts  ·  Desktop Chrome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E2E 端到端测试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217627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文件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覆盖范围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home.spec.ts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Hero + 搜索 · 热门目的地 · 主题 · 轮播 · 查看全部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destinations.spec.ts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12 卡片 · 关键词/地区/类型筛选 · URL 参数 · 卡片导航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destination-detail.spec.ts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面包屑 · 画廊 · 景点 · 侧边栏 · 推荐 · 404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about.spec.ts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标题 · 使命 · 3 价值卡 · 4 团队成员 · 邮箱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navigation.spec.ts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Navbar 跨页 · Logo 首页 · 中英切换 · 语言持久化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user-journey.spec.ts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完整多页旅程 + 主题分类导航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29000"/>
            <a:ext cx="1874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548640" y="342900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6616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35387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真实浏览器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85800" y="39319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 自动启动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 DOM 环境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606040" y="3429000"/>
            <a:ext cx="1874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7"/>
          <p:cNvSpPr/>
          <p:nvPr/>
        </p:nvSpPr>
        <p:spPr>
          <a:xfrm>
            <a:off x="2606040" y="342900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356616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154680" y="35387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WebServer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2743200" y="39319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自动启动 dev server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663440" y="3429000"/>
            <a:ext cx="1874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1"/>
          <p:cNvSpPr/>
          <p:nvPr/>
        </p:nvSpPr>
        <p:spPr>
          <a:xfrm>
            <a:off x="4663440" y="342900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56616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12080" y="35387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验证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800600" y="39319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中英切换 + 跨页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语言持久化测试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6720840" y="3429000"/>
            <a:ext cx="1874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5"/>
          <p:cNvSpPr/>
          <p:nvPr/>
        </p:nvSpPr>
        <p:spPr>
          <a:xfrm>
            <a:off x="6720840" y="342900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3566160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69480" y="35387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捕获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6858000" y="39319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首次重试自动录制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 + 网络 + DOM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19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specs  ·  36 test cases  ·  npm run test:e2e  ·  playwright.config.ts → project: e2e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视觉回归 + VLM 语义审查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页面截图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16736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HomePage（Hero + 热门 + 主题 + 轮播）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64208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627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DestinationsPage（12 卡片 + 筛选栏）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19751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DestinationDetail — Bali（完整详情）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59152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4400" y="23225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AboutPage（使命 + 价值 + 团队）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06624"/>
            <a:ext cx="182880" cy="182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4400" y="2670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FavoritesPage（注入 localStorage）</a:t>
            </a:r>
            <a:endParaRPr lang="en-US" sz="10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54096"/>
            <a:ext cx="182880" cy="1828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1440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TripPlannerPage（注入行程数据）</a:t>
            </a:r>
            <a:endParaRPr lang="en-US" sz="10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01568"/>
            <a:ext cx="182880" cy="18288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14400" y="3364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TripEditPage（编辑表单状态）</a:t>
            </a:r>
            <a:endParaRPr lang="en-US" sz="10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49040"/>
            <a:ext cx="182880" cy="18288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914400" y="37124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NotFoundPage（404）</a:t>
            </a:r>
            <a:endParaRPr lang="en-US" sz="1000" dirty="0"/>
          </a:p>
        </p:txBody>
      </p:sp>
      <p:sp>
        <p:nvSpPr>
          <p:cNvPr id="21" name="Shape 11"/>
          <p:cNvSpPr/>
          <p:nvPr/>
        </p:nvSpPr>
        <p:spPr>
          <a:xfrm>
            <a:off x="548640" y="4114800"/>
            <a:ext cx="3840480" cy="77724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2"/>
          <p:cNvSpPr/>
          <p:nvPr/>
        </p:nvSpPr>
        <p:spPr>
          <a:xfrm>
            <a:off x="731520" y="4160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maxDiffPixelRatio: 0.01 · animations: disabled · fullPage: true · networkidle</a:t>
            </a:r>
            <a:endParaRPr lang="en-US" sz="900" dirty="0"/>
          </a:p>
        </p:txBody>
      </p:sp>
      <p:sp>
        <p:nvSpPr>
          <p:cNvPr id="23" name="Text 13"/>
          <p:cNvSpPr/>
          <p:nvPr/>
        </p:nvSpPr>
        <p:spPr>
          <a:xfrm>
            <a:off x="475488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Hybrid 策略</a:t>
            </a:r>
            <a:endParaRPr lang="en-US" sz="1400" dirty="0"/>
          </a:p>
        </p:txBody>
      </p:sp>
      <p:sp>
        <p:nvSpPr>
          <p:cNvPr id="24" name="Shape 14"/>
          <p:cNvSpPr/>
          <p:nvPr/>
        </p:nvSpPr>
        <p:spPr>
          <a:xfrm>
            <a:off x="4846320" y="1362456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15"/>
          <p:cNvSpPr/>
          <p:nvPr/>
        </p:nvSpPr>
        <p:spPr>
          <a:xfrm>
            <a:off x="4846320" y="13624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Shape 16"/>
          <p:cNvSpPr/>
          <p:nvPr/>
        </p:nvSpPr>
        <p:spPr>
          <a:xfrm>
            <a:off x="4992624" y="1655064"/>
            <a:ext cx="0" cy="237744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17"/>
          <p:cNvSpPr/>
          <p:nvPr/>
        </p:nvSpPr>
        <p:spPr>
          <a:xfrm>
            <a:off x="5257800" y="13258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像素比对</a:t>
            </a:r>
            <a:endParaRPr lang="en-US" sz="1100" dirty="0"/>
          </a:p>
        </p:txBody>
      </p:sp>
      <p:sp>
        <p:nvSpPr>
          <p:cNvPr id="28" name="Text 18"/>
          <p:cNvSpPr/>
          <p:nvPr/>
        </p:nvSpPr>
        <p:spPr>
          <a:xfrm>
            <a:off x="5257800" y="15087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原生截图与基线逐像素比对</a:t>
            </a:r>
            <a:endParaRPr lang="en-US" sz="900" dirty="0"/>
          </a:p>
        </p:txBody>
      </p:sp>
      <p:sp>
        <p:nvSpPr>
          <p:cNvPr id="29" name="Shape 19"/>
          <p:cNvSpPr/>
          <p:nvPr/>
        </p:nvSpPr>
        <p:spPr>
          <a:xfrm>
            <a:off x="4846320" y="1929384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0"/>
          <p:cNvSpPr/>
          <p:nvPr/>
        </p:nvSpPr>
        <p:spPr>
          <a:xfrm>
            <a:off x="4846320" y="19293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>
            <a:off x="4992624" y="2221992"/>
            <a:ext cx="0" cy="237744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2"/>
          <p:cNvSpPr/>
          <p:nvPr/>
        </p:nvSpPr>
        <p:spPr>
          <a:xfrm>
            <a:off x="5257800" y="18928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触发条件</a:t>
            </a:r>
            <a:endParaRPr lang="en-US" sz="1100" dirty="0"/>
          </a:p>
        </p:txBody>
      </p:sp>
      <p:sp>
        <p:nvSpPr>
          <p:cNvPr id="33" name="Text 23"/>
          <p:cNvSpPr/>
          <p:nvPr/>
        </p:nvSpPr>
        <p:spPr>
          <a:xfrm>
            <a:off x="5257800" y="20756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像素 FAIL + VLM_REVIEW=true + 有凭证</a:t>
            </a:r>
            <a:endParaRPr lang="en-US" sz="900" dirty="0"/>
          </a:p>
        </p:txBody>
      </p:sp>
      <p:sp>
        <p:nvSpPr>
          <p:cNvPr id="34" name="Shape 24"/>
          <p:cNvSpPr/>
          <p:nvPr/>
        </p:nvSpPr>
        <p:spPr>
          <a:xfrm>
            <a:off x="4846320" y="2496312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5"/>
          <p:cNvSpPr/>
          <p:nvPr/>
        </p:nvSpPr>
        <p:spPr>
          <a:xfrm>
            <a:off x="4846320" y="24963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4992624" y="2788920"/>
            <a:ext cx="0" cy="237744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27"/>
          <p:cNvSpPr/>
          <p:nvPr/>
        </p:nvSpPr>
        <p:spPr>
          <a:xfrm>
            <a:off x="5257800" y="245973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语义审查</a:t>
            </a:r>
            <a:endParaRPr lang="en-US" sz="1100" dirty="0"/>
          </a:p>
        </p:txBody>
      </p:sp>
      <p:sp>
        <p:nvSpPr>
          <p:cNvPr id="38" name="Text 28"/>
          <p:cNvSpPr/>
          <p:nvPr/>
        </p:nvSpPr>
        <p:spPr>
          <a:xfrm>
            <a:off x="5257800" y="264261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编码截图 → Azure OpenAI Vision API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4846320" y="306324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0"/>
          <p:cNvSpPr/>
          <p:nvPr/>
        </p:nvSpPr>
        <p:spPr>
          <a:xfrm>
            <a:off x="4846320" y="3063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4992624" y="3355848"/>
            <a:ext cx="0" cy="237744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2"/>
          <p:cNvSpPr/>
          <p:nvPr/>
        </p:nvSpPr>
        <p:spPr>
          <a:xfrm>
            <a:off x="5257800" y="302666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严重度分类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5257800" y="32095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/ cosmetic / minor / breaking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4846320" y="3630168"/>
            <a:ext cx="292608" cy="29260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35"/>
          <p:cNvSpPr/>
          <p:nvPr/>
        </p:nvSpPr>
        <p:spPr>
          <a:xfrm>
            <a:off x="4846320" y="36301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Text 36"/>
          <p:cNvSpPr/>
          <p:nvPr/>
        </p:nvSpPr>
        <p:spPr>
          <a:xfrm>
            <a:off x="5257800" y="359359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智能决策</a:t>
            </a:r>
            <a:endParaRPr lang="en-US" sz="1100" dirty="0"/>
          </a:p>
        </p:txBody>
      </p:sp>
      <p:sp>
        <p:nvSpPr>
          <p:cNvPr id="47" name="Text 37"/>
          <p:cNvSpPr/>
          <p:nvPr/>
        </p:nvSpPr>
        <p:spPr>
          <a:xfrm>
            <a:off x="5257800" y="377647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→ WARN（通过）  breaking → FAIL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4754880" y="4114800"/>
            <a:ext cx="3931920" cy="77724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9" name="Text 39"/>
          <p:cNvSpPr/>
          <p:nvPr/>
        </p:nvSpPr>
        <p:spPr>
          <a:xfrm>
            <a:off x="4937760" y="4160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成本控制  </a:t>
            </a:r>
            <a:r>
              <a:rPr lang="en-US" sz="900" dirty="0">
                <a:solidFill>
                  <a:srgbClr val="CBD5E1"/>
                </a:solidFill>
              </a:rPr>
              <a:t>VLM_MAX_CALLS=10/次  ·  置信度阈值 0.7  ·  默认关闭  ·  输出 vlm-review-report.json</a:t>
            </a:r>
            <a:endParaRPr lang="en-US" sz="1000" dirty="0"/>
          </a:p>
        </p:txBody>
      </p:sp>
      <p:sp>
        <p:nvSpPr>
          <p:cNvPr id="50" name="Text 4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智能路由体系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914400"/>
            <a:ext cx="2743200" cy="64008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0058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49040" y="9784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ui-test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749040" y="12344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路由分类器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017520" y="1828800"/>
            <a:ext cx="3108960" cy="59436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3017520" y="1828800"/>
            <a:ext cx="54864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3200400" y="1874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ui-test-discovery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00400" y="2103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共享分析：路由清单 · 组件清单 · 定位策略 · 旅程笔记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572000" y="1554480"/>
            <a:ext cx="0" cy="27432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548640" y="2743200"/>
            <a:ext cx="1874520" cy="960120"/>
          </a:xfrm>
          <a:prstGeom prst="rect">
            <a:avLst/>
          </a:prstGeom>
          <a:solidFill>
            <a:srgbClr val="CCFB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548640" y="2743200"/>
            <a:ext cx="54864" cy="9601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685800" y="28163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ui-test-component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5800" y="3063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组件测试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mount() + 断言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485900" y="2423160"/>
            <a:ext cx="0" cy="32004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2606040" y="2743200"/>
            <a:ext cx="1874520" cy="960120"/>
          </a:xfrm>
          <a:prstGeom prst="rect">
            <a:avLst/>
          </a:prstGeom>
          <a:solidFill>
            <a:srgbClr val="DBEAF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2606040" y="274320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2743200" y="28163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ui-test-e2e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743200" y="3063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端到端测试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 + 用户旅程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543300" y="2423160"/>
            <a:ext cx="0" cy="32004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/>
          <p:cNvSpPr/>
          <p:nvPr/>
        </p:nvSpPr>
        <p:spPr>
          <a:xfrm>
            <a:off x="4663440" y="2743200"/>
            <a:ext cx="1874520" cy="960120"/>
          </a:xfrm>
          <a:prstGeom prst="rect">
            <a:avLst/>
          </a:prstGeom>
          <a:solidFill>
            <a:srgbClr val="ECF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1"/>
          <p:cNvSpPr/>
          <p:nvPr/>
        </p:nvSpPr>
        <p:spPr>
          <a:xfrm>
            <a:off x="4663440" y="2743200"/>
            <a:ext cx="54864" cy="9601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4800600" y="28163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ui-test-visual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00600" y="3063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视觉回归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 + 像素比对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600700" y="2423160"/>
            <a:ext cx="0" cy="320040"/>
          </a:xfrm>
          <a:prstGeom prst="line">
            <a:avLst/>
          </a:prstGeom>
          <a:noFill/>
          <a:ln w="1524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5"/>
          <p:cNvSpPr/>
          <p:nvPr/>
        </p:nvSpPr>
        <p:spPr>
          <a:xfrm>
            <a:off x="6720840" y="2743200"/>
            <a:ext cx="1874520" cy="960120"/>
          </a:xfrm>
          <a:prstGeom prst="rect">
            <a:avLst/>
          </a:prstGeom>
          <a:solidFill>
            <a:srgbClr val="F3E8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6"/>
          <p:cNvSpPr/>
          <p:nvPr/>
        </p:nvSpPr>
        <p:spPr>
          <a:xfrm>
            <a:off x="6720840" y="2743200"/>
            <a:ext cx="54864" cy="9601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6858000" y="28163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ui-test-governance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858000" y="3063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治理层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· CI · VLM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658100" y="2423160"/>
            <a:ext cx="0" cy="320040"/>
          </a:xfrm>
          <a:prstGeom prst="line">
            <a:avLst/>
          </a:prstGeom>
          <a:noFill/>
          <a:ln w="1524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0"/>
          <p:cNvSpPr/>
          <p:nvPr/>
        </p:nvSpPr>
        <p:spPr>
          <a:xfrm>
            <a:off x="548640" y="3931920"/>
            <a:ext cx="2606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041648"/>
            <a:ext cx="256032" cy="25603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987552" y="40050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契约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658368" y="43159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共享发现输出，下游 agent 复用不重复分析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3383280" y="3931920"/>
            <a:ext cx="2606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4041648"/>
            <a:ext cx="256032" cy="25603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3822192" y="40050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Report-Only 策略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3493008" y="43159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只报告不自动修复，保持透明与人为决策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6217920" y="3931920"/>
            <a:ext cx="26060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4041648"/>
            <a:ext cx="256032" cy="256032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6656832" y="40050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日常 / 治理分离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6327648" y="43159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日常测试 4 agent vs 治理层 (governance)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与 Azure 云端执行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流水线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86384" y="1664208"/>
            <a:ext cx="0" cy="256032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51560" y="13258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代码推送 / PR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5270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main · PR → main · 手动 dispatch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" y="2258568"/>
            <a:ext cx="0" cy="256032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51560" y="19202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环境准备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12140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22 · npm ci · Playwright Chromium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56032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560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6384" y="2852928"/>
            <a:ext cx="0" cy="256032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051560" y="25146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云端测试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7157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PT · playwright.service.config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15468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40080" y="3154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6384" y="3447288"/>
            <a:ext cx="0" cy="256032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051560" y="31089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视觉回归云端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3101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PT · 像素比对 · 失败即阻断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374904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40080" y="3749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" y="3703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产物归档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90448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报告 + trace + 截图（14 天）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914400"/>
            <a:ext cx="3977640" cy="3337560"/>
          </a:xfrm>
          <a:prstGeom prst="rect">
            <a:avLst/>
          </a:prstGeom>
          <a:solidFill>
            <a:srgbClr val="0F2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983480" y="1005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Playwright Workspace</a:t>
            </a:r>
            <a:endParaRPr lang="en-US" sz="14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44752"/>
            <a:ext cx="182880" cy="18288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303520" y="13990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303520" y="15636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Chromium（云端托管）</a:t>
            </a:r>
            <a:endParaRPr lang="en-US" sz="100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828800"/>
            <a:ext cx="182880" cy="18288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303520" y="17830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并行度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5303520" y="19476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workers · 最多 50 并行</a:t>
            </a:r>
            <a:endParaRPr lang="en-US" sz="1000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12848"/>
            <a:ext cx="182880" cy="18288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303520" y="21671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认证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5303520" y="2331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DefaultAzureCredential (Entra ID)</a:t>
            </a:r>
            <a:endParaRPr lang="en-US" sz="1000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596896"/>
            <a:ext cx="182880" cy="18288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5303520" y="25511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5303520" y="27157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exposeNetwork: "&lt;loopback&gt;"</a:t>
            </a:r>
            <a:endParaRPr lang="en-US" sz="1000" dirty="0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980944"/>
            <a:ext cx="182880" cy="18288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303520" y="29352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重试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5303520" y="309981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环境 2 次自动重试</a:t>
            </a:r>
            <a:endParaRPr lang="en-US" sz="10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364992"/>
            <a:ext cx="182880" cy="18288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303520" y="33192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5303520" y="3483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Azure Portal 仪表板</a:t>
            </a:r>
            <a:endParaRPr lang="en-US" sz="100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749040"/>
            <a:ext cx="182880" cy="18288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5303520" y="3703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900" dirty="0"/>
          </a:p>
        </p:txBody>
      </p:sp>
      <p:sp>
        <p:nvSpPr>
          <p:cNvPr id="51" name="Text 42"/>
          <p:cNvSpPr/>
          <p:nvPr/>
        </p:nvSpPr>
        <p:spPr>
          <a:xfrm>
            <a:off x="5303520" y="38679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首次重试自动捕获 · Portal 在线查看</a:t>
            </a:r>
            <a:endParaRPr lang="en-US" sz="1000" dirty="0"/>
          </a:p>
        </p:txBody>
      </p:sp>
      <p:sp>
        <p:nvSpPr>
          <p:cNvPr id="52" name="Text 43"/>
          <p:cNvSpPr/>
          <p:nvPr/>
        </p:nvSpPr>
        <p:spPr>
          <a:xfrm>
            <a:off x="548640" y="4343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vs Azure 关键差异</a:t>
            </a:r>
            <a:endParaRPr lang="en-US" sz="1100" dirty="0"/>
          </a:p>
        </p:txBody>
      </p:sp>
      <p:sp>
        <p:nvSpPr>
          <p:cNvPr id="53" name="Text 44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 OS 不同(字体渲染) → 基线截图不互通 · 需选定单一环境作为基线来源</a:t>
            </a:r>
            <a:endParaRPr lang="en-US" sz="900" dirty="0"/>
          </a:p>
        </p:txBody>
      </p:sp>
      <p:sp>
        <p:nvSpPr>
          <p:cNvPr id="54" name="Text 45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覆盖矩阵与规划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4663440" cy="27432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测试对象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Navbar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SearchBar / FilterBar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Carousel / Card / Footer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HomePage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DestinationsPage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DetailPage (Bali)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AboutPage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Favorites / Trips / 404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i18n 切换 / 用户旅程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868680"/>
            <a:ext cx="3108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5760720" y="88696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92240" y="9144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文件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92240" y="11430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CT + 6 E2E + 1 Visual + 1 CT-Visual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669280" y="1527048"/>
            <a:ext cx="3108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760720" y="154533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63+</a:t>
            </a:r>
            <a:endParaRPr lang="en-US" sz="2800" dirty="0"/>
          </a:p>
        </p:txBody>
      </p:sp>
      <p:sp>
        <p:nvSpPr>
          <p:cNvPr id="4" name="Text 8"/>
          <p:cNvSpPr/>
          <p:nvPr/>
        </p:nvSpPr>
        <p:spPr>
          <a:xfrm>
            <a:off x="6492240" y="15727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断言 / Cases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2240" y="18013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CT + 36 E2E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69280" y="2185416"/>
            <a:ext cx="3108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5760720" y="220370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492240" y="22311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视觉截图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92240" y="24597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页面 + 4 特殊状态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669280" y="2843784"/>
            <a:ext cx="3108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5760720" y="286207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492240" y="28895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测试层级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92240" y="31181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· E2E · Visual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864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下一步规划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4023360"/>
            <a:ext cx="19659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/>
          <p:cNvSpPr/>
          <p:nvPr/>
        </p:nvSpPr>
        <p:spPr>
          <a:xfrm>
            <a:off x="548640" y="4023360"/>
            <a:ext cx="54864" cy="8686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228600" cy="2286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60120" y="407822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响应式视口覆盖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58368" y="43708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375 · Tablet 768 · Desktop 1280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2697480" y="4023360"/>
            <a:ext cx="19659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4"/>
          <p:cNvSpPr/>
          <p:nvPr/>
        </p:nvSpPr>
        <p:spPr>
          <a:xfrm>
            <a:off x="2697480" y="4023360"/>
            <a:ext cx="54864" cy="8686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4114800"/>
            <a:ext cx="228600" cy="2286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108960" y="407822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双语截图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2807208" y="43708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 + 英文基线完整覆盖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4846320" y="4023360"/>
            <a:ext cx="19659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8"/>
          <p:cNvSpPr/>
          <p:nvPr/>
        </p:nvSpPr>
        <p:spPr>
          <a:xfrm>
            <a:off x="4846320" y="4023360"/>
            <a:ext cx="54864" cy="8686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4114800"/>
            <a:ext cx="228600" cy="2286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257800" y="407822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更多详情页数据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956048" y="43708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个目的地详情数据补全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6995160" y="4023360"/>
            <a:ext cx="19659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2"/>
          <p:cNvSpPr/>
          <p:nvPr/>
        </p:nvSpPr>
        <p:spPr>
          <a:xfrm>
            <a:off x="6995160" y="4023360"/>
            <a:ext cx="54864" cy="8686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4114800"/>
            <a:ext cx="228600" cy="22860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406640" y="407822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门禁 Gating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7104888" y="43708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视觉回归失败自动阻断合并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谢谢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2560320"/>
            <a:ext cx="27432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834640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834640" y="2816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统一框架，三层金字塔全覆盖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3154680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34640" y="31363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Agent 智能路由，自动化测试生成与治理分离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3474720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834640" y="3456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语义审查创新，AI 过滤视觉噪声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3794760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834640" y="37764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云端执行，CI/CD 全流程集成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仓库  </a:t>
            </a:r>
            <a:r>
              <a:rPr lang="en-US" sz="1100" b="1" dirty="0">
                <a:solidFill>
                  <a:srgbClr val="028090"/>
                </a:solidFill>
              </a:rPr>
              <a:t>github.com/nickhou1983/UI-test-Demo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572000"/>
            <a:ext cx="365760" cy="365760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4572000"/>
            <a:ext cx="365760" cy="365760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0" y="4572000"/>
            <a:ext cx="365760" cy="365760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572000"/>
            <a:ext cx="365760" cy="365760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7840" y="4572000"/>
            <a:ext cx="365760" cy="365760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572000"/>
            <a:ext cx="365760" cy="365760"/>
          </a:xfrm>
          <a:prstGeom prst="rect">
            <a:avLst/>
          </a:prstGeom>
        </p:spPr>
      </p:pic>
      <p:sp>
        <p:nvSpPr>
          <p:cNvPr id="21" name="Shape 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1097</Words>
  <Application>Microsoft Macintosh PowerPoint</Application>
  <PresentationFormat>全屏显示(16:9)</PresentationFormat>
  <Paragraphs>335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Trebuchet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 自动化测试架构概览</dc:title>
  <dc:subject>PptxGenJS Presentation</dc:subject>
  <dc:creator>TravelVista Team</dc:creator>
  <cp:lastModifiedBy>Qifeng Hou</cp:lastModifiedBy>
  <cp:revision>2</cp:revision>
  <dcterms:created xsi:type="dcterms:W3CDTF">2026-03-18T14:47:21Z</dcterms:created>
  <dcterms:modified xsi:type="dcterms:W3CDTF">2026-03-19T03:20:34Z</dcterms:modified>
</cp:coreProperties>
</file>