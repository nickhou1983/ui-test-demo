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UI-Test Agent 工作流程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Playwright 的多层 Agent 架构 UI 测试体系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9319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39319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6888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31920"/>
            <a:ext cx="365760" cy="365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2336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931920"/>
            <a:ext cx="365760" cy="3657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57784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931920"/>
            <a:ext cx="365760" cy="3657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132320" y="4389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架构总览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0" y="1097280"/>
            <a:ext cx="3291840" cy="7315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2070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ui-test 路由 Agent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51560" y="18288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88920" y="18288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01168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39572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26280" y="18288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4904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39572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4904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18288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EF44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39572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8640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001000" y="1828800"/>
            <a:ext cx="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223760" y="233172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395728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2376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层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74320" y="370332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274320" y="38404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27432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playwright-ct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2057400" y="38404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205740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playwright-e2e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3840480" y="38404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84048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playwright-visual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623560" y="38404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62356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playwright-config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7406640" y="384048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406640" y="3886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playwright-azure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457200" y="45262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617720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1440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请求分类 → 路由分发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3383280" y="45262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4617720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84048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共享上下文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6309360" y="45262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17720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66560" y="4572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仅报告不自动修复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整体工作流程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用户请求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23444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0" y="10972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5603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ui-test 路由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34440"/>
            <a:ext cx="320040" cy="3200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46320" y="1005840"/>
            <a:ext cx="164592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1143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请求分类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37160" y="2103120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10312" y="2176272"/>
            <a:ext cx="151790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137160" y="21762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Agent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28600" y="25603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环境检查 · 框架检测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路由发现 · 组件清单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929384" y="2103120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002536" y="2176272"/>
            <a:ext cx="1517904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4"/>
          <p:cNvSpPr/>
          <p:nvPr/>
        </p:nvSpPr>
        <p:spPr>
          <a:xfrm>
            <a:off x="1929384" y="21762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Agent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020824" y="25603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测试 · 事件测试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条件渲染 · Provider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721608" y="2103120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94760" y="2176272"/>
            <a:ext cx="1517904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8"/>
          <p:cNvSpPr/>
          <p:nvPr/>
        </p:nvSpPr>
        <p:spPr>
          <a:xfrm>
            <a:off x="3721608" y="21762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Agent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813048" y="25603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页面导航 · 表单交互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 · i18n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513832" y="2103120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586984" y="2176272"/>
            <a:ext cx="1517904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2"/>
          <p:cNvSpPr/>
          <p:nvPr/>
        </p:nvSpPr>
        <p:spPr>
          <a:xfrm>
            <a:off x="5513832" y="21762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Agent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605272" y="25603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截图基线 · 回归比对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 · 多语言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306056" y="2103120"/>
            <a:ext cx="166420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379208" y="2176272"/>
            <a:ext cx="1517904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6"/>
          <p:cNvSpPr/>
          <p:nvPr/>
        </p:nvSpPr>
        <p:spPr>
          <a:xfrm>
            <a:off x="7306056" y="217627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Agent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397496" y="2560320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云端 · CI/CD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门控 · VLM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74320" y="3657600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33" name="Text 29"/>
          <p:cNvSpPr/>
          <p:nvPr/>
        </p:nvSpPr>
        <p:spPr>
          <a:xfrm>
            <a:off x="45720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共享上下文（所有测试 Agent 依赖）</a:t>
            </a:r>
            <a:endParaRPr lang="en-US" sz="12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96512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04672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项目分析报告</a:t>
            </a:r>
            <a:endParaRPr lang="en-US" sz="11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4096512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639312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组件清单 &amp; I/O Profile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9651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473952" y="4069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路由清单</a:t>
            </a:r>
            <a:endParaRPr lang="en-US" sz="11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462272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04672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定位器策略图</a:t>
            </a:r>
            <a:endParaRPr lang="en-US" sz="11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4462272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639312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用户旅程图</a:t>
            </a:r>
            <a:endParaRPr lang="en-US" sz="11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4462272"/>
            <a:ext cx="182880" cy="18288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473952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检测结果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CT 组件测试流程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47472" y="1124712"/>
            <a:ext cx="241401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24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Discovery 输入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组件文件路径 &amp; 导出名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810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Props 类型 &amp; 示例值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0665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事件处理器 &amp; 回调签名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322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依赖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578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样式依赖 (Tailwind/CSS)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78308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74720" y="105156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47872" y="1124712"/>
            <a:ext cx="2139696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前置检查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57600" y="1554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 包安装检查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57600" y="18105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playwright-ct.config.ts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0" y="20665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生成 test fixtures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57600" y="232257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包装器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657600" y="25786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Router / i18n / Context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783080"/>
            <a:ext cx="320040" cy="3200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00800" y="105156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73952" y="1124712"/>
            <a:ext cx="232257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0"/>
          <p:cNvSpPr/>
          <p:nvPr/>
        </p:nvSpPr>
        <p:spPr>
          <a:xfrm>
            <a:off x="6400800" y="1124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生成测试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8368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渲染测试 (mount → visible)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583680" y="18105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Props 测试 (值 → 输出)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583680" y="20665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事件测试 (触发 → 回调)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583680" y="23225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条件渲染测试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583680" y="2578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依赖测试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74320" y="320040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47472" y="3273552"/>
            <a:ext cx="5340096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28"/>
          <p:cNvSpPr/>
          <p:nvPr/>
        </p:nvSpPr>
        <p:spPr>
          <a:xfrm>
            <a:off x="274320" y="32735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I/O 覆盖规则</a:t>
            </a:r>
            <a:endParaRPr lang="en-US" sz="12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21608"/>
            <a:ext cx="164592" cy="16459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8580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Input (Prop) 至少 1 个代表值</a:t>
            </a:r>
            <a:endParaRPr lang="en-US" sz="9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721608"/>
            <a:ext cx="164592" cy="16459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42900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Union/Enum 至少测试 2 个不同值</a:t>
            </a:r>
            <a:endParaRPr lang="en-US" sz="9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69080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580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Output 必须有对应断言</a:t>
            </a:r>
            <a:endParaRPr lang="en-US" sz="9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4069080"/>
            <a:ext cx="164592" cy="16459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42900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Props 测试有/无两种情况</a:t>
            </a:r>
            <a:endParaRPr lang="en-US" sz="9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16552"/>
            <a:ext cx="164592" cy="16459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85800" y="4398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Event 测试回调 &amp; 载荷类型</a:t>
            </a:r>
            <a:endParaRPr lang="en-US" sz="9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0" y="4416552"/>
            <a:ext cx="164592" cy="164592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3429000" y="4398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Props 测试空/单/多元素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6035040" y="320040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36"/>
          <p:cNvSpPr/>
          <p:nvPr/>
        </p:nvSpPr>
        <p:spPr>
          <a:xfrm>
            <a:off x="6035040" y="3291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执行 &amp; 报告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621792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执行命令: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-c playwright-ct.config.ts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仅本地执行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不支持 Azure 云端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失败仅报告，不自动修复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E2E 端到端测试流程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47472" y="1124712"/>
            <a:ext cx="2414016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24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Discovery 输入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路由清单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792224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关键导航动作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交互元素清单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2267712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定位器策略图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50545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用户旅程图（可选）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I/O 探测结果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74720" y="1051560"/>
            <a:ext cx="5394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47872" y="1124712"/>
            <a:ext cx="5248656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3"/>
          <p:cNvSpPr/>
          <p:nvPr/>
        </p:nvSpPr>
        <p:spPr>
          <a:xfrm>
            <a:off x="3474720" y="11247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三层测试生成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57600" y="155448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页面级测试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74904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页面加载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74904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导航验证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74904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表单交互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749040" y="2560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状态变化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394960" y="155448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25" name="Text 21"/>
          <p:cNvSpPr/>
          <p:nvPr/>
        </p:nvSpPr>
        <p:spPr>
          <a:xfrm>
            <a:off x="539496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测试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8640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语言切换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548640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文本验证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48640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多元素变化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132320" y="1554480"/>
            <a:ext cx="1572768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30" name="Text 26"/>
          <p:cNvSpPr/>
          <p:nvPr/>
        </p:nvSpPr>
        <p:spPr>
          <a:xfrm>
            <a:off x="7132320" y="16002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用户旅程测试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22376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中间 checkpoint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223760" y="2103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状态传递验证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7223760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反向导航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274320" y="3291840"/>
            <a:ext cx="4206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347472" y="3364992"/>
            <a:ext cx="405993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2"/>
          <p:cNvSpPr/>
          <p:nvPr/>
        </p:nvSpPr>
        <p:spPr>
          <a:xfrm>
            <a:off x="274320" y="3364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定位器规则</a:t>
            </a:r>
            <a:endParaRPr lang="en-US" sz="12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164592" cy="16459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85800" y="3767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优先语义定位器: getByRole / getByText / getByLabel</a:t>
            </a:r>
            <a:endParaRPr lang="en-US" sz="9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164592" cy="16459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5800" y="4041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多匹配时使用作用域: page.getByRole('main')...</a:t>
            </a:r>
            <a:endParaRPr lang="en-US" sz="9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343400"/>
            <a:ext cx="164592" cy="16459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85800" y="4315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区域内定位: main / header / footer</a:t>
            </a:r>
            <a:endParaRPr lang="en-US" sz="9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617720"/>
            <a:ext cx="164592" cy="16459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85800" y="4590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参考定位器策略图选择最佳定位器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4663440" y="329184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38"/>
          <p:cNvSpPr/>
          <p:nvPr/>
        </p:nvSpPr>
        <p:spPr>
          <a:xfrm>
            <a:off x="4663440" y="3364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I/O 感知 &amp; 执行</a:t>
            </a:r>
            <a:endParaRPr lang="en-US" sz="12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794760"/>
            <a:ext cx="164592" cy="164592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074920" y="3767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每个交互元素至少一个测试</a:t>
            </a:r>
            <a:endParaRPr lang="en-US" sz="900" dirty="0"/>
          </a:p>
        </p:txBody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069080"/>
            <a:ext cx="164592" cy="16459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074920" y="4041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搜索/过滤 → 断言结果集变化</a:t>
            </a:r>
            <a:endParaRPr lang="en-US" sz="9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343400"/>
            <a:ext cx="164592" cy="16459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074920" y="43159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导航触发 → 断言 URL + 目标内容</a:t>
            </a:r>
            <a:endParaRPr lang="en-US" sz="90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617720"/>
            <a:ext cx="164592" cy="164592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074920" y="4590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使用类型解析的真实值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484632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--project=e2e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视觉回归测试流程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47472" y="1124712"/>
            <a:ext cx="4059936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124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A: 基线生成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61848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618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确定覆盖范围（路由 × 视口 × 语言 × 状态）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193852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1938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296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visual spec 文件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225856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258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2960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等待稳定化 (waitForLoadState)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257860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2578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2296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首次执行生成基线截图 (--update-snapshots)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289864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2898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2296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人工审查基线截图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02920" y="3218688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2296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提交审批后的基线到仓库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663440" y="1051560"/>
            <a:ext cx="42062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36592" y="1124712"/>
            <a:ext cx="4059936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4663440" y="1124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B: 回归比对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892040" y="161848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7"/>
          <p:cNvSpPr/>
          <p:nvPr/>
        </p:nvSpPr>
        <p:spPr>
          <a:xfrm>
            <a:off x="4892040" y="1618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21208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执行视觉测试（当前截图 vs 基线）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892040" y="193852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0"/>
          <p:cNvSpPr/>
          <p:nvPr/>
        </p:nvSpPr>
        <p:spPr>
          <a:xfrm>
            <a:off x="4892040" y="1938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21208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自动检测像素差异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92040" y="225856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3"/>
          <p:cNvSpPr/>
          <p:nvPr/>
        </p:nvSpPr>
        <p:spPr>
          <a:xfrm>
            <a:off x="4892040" y="22585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212080" y="2240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无差异 → 视觉回归通过 ✅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892040" y="257860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6"/>
          <p:cNvSpPr/>
          <p:nvPr/>
        </p:nvSpPr>
        <p:spPr>
          <a:xfrm>
            <a:off x="4892040" y="2578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21208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有差异 → 分析差异类型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892040" y="289864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9"/>
          <p:cNvSpPr/>
          <p:nvPr/>
        </p:nvSpPr>
        <p:spPr>
          <a:xfrm>
            <a:off x="4892040" y="2898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521208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预期变更 → 标记需更新基线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92040" y="321868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2"/>
          <p:cNvSpPr/>
          <p:nvPr/>
        </p:nvSpPr>
        <p:spPr>
          <a:xfrm>
            <a:off x="4892040" y="32186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5212080" y="3200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疑似回归 → 报告不自动修复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可组合覆盖层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74320" y="416052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279392"/>
            <a:ext cx="274320" cy="274320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731520" y="4224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路由默认状态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731520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每页默认视口截图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2514600" y="416052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279392"/>
            <a:ext cx="274320" cy="274320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2971800" y="4224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响应式视口</a:t>
            </a:r>
            <a:endParaRPr lang="en-US" sz="1000" dirty="0"/>
          </a:p>
        </p:txBody>
      </p:sp>
      <p:sp>
        <p:nvSpPr>
          <p:cNvPr id="55" name="Text 50"/>
          <p:cNvSpPr/>
          <p:nvPr/>
        </p:nvSpPr>
        <p:spPr>
          <a:xfrm>
            <a:off x="2971800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/ 768 / 1280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4754880" y="416052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279392"/>
            <a:ext cx="274320" cy="27432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212080" y="4224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状态变体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212080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过滤器 / 弹窗展开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>
            <a:off x="6995160" y="4160520"/>
            <a:ext cx="2057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279392"/>
            <a:ext cx="274320" cy="27432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7452360" y="42245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变体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7452360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多语言截图对比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91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治理层 &amp; 升级机制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默认路径（日常测试）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1444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Playwright 执行 CT / E2E / Visual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82880" cy="182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原生截图比对 (toHaveScreenshot)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168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1520" y="1993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本地基线管理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86000"/>
            <a:ext cx="182880" cy="1828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31520" y="2267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测试失败仅报告，不自动修复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3931920" y="1417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显式请求时升级 →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治理路径（按需激活）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5029200" y="146304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5102352" y="1536192"/>
            <a:ext cx="73152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1"/>
          <p:cNvSpPr/>
          <p:nvPr/>
        </p:nvSpPr>
        <p:spPr>
          <a:xfrm>
            <a:off x="5303520" y="1481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Playwright Workspace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530352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云端浏览器执行 E2E + Visual</a:t>
            </a:r>
            <a:endParaRPr lang="en-US" sz="800" dirty="0"/>
          </a:p>
        </p:txBody>
      </p:sp>
      <p:sp>
        <p:nvSpPr>
          <p:cNvPr id="20" name="Shape 13"/>
          <p:cNvSpPr/>
          <p:nvPr/>
        </p:nvSpPr>
        <p:spPr>
          <a:xfrm>
            <a:off x="5029200" y="196596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5102352" y="2039112"/>
            <a:ext cx="73152" cy="3108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5"/>
          <p:cNvSpPr/>
          <p:nvPr/>
        </p:nvSpPr>
        <p:spPr>
          <a:xfrm>
            <a:off x="5303520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门控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21854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pass/fail · 制品上传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5029200" y="246888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102352" y="2542032"/>
            <a:ext cx="73152" cy="31089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19"/>
          <p:cNvSpPr/>
          <p:nvPr/>
        </p:nvSpPr>
        <p:spPr>
          <a:xfrm>
            <a:off x="5303520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语义审查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303520" y="26883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 · 需显式启用 · 置信阈值控制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5029200" y="2971800"/>
            <a:ext cx="3840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102352" y="3044952"/>
            <a:ext cx="73152" cy="3108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3"/>
          <p:cNvSpPr/>
          <p:nvPr/>
        </p:nvSpPr>
        <p:spPr>
          <a:xfrm>
            <a:off x="5303520" y="2990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基线权威策略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303520" y="31912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vs Azure 二选一 · 不混用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274320" y="3520440"/>
            <a:ext cx="8595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核心设计原则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274320" y="40690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160520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31520" y="4133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分层解耦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1148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 Agent 分发，专业 Agent 执行，Skill 提供实现指南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2514600" y="40690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4160520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971800" y="4133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共享发现</a:t>
            </a:r>
            <a:endParaRPr lang="en-US" sz="1100" dirty="0"/>
          </a:p>
        </p:txBody>
      </p:sp>
      <p:sp>
        <p:nvSpPr>
          <p:cNvPr id="41" name="Text 32"/>
          <p:cNvSpPr/>
          <p:nvPr/>
        </p:nvSpPr>
        <p:spPr>
          <a:xfrm>
            <a:off x="265176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Agent 产出可复用上下文，避免重复探索</a:t>
            </a:r>
            <a:endParaRPr lang="en-US" sz="800" dirty="0"/>
          </a:p>
        </p:txBody>
      </p:sp>
      <p:sp>
        <p:nvSpPr>
          <p:cNvPr id="42" name="Shape 33"/>
          <p:cNvSpPr/>
          <p:nvPr/>
        </p:nvSpPr>
        <p:spPr>
          <a:xfrm>
            <a:off x="4754880" y="40690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160520"/>
            <a:ext cx="274320" cy="2743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212080" y="4133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仅报告策略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489204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测试失败输出结构化报告，不自动修改代码</a:t>
            </a:r>
            <a:endParaRPr lang="en-US" sz="800" dirty="0"/>
          </a:p>
        </p:txBody>
      </p:sp>
      <p:sp>
        <p:nvSpPr>
          <p:cNvPr id="46" name="Shape 36"/>
          <p:cNvSpPr/>
          <p:nvPr/>
        </p:nvSpPr>
        <p:spPr>
          <a:xfrm>
            <a:off x="6995160" y="406908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4160520"/>
            <a:ext cx="274320" cy="27432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452360" y="4133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治理分离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7132320" y="44348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CI / VLM 治理与日常测试完全隔离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UI-Test Agent 工作流程</dc:title>
  <dc:subject>PptxGenJS Presentation</dc:subject>
  <dc:creator>UI-Test Agent</dc:creator>
  <cp:lastModifiedBy>UI-Test Agent</cp:lastModifiedBy>
  <cp:revision>1</cp:revision>
  <dcterms:created xsi:type="dcterms:W3CDTF">2026-03-19T07:27:51Z</dcterms:created>
  <dcterms:modified xsi:type="dcterms:W3CDTF">2026-03-19T07:27:51Z</dcterms:modified>
</cp:coreProperties>
</file>