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548640" cy="54864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914400"/>
            <a:ext cx="457200" cy="4572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554480"/>
            <a:ext cx="41148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377440" y="82296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TravelVista</a:t>
            </a:r>
            <a:endParaRPr lang="en-US" sz="4400" dirty="0"/>
          </a:p>
        </p:txBody>
      </p:sp>
      <p:sp>
        <p:nvSpPr>
          <p:cNvPr id="7" name="Text 2"/>
          <p:cNvSpPr/>
          <p:nvPr/>
        </p:nvSpPr>
        <p:spPr>
          <a:xfrm>
            <a:off x="2377440" y="150876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自动化测试工作流架构</a:t>
            </a:r>
            <a:endParaRPr lang="en-US" sz="2800" dirty="0"/>
          </a:p>
        </p:txBody>
      </p:sp>
      <p:sp>
        <p:nvSpPr>
          <p:cNvPr id="8" name="Shape 3"/>
          <p:cNvSpPr/>
          <p:nvPr/>
        </p:nvSpPr>
        <p:spPr>
          <a:xfrm>
            <a:off x="2377440" y="2331720"/>
            <a:ext cx="32004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2377440" y="26060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层测试金字塔  ×  2 执行环境  ×  CI/CD 全流程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237744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2026-03-18  |  v1.0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7"/>
          <p:cNvSpPr/>
          <p:nvPr/>
        </p:nvSpPr>
        <p:spPr>
          <a:xfrm>
            <a:off x="548640" y="4617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 •  TypeScript 5.9  •  Playwright 1.58  •  Azure PT  •  Argos CI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F2B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82880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5272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52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项目概览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0" y="1234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被测系统与技术栈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43000" y="1636776"/>
            <a:ext cx="7315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70992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09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测试分层架构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三层金字塔：组件 / E2E / 视觉回归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143000" y="2093976"/>
            <a:ext cx="7315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16712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167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各阶段数据流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1480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每阶段 Input → Process → Output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143000" y="2551176"/>
            <a:ext cx="7315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262432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624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执行环境对比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1480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 vs Azure 云端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143000" y="3008376"/>
            <a:ext cx="7315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08152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081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300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流水线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11480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测试验证 + 生产部署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143000" y="3465576"/>
            <a:ext cx="7315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353872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538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4300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测试覆盖矩阵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11480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覆盖维度与统计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143000" y="3922776"/>
            <a:ext cx="7315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399592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3995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4300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关键配置与命令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11480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配置文件 + npm scripts 速查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143000" y="4379976"/>
            <a:ext cx="7315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" y="445312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453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43000" y="4434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工具链全景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11480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依赖关系与目录结构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F2B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项目概览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31920" cy="34747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393192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45336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508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743200" y="1508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框架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02536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5.9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743200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类型安全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59736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8.0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2743200" y="2423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构建工具 &amp; 开发服务器</a:t>
            </a:r>
            <a:endParaRPr lang="en-US" sz="12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916936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1560" y="2880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4.2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2743200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原子化样式系统</a:t>
            </a:r>
            <a:endParaRPr lang="en-US" sz="12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374136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51560" y="3337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7.13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274320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客户端路由</a:t>
            </a:r>
            <a:endParaRPr lang="en-US" sz="12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831336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5156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i18next 25.8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2743200" y="3794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国际化（中/英）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4754880" y="914400"/>
            <a:ext cx="3931920" cy="34747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4754880" y="914400"/>
            <a:ext cx="39319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1"/>
          <p:cNvSpPr/>
          <p:nvPr/>
        </p:nvSpPr>
        <p:spPr>
          <a:xfrm>
            <a:off x="498348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应用信息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502920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页面</a:t>
            </a:r>
            <a:endParaRPr lang="en-US" sz="1800" dirty="0"/>
          </a:p>
        </p:txBody>
      </p:sp>
      <p:sp>
        <p:nvSpPr>
          <p:cNvPr id="31" name="Text 23"/>
          <p:cNvSpPr/>
          <p:nvPr/>
        </p:nvSpPr>
        <p:spPr>
          <a:xfrm>
            <a:off x="6675120" y="15087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路由数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5029200" y="1783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Destinations / Detail / About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5029200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个</a:t>
            </a:r>
            <a:endParaRPr lang="en-US" sz="1800" dirty="0"/>
          </a:p>
        </p:txBody>
      </p:sp>
      <p:sp>
        <p:nvSpPr>
          <p:cNvPr id="34" name="Text 26"/>
          <p:cNvSpPr/>
          <p:nvPr/>
        </p:nvSpPr>
        <p:spPr>
          <a:xfrm>
            <a:off x="6675120" y="21945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目的地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5029200" y="2468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地区 × 4 类型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5029200" y="2880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中/英双语</a:t>
            </a:r>
            <a:endParaRPr lang="en-US" sz="1800" dirty="0"/>
          </a:p>
        </p:txBody>
      </p:sp>
      <p:sp>
        <p:nvSpPr>
          <p:cNvPr id="37" name="Text 29"/>
          <p:cNvSpPr/>
          <p:nvPr/>
        </p:nvSpPr>
        <p:spPr>
          <a:xfrm>
            <a:off x="6675120" y="28803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语言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5029200" y="31546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i18n 翻译键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5029200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800" dirty="0"/>
          </a:p>
        </p:txBody>
      </p:sp>
      <p:sp>
        <p:nvSpPr>
          <p:cNvPr id="40" name="Text 32"/>
          <p:cNvSpPr/>
          <p:nvPr/>
        </p:nvSpPr>
        <p:spPr>
          <a:xfrm>
            <a:off x="6675120" y="35661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5029200" y="3840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/UI-test-Demo/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F2B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测试分层架构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108960" y="1005840"/>
            <a:ext cx="2926080" cy="914400"/>
          </a:xfrm>
          <a:prstGeom prst="rect">
            <a:avLst/>
          </a:prstGeom>
          <a:solidFill>
            <a:srgbClr val="F43F5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12344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023360" y="1097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Regression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023360" y="14813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spec · 4 screenshots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57400" y="2011680"/>
            <a:ext cx="5029200" cy="9144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22402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71800" y="2103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端到端测试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971800" y="2487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spec files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1005840" y="3017520"/>
            <a:ext cx="7132320" cy="9144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324612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20240" y="310896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Testing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920240" y="349300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spec files · ~30 用例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7132320" y="1051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像素级视觉比对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maxDiffPixelRatio: 0.01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731520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完整页面路由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用户旅程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274320" y="3108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隔离组件单元测试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· Events · States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2" name="Text 17"/>
          <p:cNvSpPr/>
          <p:nvPr/>
        </p:nvSpPr>
        <p:spPr>
          <a:xfrm>
            <a:off x="914400" y="42245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914400" y="4572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文件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2926080" y="42245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~59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2926080" y="4572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测试用例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937760" y="42245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4937760" y="4572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页面截图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949440" y="42245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9" name="Text 24"/>
          <p:cNvSpPr/>
          <p:nvPr/>
        </p:nvSpPr>
        <p:spPr>
          <a:xfrm>
            <a:off x="6949440" y="4572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被测组件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73152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2B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Layer 1 — 组件测试 (Component Testing)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2743200" cy="21031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868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工具: @playwright/experimental-ct-react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配置: playwright-ct.config.ts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入口: playwright/index.tsx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夹具: TestWrapper (Router + i18n)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浏览器: Desktop Chrome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0" y="822960"/>
            <a:ext cx="1783080" cy="100584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822960"/>
            <a:ext cx="17830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914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1188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品牌名 · 导航链接 · 语言切换 · active 高亮 · 移动端菜单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94960" y="822960"/>
            <a:ext cx="1783080" cy="100584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94960" y="822960"/>
            <a:ext cx="17830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914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SearchBar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1188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· 值输入 · onChange 回调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0" y="822960"/>
            <a:ext cx="1783080" cy="100584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0" y="822960"/>
            <a:ext cx="17830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0" y="914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FilterBar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06640" y="1188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搜索 + 2 下拉 · 6 地区 / 4 类型 · 回调触发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0" y="1965960"/>
            <a:ext cx="1783080" cy="100584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0" y="1965960"/>
            <a:ext cx="17830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3566160" y="2057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66160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渲染 · 圆点导航 · 自动播放 · CSS transform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394960" y="1965960"/>
            <a:ext cx="1783080" cy="100584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94960" y="1965960"/>
            <a:ext cx="17830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0" y="2057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DestinationCard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0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名称(i18n) · 类型徽章 · 评分星级 · 链接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0" y="1965960"/>
            <a:ext cx="1783080" cy="100584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15200" y="1965960"/>
            <a:ext cx="17830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7406640" y="2057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406640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品牌名 · 导航链接 · 社交媒体 · 版权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200400"/>
            <a:ext cx="8229600" cy="146304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核心机制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31520" y="365760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playwright/index.tsx 加载全局 CSS + i18n 初始化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1520" y="388620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TestWrapper 提供 MemoryRouter + I18nextProvider 上下文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" y="411480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mount() 将组件挂载到隔离 DOM 环境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1520" y="434340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expect() 断言可见性、文本、CSS 类、属性值、回调触发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73152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2B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Layer 2 — E2E 端到端测试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2651760" cy="16459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22960"/>
            <a:ext cx="265176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932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home.spec.ts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2801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搜索 · 热门目的地 · 旅行主题 · 评价轮播 · 查看全部导航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822960"/>
            <a:ext cx="2651760" cy="16459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822960"/>
            <a:ext cx="265176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932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destinations.spec.ts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12801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目的地 · 关键字搜索 · 地区筛选 · 类型筛选 · URL 参数 · 卡片导航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822960"/>
            <a:ext cx="2651760" cy="16459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822960"/>
            <a:ext cx="265176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932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detail.spec.ts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12801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名称/国家 · 面包屑 · 画廊 · 景点 · 评分 · 推荐 · 404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2651760" cy="16459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651760"/>
            <a:ext cx="265176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761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navigation.spec.ts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1089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导航 · Logo 返回 · 中英切换 · 语言跨页持久 · Footer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2651760"/>
            <a:ext cx="2651760" cy="16459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2651760"/>
            <a:ext cx="265176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2761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about.spec.ts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29000" y="31089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标题 · 使命 · 3 价值观 · 4 团队成员 · 联系邮箱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2651760"/>
            <a:ext cx="2651760" cy="16459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651760"/>
            <a:ext cx="265176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2761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user-journey.spec.ts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31089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首页→列表→筛选→详情→返回→关于→首页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主题分类导航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5537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webServer 自动启动 Vite → Chromium 浏览器访问路由 → 用户操作模拟 → expect() 断言页面内容和 URL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73152" cy="45720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2B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Layer 3 — 视觉回归测试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1965960" cy="219456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22960"/>
            <a:ext cx="1965960" cy="36576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960120"/>
            <a:ext cx="1691640" cy="77724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1430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828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home-main.png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页面: 首页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范围: main 元素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等待: networkidle + Hero/热门/主题文本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606040" y="822960"/>
            <a:ext cx="1965960" cy="219456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06040" y="822960"/>
            <a:ext cx="1965960" cy="36576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3" name="Shape 10"/>
          <p:cNvSpPr/>
          <p:nvPr/>
        </p:nvSpPr>
        <p:spPr>
          <a:xfrm>
            <a:off x="2743200" y="960120"/>
            <a:ext cx="1691640" cy="77724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430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97480" y="1828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destinations-page.png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6974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页面: 目的地列表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范围: fullPage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等待: networkidle + 页面标题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754880" y="822960"/>
            <a:ext cx="1965960" cy="219456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54880" y="822960"/>
            <a:ext cx="1965960" cy="36576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9" name="Shape 15"/>
          <p:cNvSpPr/>
          <p:nvPr/>
        </p:nvSpPr>
        <p:spPr>
          <a:xfrm>
            <a:off x="4892040" y="960120"/>
            <a:ext cx="1691640" cy="77724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14300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46320" y="1828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about-page.png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8463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页面: 关于我们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范围: fullPage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等待: networkidle + 页面标题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903720" y="822960"/>
            <a:ext cx="1965960" cy="219456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903720" y="822960"/>
            <a:ext cx="1965960" cy="36576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5" name="Shape 20"/>
          <p:cNvSpPr/>
          <p:nvPr/>
        </p:nvSpPr>
        <p:spPr>
          <a:xfrm>
            <a:off x="7040880" y="960120"/>
            <a:ext cx="1691640" cy="77724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14300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95160" y="1828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detail-bali.png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99516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页面: 巴厘岛详情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范围: fullPage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等待: networkidle + "巴厘岛"标题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457200" y="3246120"/>
            <a:ext cx="8229600" cy="146304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0" name="Text 24"/>
          <p:cNvSpPr/>
          <p:nvPr/>
        </p:nvSpPr>
        <p:spPr>
          <a:xfrm>
            <a:off x="73152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关键配置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731520" y="3703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比对阈值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1920240" y="37033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maxDiffPixelRatio: 0.01（允许 1% 像素差异）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731520" y="39502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动画处理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1920240" y="395020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animations: 'disabled'（禁用 CSS 动画，确保截图稳定）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731520" y="41970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基线存储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1920240" y="419709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tests/visual/pages.visual.spec.ts-snapshots/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731520" y="44439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集成工具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1920240" y="4443984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@argos-ci/playwright/reporter → Argos CI 视觉审查 + PR 门控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F2B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各阶段数据流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68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8229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源码准备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0" y="822960"/>
            <a:ext cx="2560320" cy="3657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0" name="Text 8"/>
          <p:cNvSpPr/>
          <p:nvPr/>
        </p:nvSpPr>
        <p:spPr>
          <a:xfrm>
            <a:off x="2377440" y="822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TS源码 + i18n + 资源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886968"/>
            <a:ext cx="228600" cy="2286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349240" y="822960"/>
            <a:ext cx="9144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Shape 10"/>
          <p:cNvSpPr/>
          <p:nvPr/>
        </p:nvSpPr>
        <p:spPr>
          <a:xfrm>
            <a:off x="5577840" y="822960"/>
            <a:ext cx="3017520" cy="3657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0" y="822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运行中应用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04088" y="1207008"/>
            <a:ext cx="0" cy="18288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1435608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1435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" y="13898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组件测试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286000" y="1389888"/>
            <a:ext cx="2560320" cy="3657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0" name="Text 17"/>
          <p:cNvSpPr/>
          <p:nvPr/>
        </p:nvSpPr>
        <p:spPr>
          <a:xfrm>
            <a:off x="2377440" y="1389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 + TestWrapper</a:t>
            </a:r>
            <a:endParaRPr lang="en-US" sz="10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53896"/>
            <a:ext cx="228600" cy="22860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5349240" y="1389888"/>
            <a:ext cx="9144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Shape 19"/>
          <p:cNvSpPr/>
          <p:nvPr/>
        </p:nvSpPr>
        <p:spPr>
          <a:xfrm>
            <a:off x="5577840" y="1389888"/>
            <a:ext cx="3017520" cy="3657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4" name="Text 20"/>
          <p:cNvSpPr/>
          <p:nvPr/>
        </p:nvSpPr>
        <p:spPr>
          <a:xfrm>
            <a:off x="5669280" y="13898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组件验证 + 报告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04088" y="1773936"/>
            <a:ext cx="0" cy="18288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48640" y="2002536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3"/>
          <p:cNvSpPr/>
          <p:nvPr/>
        </p:nvSpPr>
        <p:spPr>
          <a:xfrm>
            <a:off x="548640" y="20025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1005840" y="19568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E2E测试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2286000" y="1956816"/>
            <a:ext cx="2560320" cy="3657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30" name="Text 26"/>
          <p:cNvSpPr/>
          <p:nvPr/>
        </p:nvSpPr>
        <p:spPr>
          <a:xfrm>
            <a:off x="2377440" y="19568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Web应用 + 路由</a:t>
            </a:r>
            <a:endParaRPr lang="en-US" sz="100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020824"/>
            <a:ext cx="228600" cy="228600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5349240" y="1956816"/>
            <a:ext cx="9144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3" name="Shape 28"/>
          <p:cNvSpPr/>
          <p:nvPr/>
        </p:nvSpPr>
        <p:spPr>
          <a:xfrm>
            <a:off x="5577840" y="1956816"/>
            <a:ext cx="3017520" cy="3657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34" name="Text 29"/>
          <p:cNvSpPr/>
          <p:nvPr/>
        </p:nvSpPr>
        <p:spPr>
          <a:xfrm>
            <a:off x="5669280" y="195681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路由验证 + trace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704088" y="2340864"/>
            <a:ext cx="0" cy="18288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548640" y="2569464"/>
            <a:ext cx="320040" cy="32004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37" name="Text 32"/>
          <p:cNvSpPr/>
          <p:nvPr/>
        </p:nvSpPr>
        <p:spPr>
          <a:xfrm>
            <a:off x="548640" y="25694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1005840" y="252374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视觉回归</a:t>
            </a:r>
            <a:endParaRPr lang="en-US" sz="1300" dirty="0"/>
          </a:p>
        </p:txBody>
      </p:sp>
      <p:sp>
        <p:nvSpPr>
          <p:cNvPr id="39" name="Shape 34"/>
          <p:cNvSpPr/>
          <p:nvPr/>
        </p:nvSpPr>
        <p:spPr>
          <a:xfrm>
            <a:off x="2286000" y="2523744"/>
            <a:ext cx="2560320" cy="3657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40" name="Text 35"/>
          <p:cNvSpPr/>
          <p:nvPr/>
        </p:nvSpPr>
        <p:spPr>
          <a:xfrm>
            <a:off x="2377440" y="25237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 + 基线截图</a:t>
            </a:r>
            <a:endParaRPr lang="en-US" sz="1000" dirty="0"/>
          </a:p>
        </p:txBody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587752"/>
            <a:ext cx="228600" cy="228600"/>
          </a:xfrm>
          <a:prstGeom prst="rect">
            <a:avLst/>
          </a:prstGeom>
        </p:spPr>
      </p:pic>
      <p:sp>
        <p:nvSpPr>
          <p:cNvPr id="42" name="Shape 36"/>
          <p:cNvSpPr/>
          <p:nvPr/>
        </p:nvSpPr>
        <p:spPr>
          <a:xfrm>
            <a:off x="5349240" y="2523744"/>
            <a:ext cx="91440" cy="36576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43" name="Shape 37"/>
          <p:cNvSpPr/>
          <p:nvPr/>
        </p:nvSpPr>
        <p:spPr>
          <a:xfrm>
            <a:off x="5577840" y="2523744"/>
            <a:ext cx="3017520" cy="3657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44" name="Text 38"/>
          <p:cNvSpPr/>
          <p:nvPr/>
        </p:nvSpPr>
        <p:spPr>
          <a:xfrm>
            <a:off x="5669280" y="25237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差异报告 + Argos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704088" y="2907792"/>
            <a:ext cx="0" cy="18288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548640" y="3136392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7" name="Text 41"/>
          <p:cNvSpPr/>
          <p:nvPr/>
        </p:nvSpPr>
        <p:spPr>
          <a:xfrm>
            <a:off x="548640" y="3136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8" name="Text 42"/>
          <p:cNvSpPr/>
          <p:nvPr/>
        </p:nvSpPr>
        <p:spPr>
          <a:xfrm>
            <a:off x="1005840" y="30906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Azure执行</a:t>
            </a:r>
            <a:endParaRPr lang="en-US" sz="1300" dirty="0"/>
          </a:p>
        </p:txBody>
      </p:sp>
      <p:sp>
        <p:nvSpPr>
          <p:cNvPr id="49" name="Shape 43"/>
          <p:cNvSpPr/>
          <p:nvPr/>
        </p:nvSpPr>
        <p:spPr>
          <a:xfrm>
            <a:off x="2286000" y="3090672"/>
            <a:ext cx="2560320" cy="3657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50" name="Text 44"/>
          <p:cNvSpPr/>
          <p:nvPr/>
        </p:nvSpPr>
        <p:spPr>
          <a:xfrm>
            <a:off x="2377440" y="30906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测试代码 + 凭据</a:t>
            </a:r>
            <a:endParaRPr lang="en-US" sz="1000" dirty="0"/>
          </a:p>
        </p:txBody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154680"/>
            <a:ext cx="228600" cy="228600"/>
          </a:xfrm>
          <a:prstGeom prst="rect">
            <a:avLst/>
          </a:prstGeom>
        </p:spPr>
      </p:pic>
      <p:sp>
        <p:nvSpPr>
          <p:cNvPr id="52" name="Shape 45"/>
          <p:cNvSpPr/>
          <p:nvPr/>
        </p:nvSpPr>
        <p:spPr>
          <a:xfrm>
            <a:off x="5349240" y="3090672"/>
            <a:ext cx="91440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3" name="Shape 46"/>
          <p:cNvSpPr/>
          <p:nvPr/>
        </p:nvSpPr>
        <p:spPr>
          <a:xfrm>
            <a:off x="5577840" y="3090672"/>
            <a:ext cx="3017520" cy="3657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54" name="Text 47"/>
          <p:cNvSpPr/>
          <p:nvPr/>
        </p:nvSpPr>
        <p:spPr>
          <a:xfrm>
            <a:off x="5669280" y="30906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+ 多报告</a:t>
            </a:r>
            <a:endParaRPr lang="en-US" sz="1000" dirty="0"/>
          </a:p>
        </p:txBody>
      </p:sp>
      <p:sp>
        <p:nvSpPr>
          <p:cNvPr id="55" name="Shape 48"/>
          <p:cNvSpPr/>
          <p:nvPr/>
        </p:nvSpPr>
        <p:spPr>
          <a:xfrm>
            <a:off x="704088" y="3474720"/>
            <a:ext cx="0" cy="18288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548640" y="370332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7" name="Text 50"/>
          <p:cNvSpPr/>
          <p:nvPr/>
        </p:nvSpPr>
        <p:spPr>
          <a:xfrm>
            <a:off x="54864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8" name="Text 51"/>
          <p:cNvSpPr/>
          <p:nvPr/>
        </p:nvSpPr>
        <p:spPr>
          <a:xfrm>
            <a:off x="1005840" y="3657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CI集成</a:t>
            </a:r>
            <a:endParaRPr lang="en-US" sz="1300" dirty="0"/>
          </a:p>
        </p:txBody>
      </p:sp>
      <p:sp>
        <p:nvSpPr>
          <p:cNvPr id="59" name="Shape 52"/>
          <p:cNvSpPr/>
          <p:nvPr/>
        </p:nvSpPr>
        <p:spPr>
          <a:xfrm>
            <a:off x="2286000" y="3657600"/>
            <a:ext cx="2560320" cy="3657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60" name="Text 53"/>
          <p:cNvSpPr/>
          <p:nvPr/>
        </p:nvSpPr>
        <p:spPr>
          <a:xfrm>
            <a:off x="2377440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Git事件 + Secrets</a:t>
            </a:r>
            <a:endParaRPr lang="en-US" sz="1000" dirty="0"/>
          </a:p>
        </p:txBody>
      </p:sp>
      <p:pic>
        <p:nvPicPr>
          <p:cNvPr id="6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721608"/>
            <a:ext cx="228600" cy="228600"/>
          </a:xfrm>
          <a:prstGeom prst="rect">
            <a:avLst/>
          </a:prstGeom>
        </p:spPr>
      </p:pic>
      <p:sp>
        <p:nvSpPr>
          <p:cNvPr id="62" name="Shape 54"/>
          <p:cNvSpPr/>
          <p:nvPr/>
        </p:nvSpPr>
        <p:spPr>
          <a:xfrm>
            <a:off x="5349240" y="3657600"/>
            <a:ext cx="9144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3" name="Shape 55"/>
          <p:cNvSpPr/>
          <p:nvPr/>
        </p:nvSpPr>
        <p:spPr>
          <a:xfrm>
            <a:off x="5577840" y="3657600"/>
            <a:ext cx="3017520" cy="3657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64" name="Text 56"/>
          <p:cNvSpPr/>
          <p:nvPr/>
        </p:nvSpPr>
        <p:spPr>
          <a:xfrm>
            <a:off x="5669280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CI状态 + artifacts</a:t>
            </a:r>
            <a:endParaRPr lang="en-US" sz="1000" dirty="0"/>
          </a:p>
        </p:txBody>
      </p:sp>
      <p:sp>
        <p:nvSpPr>
          <p:cNvPr id="65" name="Shape 57"/>
          <p:cNvSpPr/>
          <p:nvPr/>
        </p:nvSpPr>
        <p:spPr>
          <a:xfrm>
            <a:off x="704088" y="4041648"/>
            <a:ext cx="0" cy="18288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6" name="Shape 58"/>
          <p:cNvSpPr/>
          <p:nvPr/>
        </p:nvSpPr>
        <p:spPr>
          <a:xfrm>
            <a:off x="548640" y="4270248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7" name="Text 59"/>
          <p:cNvSpPr/>
          <p:nvPr/>
        </p:nvSpPr>
        <p:spPr>
          <a:xfrm>
            <a:off x="548640" y="4270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68" name="Text 60"/>
          <p:cNvSpPr/>
          <p:nvPr/>
        </p:nvSpPr>
        <p:spPr>
          <a:xfrm>
            <a:off x="1005840" y="42245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</a:t>
            </a:r>
            <a:endParaRPr lang="en-US" sz="1300" dirty="0"/>
          </a:p>
        </p:txBody>
      </p:sp>
      <p:sp>
        <p:nvSpPr>
          <p:cNvPr id="69" name="Shape 61"/>
          <p:cNvSpPr/>
          <p:nvPr/>
        </p:nvSpPr>
        <p:spPr>
          <a:xfrm>
            <a:off x="2286000" y="4224528"/>
            <a:ext cx="2560320" cy="3657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70" name="Text 62"/>
          <p:cNvSpPr/>
          <p:nvPr/>
        </p:nvSpPr>
        <p:spPr>
          <a:xfrm>
            <a:off x="2377440" y="4224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main分支代码</a:t>
            </a:r>
            <a:endParaRPr lang="en-US" sz="1000" dirty="0"/>
          </a:p>
        </p:txBody>
      </p:sp>
      <p:pic>
        <p:nvPicPr>
          <p:cNvPr id="7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4288536"/>
            <a:ext cx="228600" cy="228600"/>
          </a:xfrm>
          <a:prstGeom prst="rect">
            <a:avLst/>
          </a:prstGeom>
        </p:spPr>
      </p:pic>
      <p:sp>
        <p:nvSpPr>
          <p:cNvPr id="72" name="Shape 63"/>
          <p:cNvSpPr/>
          <p:nvPr/>
        </p:nvSpPr>
        <p:spPr>
          <a:xfrm>
            <a:off x="5349240" y="4224528"/>
            <a:ext cx="9144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3" name="Shape 64"/>
          <p:cNvSpPr/>
          <p:nvPr/>
        </p:nvSpPr>
        <p:spPr>
          <a:xfrm>
            <a:off x="5577840" y="4224528"/>
            <a:ext cx="3017520" cy="3657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74" name="Text 65"/>
          <p:cNvSpPr/>
          <p:nvPr/>
        </p:nvSpPr>
        <p:spPr>
          <a:xfrm>
            <a:off x="5669280" y="42245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000" dirty="0"/>
          </a:p>
        </p:txBody>
      </p:sp>
      <p:sp>
        <p:nvSpPr>
          <p:cNvPr id="75" name="Text 66"/>
          <p:cNvSpPr/>
          <p:nvPr/>
        </p:nvSpPr>
        <p:spPr>
          <a:xfrm>
            <a:off x="2926080" y="6583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76" name="Text 67"/>
          <p:cNvSpPr/>
          <p:nvPr/>
        </p:nvSpPr>
        <p:spPr>
          <a:xfrm>
            <a:off x="6400800" y="6583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F2B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执行环境对比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329184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本地开发环境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Playwright Workspace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配置文件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playwright.config.ts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playwright.service.config.ts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命令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test:ct / test:e2e / test:visual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test:azure:e2e / test:azure:visual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浏览器 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开发者本机 (macOS/Win/Linux)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云端 Linux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并行度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fullyParallel, workers: auto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CI: workers: 10 (最多 50)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重试次数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CI: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认证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DefaultAzureCredential (Entra ID)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报告格式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 + Azure Portal + Argos 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适用场景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开发时快速验证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 · 基线一致性 · 大规模并行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4343400"/>
            <a:ext cx="54864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43708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重要提示：本地生成的基线截图与 Azure 云端生成的基线截图不兼容（OS 字体渲染差异），需选择一个环境作为基线来源并保持一致。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F2B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CI/CD 流水线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4114800" cy="397764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22960"/>
            <a:ext cx="411480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8412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playwright-azure.yml — 测试流水线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371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触发条件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main · PR main · 手动触发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checkout 代码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240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setup Node 22 + npm ci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514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install Chromium 浏览器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788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E2E 测试 (Azure PT)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063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Visual 测试 (Azure PT) ⚙ continue-on-error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337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上传 playwright-report/ (14天)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611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上传 test-results/ (14天)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251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PLAYWRIGHT_SERVICE_URL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PLAYWRIGHT_SERVICE_ACCESS_TOKEN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ARGOS_TOKEN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822960"/>
            <a:ext cx="3840480" cy="246888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822960"/>
            <a:ext cx="384048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8412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deploy.yml — 部署流水线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1371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触发: push to main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16916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1: Build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19202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npm ci → npm run build → dist/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21488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upload-pages-artifact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2377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26060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2: Deploy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0" y="28346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deploy-pages → GitHub Pages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474720"/>
            <a:ext cx="3840480" cy="132588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两条流水线的关系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0" y="3886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独立并行运行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部署不依赖测试通过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如需门控，可在 deploy.yml 添加 needs 依赖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F2B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测试覆盖矩阵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5029200" cy="41148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188720"/>
                <a:gridCol w="11887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被测对象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组件测试 (CT)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 测试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视觉回归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Navbar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SearchBar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FilterBar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Carousel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DestinationCard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HomePage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DestinationsPage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DetailPage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AboutPage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i18n 语言切换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用户完整旅程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777240"/>
            <a:ext cx="2926080" cy="41148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0" y="868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统计概览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943600" y="1371600"/>
            <a:ext cx="73152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7"/>
          <p:cNvSpPr/>
          <p:nvPr/>
        </p:nvSpPr>
        <p:spPr>
          <a:xfrm>
            <a:off x="6172200" y="13716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315200" y="13716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文件总数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43600" y="1901952"/>
            <a:ext cx="73152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6172200" y="190195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~59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315200" y="190195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测试用例总数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43600" y="2432304"/>
            <a:ext cx="73152" cy="41148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6" name="Text 13"/>
          <p:cNvSpPr/>
          <p:nvPr/>
        </p:nvSpPr>
        <p:spPr>
          <a:xfrm>
            <a:off x="6172200" y="243230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315200" y="243230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视觉截图数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943600" y="2962656"/>
            <a:ext cx="73152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296265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315200" y="296265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被测组件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943600" y="3493008"/>
            <a:ext cx="73152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6172200" y="349300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7315200" y="349300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路由覆盖率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943600" y="4023360"/>
            <a:ext cx="73152" cy="411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40233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7315200" y="40233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组件覆盖率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F2B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关键配置与命令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配置文件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8046720" cy="301752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9728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playwright.config.ts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0" y="1097280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主配置（E2E + Visual projects, webServer, reporter）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444752"/>
            <a:ext cx="804672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444752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playwright-ct.config.ts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1444752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组件测试（CT Vite, PostCSS）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792224"/>
            <a:ext cx="8046720" cy="301752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792224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playwright.service.config.ts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1792224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云测试（继承主配置 + Azure overlay）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139696"/>
            <a:ext cx="804672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139696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vite.config.ts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2139696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应用构建（React plugin, base: /UI-test-Demo/）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Scripts 速查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2926080"/>
            <a:ext cx="8046720" cy="237744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9260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test:ct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29260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运行组件测试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200400"/>
            <a:ext cx="804672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2004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test:e2e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32004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 E2E 测试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474720"/>
            <a:ext cx="8046720" cy="237744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4747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test:visual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34747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运行视觉回归测试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3749040"/>
            <a:ext cx="804672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7490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test:all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0" y="37490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运行全部测试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023360"/>
            <a:ext cx="8046720" cy="237744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0233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test:update-snapshots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0" y="40233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更新视觉基线截图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4297680"/>
            <a:ext cx="804672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2976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test:azure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0" y="42976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云端运行全部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4572000"/>
            <a:ext cx="8046720" cy="237744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45720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test:azure:e2e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0" y="45720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云端 E2E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4846320"/>
            <a:ext cx="804672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48463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test:azure:visual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0" y="48463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云端视觉回归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工具链全景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0" y="822960"/>
            <a:ext cx="457200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84124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 + Vite + Tailwind + i18n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280160"/>
            <a:ext cx="0" cy="22860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600200"/>
            <a:ext cx="228600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62763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(CT React)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1600200"/>
            <a:ext cx="228600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62763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E2E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(Desktop Chrome)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600200"/>
            <a:ext cx="2286000" cy="64008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62763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Visual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 Argos CI)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57400" y="2240280"/>
            <a:ext cx="0" cy="22860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2240280"/>
            <a:ext cx="0" cy="22860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2240280"/>
            <a:ext cx="0" cy="22860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0" y="2560320"/>
            <a:ext cx="6400800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1463040" y="2587752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Playwright Workspace  ·  Linux Chromium  ·  10 workers  ·  Entra ID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3200400"/>
            <a:ext cx="0" cy="22860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0" y="3520440"/>
            <a:ext cx="548640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1920240" y="353872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  ·  playwright-azure.yml + deploy.yml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4023360"/>
            <a:ext cx="0" cy="22860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0" y="4343400"/>
            <a:ext cx="365760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2834640" y="43616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 ·  nickhou1983.github.io/UI-test-Demo/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200400" y="2194560"/>
            <a:ext cx="274320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TravelVista UI 自动化测试工作流架构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层测试金字塔  ×  2 执行环境  ×  CI/CD 全流程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详细文档：UI-TEST-WORKFLOW.md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617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2026-03-18  |  TravelVista QA Team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TravelVista UI 自动化测试工作流</dc:title>
  <dc:subject>PptxGenJS Presentation</dc:subject>
  <dc:creator>TravelVista QA Team</dc:creator>
  <cp:lastModifiedBy>TravelVista QA Team</cp:lastModifiedBy>
  <cp:revision>1</cp:revision>
  <dcterms:created xsi:type="dcterms:W3CDTF">2026-03-18T05:10:14Z</dcterms:created>
  <dcterms:modified xsi:type="dcterms:W3CDTF">2026-03-18T05:10:14Z</dcterms:modified>
</cp:coreProperties>
</file>