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image" Target="../media/image-2-10.png"/><Relationship Id="rId11" Type="http://schemas.openxmlformats.org/officeDocument/2006/relationships/image" Target="../media/image-2-11.png"/><Relationship Id="rId12" Type="http://schemas.openxmlformats.org/officeDocument/2006/relationships/slideLayout" Target="../slideLayouts/slideLayout1.xml"/><Relationship Id="rId1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spc="100" kern="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Universal UI Testing Agent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73152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工作流程详解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731520" y="28346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spc="200" kern="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组件测试  ·  E2E 测试  ·  视觉回归测试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31520" y="3749040"/>
            <a:ext cx="1645920" cy="64008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840480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280160" y="37947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2743200" y="3749040"/>
            <a:ext cx="1645920" cy="64008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0360" y="38404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37947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754880" y="3749040"/>
            <a:ext cx="1645920" cy="640080"/>
          </a:xfrm>
          <a:prstGeom prst="rect">
            <a:avLst/>
          </a:prstGeom>
          <a:solidFill>
            <a:srgbClr val="1E3A5F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3840480"/>
            <a:ext cx="365760" cy="36576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303520" y="37947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/ 14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总体工作流程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685800" y="1280160"/>
            <a:ext cx="822960" cy="822960"/>
          </a:xfrm>
          <a:prstGeom prst="oval">
            <a:avLst/>
          </a:prstGeom>
          <a:solidFill>
            <a:srgbClr val="2563EB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457200" cy="457200"/>
          </a:xfrm>
          <a:prstGeom prst="rect">
            <a:avLst/>
          </a:prstGeom>
        </p:spPr>
      </p:pic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1481328"/>
            <a:ext cx="256032" cy="25603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A: 环境检查</a:t>
            </a:r>
            <a:endParaRPr lang="en-US" sz="1000" dirty="0"/>
          </a:p>
        </p:txBody>
      </p:sp>
      <p:sp>
        <p:nvSpPr>
          <p:cNvPr id="9" name="Text 5"/>
          <p:cNvSpPr/>
          <p:nvPr/>
        </p:nvSpPr>
        <p:spPr>
          <a:xfrm>
            <a:off x="4572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检测工具链完整性</a:t>
            </a:r>
            <a:endParaRPr lang="en-US" sz="800" dirty="0"/>
          </a:p>
        </p:txBody>
      </p:sp>
      <p:sp>
        <p:nvSpPr>
          <p:cNvPr id="10" name="Shape 6"/>
          <p:cNvSpPr/>
          <p:nvPr/>
        </p:nvSpPr>
        <p:spPr>
          <a:xfrm>
            <a:off x="2103120" y="1280160"/>
            <a:ext cx="822960" cy="822960"/>
          </a:xfrm>
          <a:prstGeom prst="oval">
            <a:avLst/>
          </a:prstGeom>
          <a:solidFill>
            <a:srgbClr val="0D9488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0" y="1463040"/>
            <a:ext cx="457200" cy="457200"/>
          </a:xfrm>
          <a:prstGeom prst="rect">
            <a:avLst/>
          </a:prstGeom>
        </p:spPr>
      </p:pic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7520" y="1481328"/>
            <a:ext cx="256032" cy="256032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187452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B: 项目探索</a:t>
            </a:r>
            <a:endParaRPr lang="en-US" sz="1000" dirty="0"/>
          </a:p>
        </p:txBody>
      </p:sp>
      <p:sp>
        <p:nvSpPr>
          <p:cNvPr id="14" name="Text 8"/>
          <p:cNvSpPr/>
          <p:nvPr/>
        </p:nvSpPr>
        <p:spPr>
          <a:xfrm>
            <a:off x="187452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自动分析项目结构</a:t>
            </a:r>
            <a:endParaRPr lang="en-US" sz="800" dirty="0"/>
          </a:p>
        </p:txBody>
      </p:sp>
      <p:sp>
        <p:nvSpPr>
          <p:cNvPr id="15" name="Shape 9"/>
          <p:cNvSpPr/>
          <p:nvPr/>
        </p:nvSpPr>
        <p:spPr>
          <a:xfrm>
            <a:off x="3520440" y="1280160"/>
            <a:ext cx="822960" cy="822960"/>
          </a:xfrm>
          <a:prstGeom prst="oval">
            <a:avLst/>
          </a:prstGeom>
          <a:solidFill>
            <a:srgbClr val="059669"/>
          </a:solidFill>
          <a:ln/>
        </p:spPr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463040"/>
            <a:ext cx="457200" cy="457200"/>
          </a:xfrm>
          <a:prstGeom prst="rect">
            <a:avLst/>
          </a:prstGeom>
        </p:spPr>
      </p:pic>
      <p:pic>
        <p:nvPicPr>
          <p:cNvPr id="1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34840" y="1481328"/>
            <a:ext cx="256032" cy="256032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329184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选择测试类型</a:t>
            </a:r>
            <a:endParaRPr lang="en-US" sz="1000" dirty="0"/>
          </a:p>
        </p:txBody>
      </p:sp>
      <p:sp>
        <p:nvSpPr>
          <p:cNvPr id="19" name="Text 11"/>
          <p:cNvSpPr/>
          <p:nvPr/>
        </p:nvSpPr>
        <p:spPr>
          <a:xfrm>
            <a:off x="329184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组件/E2E/视觉</a:t>
            </a:r>
            <a:endParaRPr lang="en-US" sz="800" dirty="0"/>
          </a:p>
        </p:txBody>
      </p:sp>
      <p:sp>
        <p:nvSpPr>
          <p:cNvPr id="20" name="Shape 12"/>
          <p:cNvSpPr/>
          <p:nvPr/>
        </p:nvSpPr>
        <p:spPr>
          <a:xfrm>
            <a:off x="4937760" y="1280160"/>
            <a:ext cx="822960" cy="822960"/>
          </a:xfrm>
          <a:prstGeom prst="oval">
            <a:avLst/>
          </a:prstGeom>
          <a:solidFill>
            <a:srgbClr val="8B5CF6"/>
          </a:solidFill>
          <a:ln/>
        </p:spPr>
      </p:sp>
      <p:pic>
        <p:nvPicPr>
          <p:cNvPr id="2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1463040"/>
            <a:ext cx="457200" cy="457200"/>
          </a:xfrm>
          <a:prstGeom prst="rect">
            <a:avLst/>
          </a:prstGeom>
        </p:spPr>
      </p:pic>
      <p:pic>
        <p:nvPicPr>
          <p:cNvPr id="2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852160" y="1481328"/>
            <a:ext cx="256032" cy="256032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470916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F: 配置生成</a:t>
            </a:r>
            <a:endParaRPr lang="en-US" sz="1000" dirty="0"/>
          </a:p>
        </p:txBody>
      </p:sp>
      <p:sp>
        <p:nvSpPr>
          <p:cNvPr id="24" name="Text 14"/>
          <p:cNvSpPr/>
          <p:nvPr/>
        </p:nvSpPr>
        <p:spPr>
          <a:xfrm>
            <a:off x="470916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生成 config 文件</a:t>
            </a:r>
            <a:endParaRPr lang="en-US" sz="800" dirty="0"/>
          </a:p>
        </p:txBody>
      </p:sp>
      <p:sp>
        <p:nvSpPr>
          <p:cNvPr id="25" name="Shape 15"/>
          <p:cNvSpPr/>
          <p:nvPr/>
        </p:nvSpPr>
        <p:spPr>
          <a:xfrm>
            <a:off x="6355080" y="1280160"/>
            <a:ext cx="822960" cy="822960"/>
          </a:xfrm>
          <a:prstGeom prst="oval">
            <a:avLst/>
          </a:prstGeom>
          <a:solidFill>
            <a:srgbClr val="3B82F6"/>
          </a:solidFill>
          <a:ln/>
        </p:spPr>
      </p:sp>
      <p:pic>
        <p:nvPicPr>
          <p:cNvPr id="26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537960" y="1463040"/>
            <a:ext cx="457200" cy="457200"/>
          </a:xfrm>
          <a:prstGeom prst="rect">
            <a:avLst/>
          </a:prstGeom>
        </p:spPr>
      </p:pic>
      <p:pic>
        <p:nvPicPr>
          <p:cNvPr id="27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269480" y="1481328"/>
            <a:ext cx="256032" cy="256032"/>
          </a:xfrm>
          <a:prstGeom prst="rect">
            <a:avLst/>
          </a:prstGeom>
        </p:spPr>
      </p:pic>
      <p:sp>
        <p:nvSpPr>
          <p:cNvPr id="28" name="Text 16"/>
          <p:cNvSpPr/>
          <p:nvPr/>
        </p:nvSpPr>
        <p:spPr>
          <a:xfrm>
            <a:off x="612648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生成测试代码</a:t>
            </a:r>
            <a:endParaRPr lang="en-US" sz="1000" dirty="0"/>
          </a:p>
        </p:txBody>
      </p:sp>
      <p:sp>
        <p:nvSpPr>
          <p:cNvPr id="29" name="Text 17"/>
          <p:cNvSpPr/>
          <p:nvPr/>
        </p:nvSpPr>
        <p:spPr>
          <a:xfrm>
            <a:off x="612648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自动生成 .spec.ts</a:t>
            </a:r>
            <a:endParaRPr lang="en-US" sz="800" dirty="0"/>
          </a:p>
        </p:txBody>
      </p:sp>
      <p:sp>
        <p:nvSpPr>
          <p:cNvPr id="30" name="Shape 18"/>
          <p:cNvSpPr/>
          <p:nvPr/>
        </p:nvSpPr>
        <p:spPr>
          <a:xfrm>
            <a:off x="7772400" y="1280160"/>
            <a:ext cx="822960" cy="822960"/>
          </a:xfrm>
          <a:prstGeom prst="oval">
            <a:avLst/>
          </a:prstGeom>
          <a:solidFill>
            <a:srgbClr val="EC4899"/>
          </a:solidFill>
          <a:ln/>
        </p:spPr>
      </p:sp>
      <p:pic>
        <p:nvPicPr>
          <p:cNvPr id="31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955280" y="1463040"/>
            <a:ext cx="457200" cy="457200"/>
          </a:xfrm>
          <a:prstGeom prst="rect">
            <a:avLst/>
          </a:prstGeom>
        </p:spPr>
      </p:pic>
      <p:sp>
        <p:nvSpPr>
          <p:cNvPr id="32" name="Text 19"/>
          <p:cNvSpPr/>
          <p:nvPr/>
        </p:nvSpPr>
        <p:spPr>
          <a:xfrm>
            <a:off x="7543800" y="2240280"/>
            <a:ext cx="1280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运行 &amp; 修复</a:t>
            </a:r>
            <a:endParaRPr lang="en-US" sz="1000" dirty="0"/>
          </a:p>
        </p:txBody>
      </p:sp>
      <p:sp>
        <p:nvSpPr>
          <p:cNvPr id="33" name="Text 20"/>
          <p:cNvSpPr/>
          <p:nvPr/>
        </p:nvSpPr>
        <p:spPr>
          <a:xfrm>
            <a:off x="7543800" y="25603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执行测试、分析结果</a:t>
            </a:r>
            <a:endParaRPr lang="en-US" sz="800" dirty="0"/>
          </a:p>
        </p:txBody>
      </p:sp>
      <p:sp>
        <p:nvSpPr>
          <p:cNvPr id="34" name="Shape 21"/>
          <p:cNvSpPr/>
          <p:nvPr/>
        </p:nvSpPr>
        <p:spPr>
          <a:xfrm>
            <a:off x="548640" y="3017520"/>
            <a:ext cx="8046720" cy="1463040"/>
          </a:xfrm>
          <a:prstGeom prst="rect">
            <a:avLst/>
          </a:prstGeom>
          <a:solidFill>
            <a:srgbClr val="F0F9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2"/>
          <p:cNvSpPr/>
          <p:nvPr/>
        </p:nvSpPr>
        <p:spPr>
          <a:xfrm>
            <a:off x="548640" y="3017520"/>
            <a:ext cx="73152" cy="146304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6" name="Text 23"/>
          <p:cNvSpPr/>
          <p:nvPr/>
        </p:nvSpPr>
        <p:spPr>
          <a:xfrm>
            <a:off x="822960" y="3063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核心设计原则</a:t>
            </a:r>
            <a:endParaRPr lang="en-US" sz="1300" dirty="0"/>
          </a:p>
        </p:txBody>
      </p:sp>
      <p:sp>
        <p:nvSpPr>
          <p:cNvPr id="37" name="Text 24"/>
          <p:cNvSpPr/>
          <p:nvPr/>
        </p:nvSpPr>
        <p:spPr>
          <a:xfrm>
            <a:off x="822960" y="3429000"/>
            <a:ext cx="7589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框架无关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支持 React / Vue / Svelte / Solid / 纯 HTML，不硬编码任何项目数据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自动探索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所有测试内容由 Module B 探索结果驱动</a:t>
            </a:r>
            <a:endParaRPr lang="en-US" sz="1000" dirty="0"/>
          </a:p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双模式执行</a:t>
            </a:r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— 每种测试支持 playwright-cli 交互式 + 自动化脚本两种模式</a:t>
            </a:r>
            <a:endParaRPr lang="en-US" sz="1000" dirty="0"/>
          </a:p>
        </p:txBody>
      </p:sp>
      <p:sp>
        <p:nvSpPr>
          <p:cNvPr id="38" name="Text 2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/ 14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A: 环境检查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每次会话启动时自动执行，确保测试工具链完整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325880"/>
            <a:ext cx="804672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731520" y="1417320"/>
            <a:ext cx="411480" cy="41148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325880" y="135331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playwright-cli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325880" y="1618488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MCP 浏览器交互工具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114800" y="1417320"/>
            <a:ext cx="54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4343400" y="1417320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失败时: 输出 MCP 安装指导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548640" y="2039112"/>
            <a:ext cx="8046720" cy="594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4" name="Shape 12"/>
          <p:cNvSpPr/>
          <p:nvPr/>
        </p:nvSpPr>
        <p:spPr>
          <a:xfrm>
            <a:off x="731520" y="2130552"/>
            <a:ext cx="411480" cy="41148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" y="213055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325880" y="206654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@playwright/test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233172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自动化测试框架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114800" y="2130552"/>
            <a:ext cx="54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9" name="Text 17"/>
          <p:cNvSpPr/>
          <p:nvPr/>
        </p:nvSpPr>
        <p:spPr>
          <a:xfrm>
            <a:off x="4343400" y="213055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失败时: npm install -D @playwright/test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752344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9"/>
          <p:cNvSpPr/>
          <p:nvPr/>
        </p:nvSpPr>
        <p:spPr>
          <a:xfrm>
            <a:off x="731520" y="2843784"/>
            <a:ext cx="411480" cy="41148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284378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325880" y="277977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CT 框架包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1325880" y="3044952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根据检测到的框架选择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114800" y="2843784"/>
            <a:ext cx="54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4343400" y="2843784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失败时: 输出对应 CT 包安装命令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48640" y="3465576"/>
            <a:ext cx="8046720" cy="59436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8" name="Shape 26"/>
          <p:cNvSpPr/>
          <p:nvPr/>
        </p:nvSpPr>
        <p:spPr>
          <a:xfrm>
            <a:off x="731520" y="3557016"/>
            <a:ext cx="411480" cy="41148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29" name="Text 27"/>
          <p:cNvSpPr/>
          <p:nvPr/>
        </p:nvSpPr>
        <p:spPr>
          <a:xfrm>
            <a:off x="731520" y="35570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A4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325880" y="34930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浏览器二进制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1325880" y="375818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Chromium/Firefox/WebKit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114800" y="3557016"/>
            <a:ext cx="54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3" name="Text 31"/>
          <p:cNvSpPr/>
          <p:nvPr/>
        </p:nvSpPr>
        <p:spPr>
          <a:xfrm>
            <a:off x="4343400" y="3557016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失败时: npx playwright install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548640" y="4178808"/>
            <a:ext cx="8046720" cy="5943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5" name="Shape 33"/>
          <p:cNvSpPr/>
          <p:nvPr/>
        </p:nvSpPr>
        <p:spPr>
          <a:xfrm>
            <a:off x="731520" y="4270248"/>
            <a:ext cx="411480" cy="41148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36" name="Text 34"/>
          <p:cNvSpPr/>
          <p:nvPr/>
        </p:nvSpPr>
        <p:spPr>
          <a:xfrm>
            <a:off x="731520" y="4270248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A5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325880" y="42062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playwright.config.ts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1325880" y="4471416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测试配置文件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114800" y="4270248"/>
            <a:ext cx="54864" cy="4114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40" name="Text 38"/>
          <p:cNvSpPr/>
          <p:nvPr/>
        </p:nvSpPr>
        <p:spPr>
          <a:xfrm>
            <a:off x="4343400" y="4270248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失败时: 跳转 Module F 自动生成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/ 14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B: 项目自动探索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Agent 核心差异化能力 — 8 个维度全自动分析项目结构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Shape 6"/>
          <p:cNvSpPr/>
          <p:nvPr/>
        </p:nvSpPr>
        <p:spPr>
          <a:xfrm>
            <a:off x="640080" y="1463040"/>
            <a:ext cx="457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463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1188720" y="1444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框架检测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580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扫描: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package.json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输出: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React/Vue/Svelte/Solid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651760" y="12801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651760" y="12801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2"/>
          <p:cNvSpPr/>
          <p:nvPr/>
        </p:nvSpPr>
        <p:spPr>
          <a:xfrm>
            <a:off x="2743200" y="1463040"/>
            <a:ext cx="457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0" y="1463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291840" y="1444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构建工具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78892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扫描: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vite.config.*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输出: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dev server 命令 &amp; 端口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754880" y="12801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54880" y="12801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0" name="Shape 18"/>
          <p:cNvSpPr/>
          <p:nvPr/>
        </p:nvSpPr>
        <p:spPr>
          <a:xfrm>
            <a:off x="4846320" y="1463040"/>
            <a:ext cx="457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4846320" y="1463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394960" y="1444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路由结构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9204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扫描: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Route 定义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输出: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页面列表 &amp; URL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858000" y="128016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858000" y="128016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6" name="Shape 24"/>
          <p:cNvSpPr/>
          <p:nvPr/>
        </p:nvSpPr>
        <p:spPr>
          <a:xfrm>
            <a:off x="6949440" y="1463040"/>
            <a:ext cx="457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7" name="Text 25"/>
          <p:cNvSpPr/>
          <p:nvPr/>
        </p:nvSpPr>
        <p:spPr>
          <a:xfrm>
            <a:off x="6949440" y="1463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7498080" y="144475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组件清单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6995160" y="187452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扫描: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src/components/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输出: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Props + 事件 + 依赖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48640" y="29718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548640" y="29718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2" name="Shape 30"/>
          <p:cNvSpPr/>
          <p:nvPr/>
        </p:nvSpPr>
        <p:spPr>
          <a:xfrm>
            <a:off x="640080" y="3154680"/>
            <a:ext cx="457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3" name="Text 31"/>
          <p:cNvSpPr/>
          <p:nvPr/>
        </p:nvSpPr>
        <p:spPr>
          <a:xfrm>
            <a:off x="640080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B5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88720" y="31363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样式方案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85800" y="3566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扫描: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依赖 &amp; 配置文件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输出: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Tailwind/CSS Modules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651760" y="29718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651760" y="29718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8" name="Shape 36"/>
          <p:cNvSpPr/>
          <p:nvPr/>
        </p:nvSpPr>
        <p:spPr>
          <a:xfrm>
            <a:off x="2743200" y="3154680"/>
            <a:ext cx="457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9" name="Text 37"/>
          <p:cNvSpPr/>
          <p:nvPr/>
        </p:nvSpPr>
        <p:spPr>
          <a:xfrm>
            <a:off x="2743200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B6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291840" y="31363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i18n 检测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2788920" y="3566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扫描: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i18n 依赖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输出: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语言列表 &amp; Provider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4754880" y="29718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4754880" y="29718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4" name="Shape 42"/>
          <p:cNvSpPr/>
          <p:nvPr/>
        </p:nvSpPr>
        <p:spPr>
          <a:xfrm>
            <a:off x="4846320" y="3154680"/>
            <a:ext cx="457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45" name="Text 43"/>
          <p:cNvSpPr/>
          <p:nvPr/>
        </p:nvSpPr>
        <p:spPr>
          <a:xfrm>
            <a:off x="4846320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B7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94960" y="31363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现有测试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4892040" y="3566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扫描: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*.spec.* 扫描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输出: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已有覆盖范围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858000" y="2971800"/>
            <a:ext cx="1920240" cy="1463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9" name="Shape 47"/>
          <p:cNvSpPr/>
          <p:nvPr/>
        </p:nvSpPr>
        <p:spPr>
          <a:xfrm>
            <a:off x="6858000" y="2971800"/>
            <a:ext cx="192024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0" name="Shape 48"/>
          <p:cNvSpPr/>
          <p:nvPr/>
        </p:nvSpPr>
        <p:spPr>
          <a:xfrm>
            <a:off x="6949440" y="3154680"/>
            <a:ext cx="457200" cy="25603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51" name="Text 49"/>
          <p:cNvSpPr/>
          <p:nvPr/>
        </p:nvSpPr>
        <p:spPr>
          <a:xfrm>
            <a:off x="6949440" y="315468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B8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7498080" y="3136392"/>
            <a:ext cx="1188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分析报告</a:t>
            </a:r>
            <a:endParaRPr lang="en-US" sz="1100" dirty="0"/>
          </a:p>
        </p:txBody>
      </p:sp>
      <p:sp>
        <p:nvSpPr>
          <p:cNvPr id="53" name="Text 51"/>
          <p:cNvSpPr/>
          <p:nvPr/>
        </p:nvSpPr>
        <p:spPr>
          <a:xfrm>
            <a:off x="6995160" y="3566160"/>
            <a:ext cx="1645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扫描: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汇总 B1-B7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输出: </a:t>
            </a:r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推荐测试策略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/ 14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探索结果 → 测试生成 数据驱动关系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548640" y="1188720"/>
            <a:ext cx="1645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1887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B1 框架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48640" y="1783080"/>
            <a:ext cx="1645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7830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B2 构建工具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48640" y="2377440"/>
            <a:ext cx="1645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2377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B3 路由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48640" y="2971800"/>
            <a:ext cx="1645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9718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B4 组件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566160"/>
            <a:ext cx="1645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5661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B5 样式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48640" y="4160520"/>
            <a:ext cx="1645920" cy="45720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6" name="Text 14"/>
          <p:cNvSpPr/>
          <p:nvPr/>
        </p:nvSpPr>
        <p:spPr>
          <a:xfrm>
            <a:off x="548640" y="41605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B6 i18n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754880" y="1188720"/>
            <a:ext cx="32918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8" name="Text 16"/>
          <p:cNvSpPr/>
          <p:nvPr/>
        </p:nvSpPr>
        <p:spPr>
          <a:xfrm>
            <a:off x="4754880" y="11887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CT 包 &amp; 配置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1783080"/>
            <a:ext cx="32918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78308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webServer &amp; baseURL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377440"/>
            <a:ext cx="32918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2" name="Text 20"/>
          <p:cNvSpPr/>
          <p:nvPr/>
        </p:nvSpPr>
        <p:spPr>
          <a:xfrm>
            <a:off x="4754880" y="237744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页面测试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2971800"/>
            <a:ext cx="329184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4" name="Text 22"/>
          <p:cNvSpPr/>
          <p:nvPr/>
        </p:nvSpPr>
        <p:spPr>
          <a:xfrm>
            <a:off x="4754880" y="297180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组件测试文件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566160"/>
            <a:ext cx="3291840" cy="4572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56616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CT Vite 配置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754880" y="4160520"/>
            <a:ext cx="3291840" cy="4572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8" name="Text 26"/>
          <p:cNvSpPr/>
          <p:nvPr/>
        </p:nvSpPr>
        <p:spPr>
          <a:xfrm>
            <a:off x="4754880" y="4160520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Provider 包装 &amp; 多语言测试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194560" y="1417320"/>
            <a:ext cx="2560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2194560" y="2011680"/>
            <a:ext cx="2560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2194560" y="2606040"/>
            <a:ext cx="2560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32" name="Shape 30"/>
          <p:cNvSpPr/>
          <p:nvPr/>
        </p:nvSpPr>
        <p:spPr>
          <a:xfrm>
            <a:off x="2194560" y="3200400"/>
            <a:ext cx="2560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33" name="Shape 31"/>
          <p:cNvSpPr/>
          <p:nvPr/>
        </p:nvSpPr>
        <p:spPr>
          <a:xfrm>
            <a:off x="2194560" y="3794760"/>
            <a:ext cx="2560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34" name="Shape 32"/>
          <p:cNvSpPr/>
          <p:nvPr/>
        </p:nvSpPr>
        <p:spPr>
          <a:xfrm>
            <a:off x="2194560" y="4389120"/>
            <a:ext cx="2560320" cy="0"/>
          </a:xfrm>
          <a:prstGeom prst="line">
            <a:avLst/>
          </a:prstGeom>
          <a:noFill/>
          <a:ln w="15240">
            <a:solidFill>
              <a:srgbClr val="94A3B8"/>
            </a:solidFill>
            <a:prstDash val="dash"/>
          </a:ln>
        </p:spPr>
      </p:sp>
      <p:sp>
        <p:nvSpPr>
          <p:cNvPr id="35" name="Shape 33"/>
          <p:cNvSpPr/>
          <p:nvPr/>
        </p:nvSpPr>
        <p:spPr>
          <a:xfrm>
            <a:off x="2743200" y="2377440"/>
            <a:ext cx="1645920" cy="73152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36" name="Text 34"/>
          <p:cNvSpPr/>
          <p:nvPr/>
        </p:nvSpPr>
        <p:spPr>
          <a:xfrm>
            <a:off x="2743200" y="2377440"/>
            <a:ext cx="16459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数据驱动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自动映射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/ 14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C: E2E 端到端测试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40480" cy="50292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15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模式 C1: 交互式 (playwright-cli)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3736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1. playwright-cli open &lt;url&gt;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77240" y="2167128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2. playwright-cli snapshot → 分析 DOM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77240" y="2596896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3. playwright-cli click/fill → 交互操作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77240" y="3026664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4. playwright-cli eval → 执行断言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777240" y="3456432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5. playwright-cli screenshot → 保存证据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777240" y="3886200"/>
            <a:ext cx="3383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6. 收集生成的代码 → .spec.ts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4754880" y="109728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754880" y="1097280"/>
            <a:ext cx="3840480" cy="50292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6" name="Text 14"/>
          <p:cNvSpPr/>
          <p:nvPr/>
        </p:nvSpPr>
        <p:spPr>
          <a:xfrm>
            <a:off x="4937760" y="1115568"/>
            <a:ext cx="3474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模式 C2: 自动化脚本生成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83480" y="1783080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页面加载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goto + 关键元素 toBeVisible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83480" y="2258568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导航跳转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click link + toHaveURL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2734056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表单交互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fill + 验证过滤结果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983480" y="3209544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i18n 切换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切换语言 + 验证文案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983480" y="3685032"/>
            <a:ext cx="3383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完整旅程</a:t>
            </a:r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多页面串联操作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48640" y="457200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规则: 使用语义化定位器 (getByRole, getByText, getByLabel)，每个页面独立 spec 文件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/ 14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D: 组件测试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 Component Testing — 浏览器中隔离挂载和测试单个组件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548640" y="1280160"/>
            <a:ext cx="2651760" cy="54864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8" name="Shape 6"/>
          <p:cNvSpPr/>
          <p:nvPr/>
        </p:nvSpPr>
        <p:spPr>
          <a:xfrm>
            <a:off x="1371600" y="1463040"/>
            <a:ext cx="914400" cy="914400"/>
          </a:xfrm>
          <a:prstGeom prst="oval">
            <a:avLst/>
          </a:prstGeom>
          <a:solidFill>
            <a:srgbClr val="8B5CF6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CT 配置生成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926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检测框架 → 选择 CT 包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复用 Vite/PostCSS 配置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确保 Tailwind 样式正确加载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8328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383280" y="1280160"/>
            <a:ext cx="26517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14" name="Shape 12"/>
          <p:cNvSpPr/>
          <p:nvPr/>
        </p:nvSpPr>
        <p:spPr>
          <a:xfrm>
            <a:off x="4206240" y="1463040"/>
            <a:ext cx="914400" cy="91440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420624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52044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测试工具生成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611880" y="2926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MemoryRouter wrapper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I18nProvider wrapper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组合 TestWrapper 导出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217920" y="1280160"/>
            <a:ext cx="2651760" cy="3017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17920" y="1280160"/>
            <a:ext cx="26517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0" name="Shape 18"/>
          <p:cNvSpPr/>
          <p:nvPr/>
        </p:nvSpPr>
        <p:spPr>
          <a:xfrm>
            <a:off x="7040880" y="1463040"/>
            <a:ext cx="914400" cy="914400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21" name="Text 19"/>
          <p:cNvSpPr/>
          <p:nvPr/>
        </p:nvSpPr>
        <p:spPr>
          <a:xfrm>
            <a:off x="7040880" y="146304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D3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355080" y="25146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组件测试生成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446520" y="2926080"/>
            <a:ext cx="21945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渲染测试 (mount + toBeVisible)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Props 测试 (不同值 → 渲染)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事件测试 (回调追踪)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5" name="Text 23"/>
          <p:cNvSpPr/>
          <p:nvPr/>
        </p:nvSpPr>
        <p:spPr>
          <a:xfrm>
            <a:off x="548640" y="4434840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支持框架: React  ·  Vue  ·  Svelte  ·  Solid   |   自动检测并适配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 / 14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E: 视觉回归测试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3840480" cy="4572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1155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E1: 交互式截图 (playwright-cli)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77240" y="1691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 → screenshot (Desktop)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resize 768 1024 → screenshot (Tablet)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resize 375 812 → screenshot (Mobile)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8404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1097280"/>
            <a:ext cx="3840480" cy="4572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1" name="Text 9"/>
          <p:cNvSpPr/>
          <p:nvPr/>
        </p:nvSpPr>
        <p:spPr>
          <a:xfrm>
            <a:off x="4937760" y="1115568"/>
            <a:ext cx="34747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E2: 自动化回归 (toHaveScreenshot)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83480" y="1691640"/>
            <a:ext cx="33832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每个路由页面 → 全页截图测试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关键页面 × 3 视口 → 响应式截图</a:t>
            </a:r>
            <a:endParaRPr lang="en-US" sz="950" dirty="0"/>
          </a:p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检测到 i18n → 多语言截图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8046720" cy="146304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24612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截图覆盖矩阵 (以 TravelVista 为例)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页面  ×  3 视口  ×  2 语言  =  最多 24 组截图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914400" y="4023360"/>
            <a:ext cx="2011680" cy="50292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Mobile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375×812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474720" y="4023360"/>
            <a:ext cx="2011680" cy="50292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9" name="Text 17"/>
          <p:cNvSpPr/>
          <p:nvPr/>
        </p:nvSpPr>
        <p:spPr>
          <a:xfrm>
            <a:off x="347472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Tablet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768×1024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035040" y="4023360"/>
            <a:ext cx="2011680" cy="50292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21" name="Text 19"/>
          <p:cNvSpPr/>
          <p:nvPr/>
        </p:nvSpPr>
        <p:spPr>
          <a:xfrm>
            <a:off x="6035040" y="402336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Desktop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1280×720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 / 14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视觉回归测试生命周期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196596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1280160"/>
            <a:ext cx="640080" cy="640080"/>
          </a:xfrm>
          <a:prstGeom prst="oval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64008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首次运行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85800" y="23774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执行 --update-snapshots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生成基准截图 (baseline)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存入 *-snapshots/ 目录</a:t>
            </a:r>
            <a:endParaRPr lang="en-US" sz="900" dirty="0"/>
          </a:p>
        </p:txBody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423160" y="2148840"/>
            <a:ext cx="256032" cy="25603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2697480" y="109728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2697480" y="1097280"/>
            <a:ext cx="1965960" cy="54864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4" name="Shape 11"/>
          <p:cNvSpPr/>
          <p:nvPr/>
        </p:nvSpPr>
        <p:spPr>
          <a:xfrm>
            <a:off x="3337560" y="1280160"/>
            <a:ext cx="640080" cy="640080"/>
          </a:xfrm>
          <a:prstGeom prst="oval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333756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2000" dirty="0"/>
          </a:p>
        </p:txBody>
      </p:sp>
      <p:sp>
        <p:nvSpPr>
          <p:cNvPr id="16" name="Text 13"/>
          <p:cNvSpPr/>
          <p:nvPr/>
        </p:nvSpPr>
        <p:spPr>
          <a:xfrm>
            <a:off x="278892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提交基准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2834640" y="23774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add *-snapshots/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git commit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基准纳入版本控制</a:t>
            </a:r>
            <a:endParaRPr lang="en-US" sz="90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2148840"/>
            <a:ext cx="256032" cy="25603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4846320" y="109728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4846320" y="1097280"/>
            <a:ext cx="1965960" cy="54864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21" name="Shape 17"/>
          <p:cNvSpPr/>
          <p:nvPr/>
        </p:nvSpPr>
        <p:spPr>
          <a:xfrm>
            <a:off x="5486400" y="1280160"/>
            <a:ext cx="640080" cy="640080"/>
          </a:xfrm>
          <a:prstGeom prst="oval">
            <a:avLst/>
          </a:prstGeom>
          <a:solidFill>
            <a:srgbClr val="059669"/>
          </a:solidFill>
          <a:ln/>
        </p:spPr>
      </p:sp>
      <p:sp>
        <p:nvSpPr>
          <p:cNvPr id="22" name="Text 18"/>
          <p:cNvSpPr/>
          <p:nvPr/>
        </p:nvSpPr>
        <p:spPr>
          <a:xfrm>
            <a:off x="548640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2000" dirty="0"/>
          </a:p>
        </p:txBody>
      </p:sp>
      <p:sp>
        <p:nvSpPr>
          <p:cNvPr id="23" name="Text 19"/>
          <p:cNvSpPr/>
          <p:nvPr/>
        </p:nvSpPr>
        <p:spPr>
          <a:xfrm>
            <a:off x="493776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回归对比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4983480" y="23774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截取当前截图 (actual)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与基准逐像素对比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maxDiffPixelRatio: 0.01</a:t>
            </a:r>
            <a:endParaRPr lang="en-US" sz="900" dirty="0"/>
          </a:p>
        </p:txBody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20840" y="2148840"/>
            <a:ext cx="256032" cy="256032"/>
          </a:xfrm>
          <a:prstGeom prst="rect">
            <a:avLst/>
          </a:prstGeom>
        </p:spPr>
      </p:pic>
      <p:sp>
        <p:nvSpPr>
          <p:cNvPr id="26" name="Shape 21"/>
          <p:cNvSpPr/>
          <p:nvPr/>
        </p:nvSpPr>
        <p:spPr>
          <a:xfrm>
            <a:off x="6995160" y="1097280"/>
            <a:ext cx="196596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6995160" y="1097280"/>
            <a:ext cx="1965960" cy="54864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28" name="Shape 23"/>
          <p:cNvSpPr/>
          <p:nvPr/>
        </p:nvSpPr>
        <p:spPr>
          <a:xfrm>
            <a:off x="7635240" y="1280160"/>
            <a:ext cx="640080" cy="640080"/>
          </a:xfrm>
          <a:prstGeom prst="oval">
            <a:avLst/>
          </a:prstGeom>
          <a:solidFill>
            <a:srgbClr val="EC4899"/>
          </a:solidFill>
          <a:ln/>
        </p:spPr>
      </p:sp>
      <p:sp>
        <p:nvSpPr>
          <p:cNvPr id="29" name="Text 24"/>
          <p:cNvSpPr/>
          <p:nvPr/>
        </p:nvSpPr>
        <p:spPr>
          <a:xfrm>
            <a:off x="7635240" y="128016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2000" dirty="0"/>
          </a:p>
        </p:txBody>
      </p:sp>
      <p:sp>
        <p:nvSpPr>
          <p:cNvPr id="30" name="Text 25"/>
          <p:cNvSpPr/>
          <p:nvPr/>
        </p:nvSpPr>
        <p:spPr>
          <a:xfrm>
            <a:off x="7086600" y="201168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结果处理</a:t>
            </a:r>
            <a:endParaRPr lang="en-US" sz="1200" dirty="0"/>
          </a:p>
        </p:txBody>
      </p:sp>
      <p:sp>
        <p:nvSpPr>
          <p:cNvPr id="31" name="Text 26"/>
          <p:cNvSpPr/>
          <p:nvPr/>
        </p:nvSpPr>
        <p:spPr>
          <a:xfrm>
            <a:off x="7132320" y="2377440"/>
            <a:ext cx="16916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PASS → 无差异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FAIL → 生成 diff 图片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→ 修复 Bug 或更新基准</a:t>
            </a:r>
            <a:endParaRPr lang="en-US" sz="900" dirty="0"/>
          </a:p>
        </p:txBody>
      </p:sp>
      <p:sp>
        <p:nvSpPr>
          <p:cNvPr id="32" name="Shape 27"/>
          <p:cNvSpPr/>
          <p:nvPr/>
        </p:nvSpPr>
        <p:spPr>
          <a:xfrm>
            <a:off x="548640" y="3840480"/>
            <a:ext cx="8046720" cy="777240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3" name="Text 28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Expected (基准)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⟷  像素对比 (1% 容差)  ⟷  </a:t>
            </a:r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Actual (当前)</a:t>
            </a:r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  →  </a:t>
            </a:r>
            <a:pPr algn="ctr" indent="0" marL="0">
              <a:buNone/>
            </a:pPr>
            <a:r>
              <a:rPr lang="en-US" sz="1100" b="1" dirty="0">
                <a:solidFill>
                  <a:srgbClr val="EF44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Diff (红色标记差异区域)</a:t>
            </a:r>
            <a:endParaRPr lang="en-US" sz="1100" dirty="0"/>
          </a:p>
        </p:txBody>
      </p:sp>
      <p:sp>
        <p:nvSpPr>
          <p:cNvPr id="34" name="Text 2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 / 14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Module F: 配置自动生成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155448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playwright.config.ts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+ Visual 两个 project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webServer 自动探测 dev 命令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baseURL 从 vite.config 获取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846320" y="10972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46320" y="1097280"/>
            <a:ext cx="73152" cy="1554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1" name="Text 9"/>
          <p:cNvSpPr/>
          <p:nvPr/>
        </p:nvSpPr>
        <p:spPr>
          <a:xfrm>
            <a:off x="50749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playwright-ct.config.ts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074920" y="15544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框架自适应 CT 配置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复用项目 PostCSS/Tailwind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确保组件样式正确渲染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4864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48640" y="2926080"/>
            <a:ext cx="73152" cy="155448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package.json scripts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7724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test:e2e / test:visual / test:ct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test:all / test:update-snapshots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标准化测试命令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846320" y="2926080"/>
            <a:ext cx="393192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46320" y="2926080"/>
            <a:ext cx="73152" cy="155448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9" name="Text 17"/>
          <p:cNvSpPr/>
          <p:nvPr/>
        </p:nvSpPr>
        <p:spPr>
          <a:xfrm>
            <a:off x="5074920" y="30175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.gitignore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074920" y="338328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test-results/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playwright-report/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blob-report/ / .playwright/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 / 14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标准测试目录结构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97280"/>
            <a:ext cx="4114800" cy="3657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77240" y="1280160"/>
            <a:ext cx="3657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tests/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0596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e2e/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homepage.spec.ts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destinations.spec.ts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user-journey.spec.ts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5CF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component/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SearchBar.spec.tsx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DestinationCard.spec.tsx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Navbar.spec.tsx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EC489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├── visual/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├── pages.visual.spec.ts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│   └── responsive.visual.spec.ts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└── fixtures/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└── test-utils.ts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0" y="118872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029200" y="1188720"/>
            <a:ext cx="54864" cy="6858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9" name="Text 7"/>
          <p:cNvSpPr/>
          <p:nvPr/>
        </p:nvSpPr>
        <p:spPr>
          <a:xfrm>
            <a:off x="5212080" y="1234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5966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e2e/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212080" y="1508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测试 — 每个页面/功能一个文件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0" y="205740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029200" y="2057400"/>
            <a:ext cx="54864" cy="68580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3" name="Text 11"/>
          <p:cNvSpPr/>
          <p:nvPr/>
        </p:nvSpPr>
        <p:spPr>
          <a:xfrm>
            <a:off x="5212080" y="2103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component/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212080" y="23774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组件测试 — 每个组件一个文件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029200" y="292608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029200" y="2926080"/>
            <a:ext cx="54864" cy="685800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17" name="Text 15"/>
          <p:cNvSpPr/>
          <p:nvPr/>
        </p:nvSpPr>
        <p:spPr>
          <a:xfrm>
            <a:off x="5212080" y="2971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C4899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visual/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212080" y="32461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视觉回归 — 页面截图 + 响应式截图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029200" y="3794760"/>
            <a:ext cx="3566160" cy="685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029200" y="3794760"/>
            <a:ext cx="54864" cy="6858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1" name="Text 19"/>
          <p:cNvSpPr/>
          <p:nvPr/>
        </p:nvSpPr>
        <p:spPr>
          <a:xfrm>
            <a:off x="5212080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fixtures/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12080" y="411480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共享工具 — Provider wrappers, mock data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 / 14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测试执行命令速查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48640" y="1051560"/>
            <a:ext cx="8046720" cy="41148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051560"/>
            <a:ext cx="2560320" cy="411480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测试类型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3108960" y="10515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命令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1463040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463040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全部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108960" y="146304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--project=e2e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48640" y="1764792"/>
            <a:ext cx="8046720" cy="3017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764792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视觉回归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108960" y="176479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--project=visual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548640" y="2066544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066544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组件测试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108960" y="206654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-c playwright-ct.config.ts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48640" y="2368296"/>
            <a:ext cx="8046720" cy="3017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2368296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全部测试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108960" y="236829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npm run test:all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548640" y="2670048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670048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指定文件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108960" y="267004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{file}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" y="2971800"/>
            <a:ext cx="8046720" cy="3017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24" name="Text 22"/>
          <p:cNvSpPr/>
          <p:nvPr/>
        </p:nvSpPr>
        <p:spPr>
          <a:xfrm>
            <a:off x="548640" y="2971800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匹配名称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3108960" y="297180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-g "{pattern}"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48640" y="3273552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273552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头模式 (可见浏览器)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3108960" y="3273552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--headed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48640" y="3575304"/>
            <a:ext cx="8046720" cy="3017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0" name="Text 28"/>
          <p:cNvSpPr/>
          <p:nvPr/>
        </p:nvSpPr>
        <p:spPr>
          <a:xfrm>
            <a:off x="548640" y="3575304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调试模式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108960" y="3575304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--debug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48640" y="3877056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Text 31"/>
          <p:cNvSpPr/>
          <p:nvPr/>
        </p:nvSpPr>
        <p:spPr>
          <a:xfrm>
            <a:off x="548640" y="3877056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UI 模式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108960" y="3877056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--ui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48640" y="4178808"/>
            <a:ext cx="8046720" cy="301752"/>
          </a:xfrm>
          <a:prstGeom prst="rect">
            <a:avLst/>
          </a:prstGeom>
          <a:solidFill>
            <a:srgbClr val="F0F9FF"/>
          </a:solidFill>
          <a:ln/>
        </p:spPr>
      </p:sp>
      <p:sp>
        <p:nvSpPr>
          <p:cNvPr id="36" name="Text 34"/>
          <p:cNvSpPr/>
          <p:nvPr/>
        </p:nvSpPr>
        <p:spPr>
          <a:xfrm>
            <a:off x="548640" y="4178808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更新截图基准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3108960" y="4178808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test --project=visual --update-snapshots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548640" y="4480560"/>
            <a:ext cx="8046720" cy="30175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548640" y="4480560"/>
            <a:ext cx="2560320" cy="301752"/>
          </a:xfrm>
          <a:prstGeom prst="rect">
            <a:avLst/>
          </a:prstGeom>
          <a:noFill/>
          <a:ln/>
        </p:spPr>
        <p:txBody>
          <a:bodyPr wrap="square" lIns="0" tIns="12700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查看 HTML 报告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108960" y="4480560"/>
            <a:ext cx="548640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33415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npx playwright show-report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 / 14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777740"/>
            <a:ext cx="9144000" cy="365760"/>
          </a:xfrm>
          <a:prstGeom prst="rect">
            <a:avLst/>
          </a:prstGeom>
          <a:solidFill>
            <a:srgbClr val="1A2744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TravelVista 实际执行时序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48640" y="777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以 TravelVista 项目 (React 19 + Vite 8 + Tailwind 4 + i18n) 为例验证 Agent 通用能力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48640" y="1188720"/>
            <a:ext cx="594360" cy="347472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1887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1-2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280160" y="1188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环境检查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743200" y="11887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playwright-cli ✓, @playwright/test ✓, ct-react ✓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48640" y="157276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1645920"/>
            <a:ext cx="594360" cy="347472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16459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3-6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280160" y="1645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项目探索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2743200" y="16459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React 19 · Vite 8 · 4 路由 · 7 组件 · zh/en · Tailwind 4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548640" y="202996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" y="2103120"/>
            <a:ext cx="594360" cy="347472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21031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7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80160" y="2103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配置生成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2743200" y="21031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playwright.config.ts + playwright-ct.config.ts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548640" y="248716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48640" y="2560320"/>
            <a:ext cx="59436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25603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280160" y="25603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工具生成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743200" y="25603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test-utils.ts (MemoryRouter + I18nProvider)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48640" y="294436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017520"/>
            <a:ext cx="594360" cy="347472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27" name="Text 25"/>
          <p:cNvSpPr/>
          <p:nvPr/>
        </p:nvSpPr>
        <p:spPr>
          <a:xfrm>
            <a:off x="548640" y="30175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9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280160" y="30175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组件测试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2743200" y="30175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 组件 → 6 个 .spec.tsx 文件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548640" y="340156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48640" y="3474720"/>
            <a:ext cx="594360" cy="347472"/>
          </a:xfrm>
          <a:prstGeom prst="rect">
            <a:avLst/>
          </a:prstGeom>
          <a:solidFill>
            <a:srgbClr val="059669"/>
          </a:solidFill>
          <a:ln/>
        </p:spPr>
      </p:sp>
      <p:sp>
        <p:nvSpPr>
          <p:cNvPr id="32" name="Text 30"/>
          <p:cNvSpPr/>
          <p:nvPr/>
        </p:nvSpPr>
        <p:spPr>
          <a:xfrm>
            <a:off x="548640" y="34747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1280160" y="34747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E2E 测试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0" y="34747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页面 + 1 跨页旅程 + 语言切换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548640" y="385876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48640" y="3931920"/>
            <a:ext cx="594360" cy="347472"/>
          </a:xfrm>
          <a:prstGeom prst="rect">
            <a:avLst/>
          </a:prstGeom>
          <a:solidFill>
            <a:srgbClr val="EC4899"/>
          </a:solidFill>
          <a:ln/>
        </p:spPr>
      </p:sp>
      <p:sp>
        <p:nvSpPr>
          <p:cNvPr id="37" name="Text 35"/>
          <p:cNvSpPr/>
          <p:nvPr/>
        </p:nvSpPr>
        <p:spPr>
          <a:xfrm>
            <a:off x="548640" y="39319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11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1280160" y="39319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视觉回归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2743200" y="39319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页面 × 3 视口 × 2 语言 = 24 组截图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548640" y="4315968"/>
            <a:ext cx="8046720" cy="0"/>
          </a:xfrm>
          <a:prstGeom prst="line">
            <a:avLst/>
          </a:prstGeom>
          <a:noFill/>
          <a:ln w="635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48640" y="4389120"/>
            <a:ext cx="594360" cy="347472"/>
          </a:xfrm>
          <a:prstGeom prst="rect">
            <a:avLst/>
          </a:prstGeom>
          <a:solidFill>
            <a:srgbClr val="0EA5E9"/>
          </a:solidFill>
          <a:ln/>
        </p:spPr>
      </p:sp>
      <p:sp>
        <p:nvSpPr>
          <p:cNvPr id="42" name="Text 40"/>
          <p:cNvSpPr/>
          <p:nvPr/>
        </p:nvSpPr>
        <p:spPr>
          <a:xfrm>
            <a:off x="548640" y="4389120"/>
            <a:ext cx="594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12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280160" y="4389120"/>
            <a:ext cx="1371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A2744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运行报告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2743200" y="4389120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npx playwright test → HTML report</a:t>
            </a:r>
            <a:endParaRPr lang="en-US" sz="950" dirty="0"/>
          </a:p>
        </p:txBody>
      </p:sp>
      <p:sp>
        <p:nvSpPr>
          <p:cNvPr id="45" name="Text 43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13 / 14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4" name="Shape 2"/>
          <p:cNvSpPr/>
          <p:nvPr/>
        </p:nvSpPr>
        <p:spPr>
          <a:xfrm>
            <a:off x="731520" y="1920240"/>
            <a:ext cx="2286000" cy="36576"/>
          </a:xfrm>
          <a:prstGeom prst="rect">
            <a:avLst/>
          </a:prstGeom>
          <a:solidFill>
            <a:srgbClr val="2563EB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2286000"/>
            <a:ext cx="76809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框架无关 — 支持 React / Vue / Svelte / Solid / 纯 HTML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自动探索 — 8 维度项目分析，零手动配置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三大测试 — 组件测试 + E2E + 视觉回归全覆盖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双模式 — playwright-cli 交互 + 自动化脚本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一键复制 — 可直接迁移到任何前端项目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0" y="480060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14 / 14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Universal UI Testing Agent — 工作流程详解</dc:title>
  <dc:subject>PptxGenJS Presentation</dc:subject>
  <dc:creator>UI Test Agent</dc:creator>
  <cp:lastModifiedBy>UI Test Agent</cp:lastModifiedBy>
  <cp:revision>1</cp:revision>
  <dcterms:created xsi:type="dcterms:W3CDTF">2026-03-16T15:06:18Z</dcterms:created>
  <dcterms:modified xsi:type="dcterms:W3CDTF">2026-03-16T15:06:18Z</dcterms:modified>
</cp:coreProperties>
</file>