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7315200" cy="731520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7616952" y="2286000"/>
            <a:ext cx="6400800" cy="6400800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381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381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381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381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381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381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381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381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381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381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381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381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3810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381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381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914400"/>
            <a:ext cx="12188952" cy="0"/>
          </a:xfrm>
          <a:prstGeom prst="line">
            <a:avLst/>
          </a:prstGeom>
          <a:noFill/>
          <a:ln w="381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1828800"/>
            <a:ext cx="12188952" cy="0"/>
          </a:xfrm>
          <a:prstGeom prst="line">
            <a:avLst/>
          </a:prstGeom>
          <a:noFill/>
          <a:ln w="381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2743200"/>
            <a:ext cx="12188952" cy="0"/>
          </a:xfrm>
          <a:prstGeom prst="line">
            <a:avLst/>
          </a:prstGeom>
          <a:noFill/>
          <a:ln w="3810">
            <a:solidFill>
              <a:srgbClr val="3341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3657600"/>
            <a:ext cx="12188952" cy="0"/>
          </a:xfrm>
          <a:prstGeom prst="line">
            <a:avLst/>
          </a:prstGeom>
          <a:noFill/>
          <a:ln w="3810">
            <a:solidFill>
              <a:srgbClr val="3341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4572000"/>
            <a:ext cx="12188952" cy="0"/>
          </a:xfrm>
          <a:prstGeom prst="line">
            <a:avLst/>
          </a:prstGeom>
          <a:noFill/>
          <a:ln w="3810">
            <a:solidFill>
              <a:srgbClr val="3341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5486400"/>
            <a:ext cx="12188952" cy="0"/>
          </a:xfrm>
          <a:prstGeom prst="line">
            <a:avLst/>
          </a:prstGeom>
          <a:noFill/>
          <a:ln w="3810">
            <a:solidFill>
              <a:srgbClr val="3341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6400800"/>
            <a:ext cx="12188952" cy="0"/>
          </a:xfrm>
          <a:prstGeom prst="line">
            <a:avLst/>
          </a:prstGeom>
          <a:noFill/>
          <a:ln w="381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UNIVERSAL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914400" y="201168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UI Testing Agent</a:t>
            </a:r>
            <a:endParaRPr lang="en-US" sz="5600" dirty="0"/>
          </a:p>
        </p:txBody>
      </p:sp>
      <p:sp>
        <p:nvSpPr>
          <p:cNvPr id="29" name="Text 27"/>
          <p:cNvSpPr/>
          <p:nvPr/>
        </p:nvSpPr>
        <p:spPr>
          <a:xfrm>
            <a:off x="914400" y="3200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AI-Driven Testing Architecture &amp; Implementation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914400" y="3931920"/>
            <a:ext cx="2743200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1" name="Shape 29"/>
          <p:cNvSpPr/>
          <p:nvPr/>
        </p:nvSpPr>
        <p:spPr>
          <a:xfrm>
            <a:off x="914400" y="4206240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42062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Playwright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606040" y="4206240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06040" y="42062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React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297680" y="4206240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97680" y="42062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989320" y="4206240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89320" y="42062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Azure Cloud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680960" y="4206240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80960" y="42062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CI/CD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9372600" y="4206240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372600" y="42062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Visual Regression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914400" y="5120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TravelVista Demo Project  ·  React 19 + Vite 8 + Tailwind 4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914400" y="5486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2026.03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9445752" y="5120640"/>
            <a:ext cx="1645920" cy="411480"/>
          </a:xfrm>
          <a:prstGeom prst="roundRect">
            <a:avLst>
              <a:gd name="adj" fmla="val 48889"/>
            </a:avLst>
          </a:prstGeom>
          <a:solidFill>
            <a:srgbClr val="34D399"/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445752" y="51206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v2.0 · 7 Modules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UI Testing Agent  |  Technical Architecture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817352" y="656539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 / 28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14400" y="3657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CONTENTS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914400" y="960120"/>
            <a:ext cx="1645920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28016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12618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 Agent-Based Testing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63040" y="153619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Testing challenges &amp; AI-driven paradigm shift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1993392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63040" y="197510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Architecture Overview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63040" y="2249424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7-module architecture &amp; data flow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14400" y="2706624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63040" y="268833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Environment Check (Module A)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63040" y="2962656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Automated infrastructure validation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14400" y="3419856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34015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Project Auto-Discovery (Module B)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63040" y="367588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8-dimension intelligent project analysis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14400" y="413308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63040" y="4114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E2E Testing (Module C)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63040" y="43891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Interactive &amp; automated dual-mode testing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14400" y="484632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63040" y="482803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Component Testing (Module D)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463040" y="510235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Isolated component testing with providers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14400" y="5559552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72B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07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463040" y="554126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Visual Regression (Module E)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463040" y="5815584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Multi-viewport screenshot comparison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00800" y="128016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72B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08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949440" y="12618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Configuration (Module F)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949440" y="153619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Auto-generated configs &amp; scripts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00800" y="1993392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8D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09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949440" y="197510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Azure Cloud Integration (Module G)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949440" y="2249424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Playwright Workspace cloud execution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00800" y="2706624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949440" y="268833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CI/CD Pipeline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949440" y="2962656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GitHub Actions &amp; Azure integration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00800" y="3419856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949440" y="34015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TravelVista Demo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949440" y="367588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React 19 SPA live testing showcase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400800" y="413308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949440" y="4114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Gap Analysis &amp; Roadmap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949440" y="43891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Uncovered dimensions &amp; expansion plan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00800" y="484632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13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949440" y="482803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Best Practices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949440" y="510235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Patterns, anti-patterns &amp; tips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400800" y="5559552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949440" y="554126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Summary &amp; Next Steps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6949440" y="5815584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Key takeaways &amp; action items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31352" y="-1371600"/>
            <a:ext cx="5486400" cy="548640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9445752" y="-457200"/>
            <a:ext cx="3657600" cy="3657600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 Agent-Based Testing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914400" y="3520440"/>
            <a:ext cx="228600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7490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Testing Pain Points &amp; the AI-Driven Paradigm Shift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UI Testing Agent  |  Technical Architecture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817352" y="656539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/ 28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UI Testing Agent  |  Technical Architecture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817352" y="656539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 / 28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Traditional Approach vs Agent-Driven Testing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5303520" cy="5029200"/>
          </a:xfrm>
          <a:prstGeom prst="roundRect">
            <a:avLst>
              <a:gd name="adj" fmla="val 2182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2801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72B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❌  Traditional Manual Setup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19202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⏱  Hours spent configuring Playwright, configs, CI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5146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📋  Manually identify routes, components, dependencies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31089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🔁  Copy-paste boilerplate for each test file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37033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🖥  Visual baselines differ across dev machines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42976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🏗  CI pipeline takes multiple iterations to get right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48920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📦  Package upgrades &amp; deprecations require manual research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1097280"/>
            <a:ext cx="5303520" cy="5029200"/>
          </a:xfrm>
          <a:prstGeom prst="roundRect">
            <a:avLst>
              <a:gd name="adj" fmla="val 2182"/>
            </a:avLst>
          </a:prstGeom>
          <a:solidFill>
            <a:srgbClr val="1E293B"/>
          </a:solidFill>
          <a:ln w="6350">
            <a:solidFill>
              <a:srgbClr val="34D399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75120" y="12801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✅  Agent-Driven Automation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75120" y="19202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⚡  One-command environment check &amp; auto-install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75120" y="25146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🔍  Auto-discover routes, components, i18n, styles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75120" y="31089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🤖  AI generates context-aware test code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75120" y="37033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☁️  Azure cloud ensures consistent baselines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75120" y="42976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🔄  CI/CD pipeline auto-generated with secrets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75120" y="48920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📡  Deprecated package detection &amp; migration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77840" y="32004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31352" y="-1371600"/>
            <a:ext cx="5486400" cy="548640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9445752" y="-457200"/>
            <a:ext cx="3657600" cy="3657600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Architecture Overview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914400" y="3520440"/>
            <a:ext cx="228600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7490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7-Module System Architecture &amp; Data Flow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UI Testing Agent  |  Technical Architecture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817352" y="656539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 / 28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UI Testing Agent  |  Technical Architecture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817352" y="656539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 / 28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Agent Module Architecture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777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953 Lines  ·  7 Modules  ·  Framework Agnostic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150876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63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60120" y="1572768"/>
            <a:ext cx="502920" cy="320040"/>
          </a:xfrm>
          <a:prstGeom prst="roundRect">
            <a:avLst>
              <a:gd name="adj" fmla="val 22857"/>
            </a:avLst>
          </a:prstGeom>
          <a:solidFill>
            <a:srgbClr val="38BDF8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1572768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0352" y="196596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Environment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0352" y="2560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 checks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148840" y="1463040"/>
            <a:ext cx="150876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6350">
            <a:solidFill>
              <a:srgbClr val="818CF8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651760" y="1572768"/>
            <a:ext cx="502920" cy="320040"/>
          </a:xfrm>
          <a:prstGeom prst="roundRect">
            <a:avLst>
              <a:gd name="adj" fmla="val 22857"/>
            </a:avLst>
          </a:prstGeom>
          <a:solidFill>
            <a:srgbClr val="818CF8"/>
          </a:solidFill>
          <a:ln/>
        </p:spPr>
      </p:sp>
      <p:sp>
        <p:nvSpPr>
          <p:cNvPr id="15" name="Text 13"/>
          <p:cNvSpPr/>
          <p:nvPr/>
        </p:nvSpPr>
        <p:spPr>
          <a:xfrm>
            <a:off x="2651760" y="1572768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221992" y="196596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Project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Discovery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221992" y="2560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 dimensions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840480" y="1463040"/>
            <a:ext cx="150876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6350">
            <a:solidFill>
              <a:srgbClr val="34D399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343400" y="1572768"/>
            <a:ext cx="502920" cy="320040"/>
          </a:xfrm>
          <a:prstGeom prst="roundRect">
            <a:avLst>
              <a:gd name="adj" fmla="val 22857"/>
            </a:avLst>
          </a:prstGeom>
          <a:solidFill>
            <a:srgbClr val="34D399"/>
          </a:solidFill>
          <a:ln/>
        </p:spPr>
      </p:sp>
      <p:sp>
        <p:nvSpPr>
          <p:cNvPr id="20" name="Text 18"/>
          <p:cNvSpPr/>
          <p:nvPr/>
        </p:nvSpPr>
        <p:spPr>
          <a:xfrm>
            <a:off x="4343400" y="1572768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913632" y="196596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E2E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913632" y="2560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Dual-mode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532120" y="1463040"/>
            <a:ext cx="150876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6350">
            <a:solidFill>
              <a:srgbClr val="F472B6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35040" y="1572768"/>
            <a:ext cx="502920" cy="320040"/>
          </a:xfrm>
          <a:prstGeom prst="roundRect">
            <a:avLst>
              <a:gd name="adj" fmla="val 22857"/>
            </a:avLst>
          </a:prstGeom>
          <a:solidFill>
            <a:srgbClr val="F472B6"/>
          </a:solidFill>
          <a:ln/>
        </p:spPr>
      </p:sp>
      <p:sp>
        <p:nvSpPr>
          <p:cNvPr id="25" name="Text 23"/>
          <p:cNvSpPr/>
          <p:nvPr/>
        </p:nvSpPr>
        <p:spPr>
          <a:xfrm>
            <a:off x="6035040" y="1572768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72B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605272" y="196596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Component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605272" y="2560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3-step CT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223760" y="1463040"/>
            <a:ext cx="150876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6350">
            <a:solidFill>
              <a:srgbClr val="FB923C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726680" y="1572768"/>
            <a:ext cx="502920" cy="320040"/>
          </a:xfrm>
          <a:prstGeom prst="roundRect">
            <a:avLst>
              <a:gd name="adj" fmla="val 22857"/>
            </a:avLst>
          </a:prstGeom>
          <a:solidFill>
            <a:srgbClr val="FB923C"/>
          </a:solidFill>
          <a:ln/>
        </p:spPr>
      </p:sp>
      <p:sp>
        <p:nvSpPr>
          <p:cNvPr id="30" name="Text 28"/>
          <p:cNvSpPr/>
          <p:nvPr/>
        </p:nvSpPr>
        <p:spPr>
          <a:xfrm>
            <a:off x="7726680" y="1572768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296912" y="196596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Visual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Regression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296912" y="2560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modes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8915400" y="1463040"/>
            <a:ext cx="150876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63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418320" y="1572768"/>
            <a:ext cx="502920" cy="320040"/>
          </a:xfrm>
          <a:prstGeom prst="roundRect">
            <a:avLst>
              <a:gd name="adj" fmla="val 22857"/>
            </a:avLst>
          </a:prstGeom>
          <a:solidFill>
            <a:srgbClr val="38BDF8"/>
          </a:solidFill>
          <a:ln/>
        </p:spPr>
      </p:sp>
      <p:sp>
        <p:nvSpPr>
          <p:cNvPr id="35" name="Text 33"/>
          <p:cNvSpPr/>
          <p:nvPr/>
        </p:nvSpPr>
        <p:spPr>
          <a:xfrm>
            <a:off x="9418320" y="1572768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988552" y="196596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Config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Generation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988552" y="2560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 generators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0607040" y="1463040"/>
            <a:ext cx="150876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6350">
            <a:solidFill>
              <a:srgbClr val="0078D4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11109960" y="1572768"/>
            <a:ext cx="502920" cy="320040"/>
          </a:xfrm>
          <a:prstGeom prst="roundRect">
            <a:avLst>
              <a:gd name="adj" fmla="val 22857"/>
            </a:avLst>
          </a:prstGeom>
          <a:solidFill>
            <a:srgbClr val="0078D4"/>
          </a:solidFill>
          <a:ln/>
        </p:spPr>
      </p:sp>
      <p:sp>
        <p:nvSpPr>
          <p:cNvPr id="40" name="Text 38"/>
          <p:cNvSpPr/>
          <p:nvPr/>
        </p:nvSpPr>
        <p:spPr>
          <a:xfrm>
            <a:off x="11109960" y="1572768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8D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0680192" y="196596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Azure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Cloud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0680192" y="2560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 sub-modules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965960" y="19659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3657600" y="19659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349240" y="19659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040880" y="19659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732520" y="19659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0424160" y="19659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57200" y="3291840"/>
            <a:ext cx="11247120" cy="3017520"/>
          </a:xfrm>
          <a:prstGeom prst="roundRect">
            <a:avLst>
              <a:gd name="adj" fmla="val 3636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731520" y="3429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Execution Flow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1188720" y="3931920"/>
            <a:ext cx="411480" cy="4114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188720" y="3931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731520" y="44805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Session Start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A: Env Check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828800" y="39319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2761488" y="3931920"/>
            <a:ext cx="411480" cy="411480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61488" y="3931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18C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2304288" y="44805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Request Received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B: Discovery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3401568" y="39319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4334256" y="3931920"/>
            <a:ext cx="411480" cy="411480"/>
          </a:xfrm>
          <a:prstGeom prst="ellipse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334256" y="3931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3877056" y="44805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User Selects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 Type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974336" y="39319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5907024" y="3931920"/>
            <a:ext cx="411480" cy="41148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907024" y="3931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8D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5449824" y="44805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Environment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Local / Cloud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6547104" y="39319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400" dirty="0"/>
          </a:p>
        </p:txBody>
      </p:sp>
      <p:sp>
        <p:nvSpPr>
          <p:cNvPr id="67" name="Shape 65"/>
          <p:cNvSpPr/>
          <p:nvPr/>
        </p:nvSpPr>
        <p:spPr>
          <a:xfrm>
            <a:off x="7479792" y="3931920"/>
            <a:ext cx="411480" cy="4114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479792" y="3931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7022592" y="44805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Generate Configs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F: Config Gen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8119872" y="39319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400" dirty="0"/>
          </a:p>
        </p:txBody>
      </p:sp>
      <p:sp>
        <p:nvSpPr>
          <p:cNvPr id="71" name="Shape 69"/>
          <p:cNvSpPr/>
          <p:nvPr/>
        </p:nvSpPr>
        <p:spPr>
          <a:xfrm>
            <a:off x="9052560" y="3931920"/>
            <a:ext cx="411480" cy="41148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052560" y="3931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8595360" y="44805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Generate Tests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 / D / E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9692640" y="39319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400" dirty="0"/>
          </a:p>
        </p:txBody>
      </p:sp>
      <p:sp>
        <p:nvSpPr>
          <p:cNvPr id="75" name="Shape 73"/>
          <p:cNvSpPr/>
          <p:nvPr/>
        </p:nvSpPr>
        <p:spPr>
          <a:xfrm>
            <a:off x="10625328" y="3931920"/>
            <a:ext cx="411480" cy="41148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0625328" y="3931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10168128" y="44805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Execute &amp; Report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Results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731520" y="55778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Module G (Azure Cloud) augments C &amp; E with cloud execution — D (Component Testing) always runs locally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31352" y="-1371600"/>
            <a:ext cx="5486400" cy="548640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9445752" y="-457200"/>
            <a:ext cx="3657600" cy="3657600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Environment Check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914400" y="3520440"/>
            <a:ext cx="228600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7490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Module A — Automated Infrastructure Validation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UI Testing Agent  |  Technical Architecture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817352" y="656539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 / 28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UI Testing Agent  |  Technical Architecture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817352" y="656539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 / 28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Module A: Environment Check Pipeline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63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280160"/>
            <a:ext cx="640080" cy="365760"/>
          </a:xfrm>
          <a:prstGeom prst="roundRect">
            <a:avLst>
              <a:gd name="adj" fmla="val 20000"/>
            </a:avLst>
          </a:prstGeom>
          <a:solidFill>
            <a:srgbClr val="38BDF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801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63040" y="126187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playwright-cli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1600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MCP tool for interactive browser testing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463040" y="201168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F472B6"/>
          </a:solidFill>
          <a:ln/>
        </p:spPr>
      </p:sp>
      <p:sp>
        <p:nvSpPr>
          <p:cNvPr id="13" name="Text 11"/>
          <p:cNvSpPr/>
          <p:nvPr/>
        </p:nvSpPr>
        <p:spPr>
          <a:xfrm>
            <a:off x="1463040" y="201168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72B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Required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651760" y="201168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Auto-install if missing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17920" y="109728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63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0" y="1280160"/>
            <a:ext cx="640080" cy="365760"/>
          </a:xfrm>
          <a:prstGeom prst="roundRect">
            <a:avLst>
              <a:gd name="adj" fmla="val 20000"/>
            </a:avLst>
          </a:prstGeom>
          <a:solidFill>
            <a:srgbClr val="38BDF8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12801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223760" y="126187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@playwright/test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223760" y="1600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Automated test runner &amp; assertions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223760" y="201168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F472B6"/>
          </a:solidFill>
          <a:ln/>
        </p:spPr>
      </p:sp>
      <p:sp>
        <p:nvSpPr>
          <p:cNvPr id="21" name="Text 19"/>
          <p:cNvSpPr/>
          <p:nvPr/>
        </p:nvSpPr>
        <p:spPr>
          <a:xfrm>
            <a:off x="7223760" y="201168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72B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Required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412480" y="201168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Auto-install if missing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278892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6350">
            <a:solidFill>
              <a:srgbClr val="818CF8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" y="2971800"/>
            <a:ext cx="640080" cy="365760"/>
          </a:xfrm>
          <a:prstGeom prst="roundRect">
            <a:avLst>
              <a:gd name="adj" fmla="val 20000"/>
            </a:avLst>
          </a:prstGeom>
          <a:solidFill>
            <a:srgbClr val="818CF8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29718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18C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463040" y="295351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CT Package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463040" y="3291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Framework-specific component testing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463040" y="370332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29" name="Text 27"/>
          <p:cNvSpPr/>
          <p:nvPr/>
        </p:nvSpPr>
        <p:spPr>
          <a:xfrm>
            <a:off x="1463040" y="370332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651760" y="370332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Only when test type requested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217920" y="278892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63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400800" y="2971800"/>
            <a:ext cx="640080" cy="365760"/>
          </a:xfrm>
          <a:prstGeom prst="roundRect">
            <a:avLst>
              <a:gd name="adj" fmla="val 20000"/>
            </a:avLst>
          </a:prstGeom>
          <a:solidFill>
            <a:srgbClr val="38BDF8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0" y="29718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223760" y="295351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Browser Binaries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223760" y="3291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Chromium / Firefox / WebKit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223760" y="370332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F472B6"/>
          </a:solidFill>
          <a:ln/>
        </p:spPr>
      </p:sp>
      <p:sp>
        <p:nvSpPr>
          <p:cNvPr id="37" name="Text 35"/>
          <p:cNvSpPr/>
          <p:nvPr/>
        </p:nvSpPr>
        <p:spPr>
          <a:xfrm>
            <a:off x="7223760" y="370332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72B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Required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412480" y="370332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Auto-install if missing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7200" y="448056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6350">
            <a:solidFill>
              <a:srgbClr val="34D399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40080" y="4663440"/>
            <a:ext cx="640080" cy="365760"/>
          </a:xfrm>
          <a:prstGeom prst="roundRect">
            <a:avLst>
              <a:gd name="adj" fmla="val 20000"/>
            </a:avLst>
          </a:prstGeom>
          <a:solidFill>
            <a:srgbClr val="34D399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" y="46634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A5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463040" y="464515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playwright.config.ts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1463040" y="4983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 configuration file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463040" y="539496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45" name="Text 43"/>
          <p:cNvSpPr/>
          <p:nvPr/>
        </p:nvSpPr>
        <p:spPr>
          <a:xfrm>
            <a:off x="1463040" y="539496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Auto-gen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651760" y="53949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Generated by Module F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217920" y="448056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6350">
            <a:solidFill>
              <a:srgbClr val="0078D4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400800" y="4663440"/>
            <a:ext cx="640080" cy="365760"/>
          </a:xfrm>
          <a:prstGeom prst="roundRect">
            <a:avLst>
              <a:gd name="adj" fmla="val 20000"/>
            </a:avLst>
          </a:prstGeom>
          <a:solidFill>
            <a:srgbClr val="0078D4"/>
          </a:solidFill>
          <a:ln/>
        </p:spPr>
      </p:sp>
      <p:sp>
        <p:nvSpPr>
          <p:cNvPr id="49" name="Text 47"/>
          <p:cNvSpPr/>
          <p:nvPr/>
        </p:nvSpPr>
        <p:spPr>
          <a:xfrm>
            <a:off x="6400800" y="46634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8D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A6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7223760" y="464515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Azure Playwright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7223760" y="4983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@azure/playwright + service URL + auth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223760" y="539496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/>
        </p:spPr>
      </p:sp>
      <p:sp>
        <p:nvSpPr>
          <p:cNvPr id="53" name="Text 51"/>
          <p:cNvSpPr/>
          <p:nvPr/>
        </p:nvSpPr>
        <p:spPr>
          <a:xfrm>
            <a:off x="7223760" y="539496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78D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Optional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8412480" y="53949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Triggered by cloud request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31352" y="-1371600"/>
            <a:ext cx="5486400" cy="548640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9445752" y="-457200"/>
            <a:ext cx="3657600" cy="3657600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Project Auto-Discovery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914400" y="3520440"/>
            <a:ext cx="228600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7490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Module B — 8-Dimension Intelligent Analysis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UI Testing Agent  |  Technical Architecture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817352" y="656539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 / 28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UI Testing Agent  |  Technical Architecture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817352" y="656539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 / 28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Module B: 8-Dimension Project Analysis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63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2344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⚛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097280" y="1280160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38BDF8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128016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1737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Framework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94360" y="21488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React / Vue / Svelte / Solid / Next / Nuxt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91840" y="109728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6350">
            <a:solidFill>
              <a:srgbClr val="818CF8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429000" y="12344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⚙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3931920" y="1280160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818CF8"/>
          </a:solidFill>
          <a:ln/>
        </p:spPr>
      </p:sp>
      <p:sp>
        <p:nvSpPr>
          <p:cNvPr id="16" name="Text 14"/>
          <p:cNvSpPr/>
          <p:nvPr/>
        </p:nvSpPr>
        <p:spPr>
          <a:xfrm>
            <a:off x="3931920" y="128016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29000" y="1737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Build Tool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429000" y="21488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Vite / Webpack / Next.js / Angular CLI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26480" y="109728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6350">
            <a:solidFill>
              <a:srgbClr val="34D399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63640" y="12344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🗺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766560" y="1280160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34D399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0" y="128016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63640" y="1737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Routes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263640" y="21488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React Router / Vue Router / File-based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961120" y="109728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6350">
            <a:solidFill>
              <a:srgbClr val="F472B6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098280" y="12344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🧩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9601200" y="1280160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F472B6"/>
          </a:solidFill>
          <a:ln/>
        </p:spPr>
      </p:sp>
      <p:sp>
        <p:nvSpPr>
          <p:cNvPr id="28" name="Text 26"/>
          <p:cNvSpPr/>
          <p:nvPr/>
        </p:nvSpPr>
        <p:spPr>
          <a:xfrm>
            <a:off x="9601200" y="128016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72B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098280" y="1737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Components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098280" y="21488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Props, events, conditional rendering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365760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6350">
            <a:solidFill>
              <a:srgbClr val="FB923C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94360" y="37947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🎨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1097280" y="3840480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FB923C"/>
          </a:solidFill>
          <a:ln/>
        </p:spPr>
      </p:sp>
      <p:sp>
        <p:nvSpPr>
          <p:cNvPr id="34" name="Text 32"/>
          <p:cNvSpPr/>
          <p:nvPr/>
        </p:nvSpPr>
        <p:spPr>
          <a:xfrm>
            <a:off x="1097280" y="384048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923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94360" y="4297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Styles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594360" y="47091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Tailwind / CSS Modules / CSS-in-JS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91840" y="365760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63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3429000" y="37947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🌐</a:t>
            </a:r>
            <a:endParaRPr lang="en-US" sz="2200" dirty="0"/>
          </a:p>
        </p:txBody>
      </p:sp>
      <p:sp>
        <p:nvSpPr>
          <p:cNvPr id="39" name="Shape 37"/>
          <p:cNvSpPr/>
          <p:nvPr/>
        </p:nvSpPr>
        <p:spPr>
          <a:xfrm>
            <a:off x="3931920" y="3840480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38BDF8"/>
          </a:solidFill>
          <a:ln/>
        </p:spPr>
      </p:sp>
      <p:sp>
        <p:nvSpPr>
          <p:cNvPr id="40" name="Text 38"/>
          <p:cNvSpPr/>
          <p:nvPr/>
        </p:nvSpPr>
        <p:spPr>
          <a:xfrm>
            <a:off x="3931920" y="384048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B6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429000" y="4297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i18n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3429000" y="47091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react-i18next / vue-i18n / svelte-i18n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126480" y="365760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6350">
            <a:solidFill>
              <a:srgbClr val="818CF8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263640" y="37947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🧪</a:t>
            </a:r>
            <a:endParaRPr lang="en-US" sz="2200" dirty="0"/>
          </a:p>
        </p:txBody>
      </p:sp>
      <p:sp>
        <p:nvSpPr>
          <p:cNvPr id="45" name="Shape 43"/>
          <p:cNvSpPr/>
          <p:nvPr/>
        </p:nvSpPr>
        <p:spPr>
          <a:xfrm>
            <a:off x="6766560" y="3840480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818CF8"/>
          </a:solidFill>
          <a:ln/>
        </p:spPr>
      </p:sp>
      <p:sp>
        <p:nvSpPr>
          <p:cNvPr id="46" name="Text 44"/>
          <p:cNvSpPr/>
          <p:nvPr/>
        </p:nvSpPr>
        <p:spPr>
          <a:xfrm>
            <a:off x="6766560" y="384048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B7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263640" y="4297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Existing Tests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6263640" y="47091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Playwright / Vitest / Jest configs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8961120" y="365760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6350">
            <a:solidFill>
              <a:srgbClr val="34D399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9098280" y="37947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📊</a:t>
            </a:r>
            <a:endParaRPr lang="en-US" sz="2200" dirty="0"/>
          </a:p>
        </p:txBody>
      </p:sp>
      <p:sp>
        <p:nvSpPr>
          <p:cNvPr id="51" name="Shape 49"/>
          <p:cNvSpPr/>
          <p:nvPr/>
        </p:nvSpPr>
        <p:spPr>
          <a:xfrm>
            <a:off x="9601200" y="3840480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34D399"/>
          </a:solidFill>
          <a:ln/>
        </p:spPr>
      </p:sp>
      <p:sp>
        <p:nvSpPr>
          <p:cNvPr id="52" name="Text 50"/>
          <p:cNvSpPr/>
          <p:nvPr/>
        </p:nvSpPr>
        <p:spPr>
          <a:xfrm>
            <a:off x="9601200" y="384048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B8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9098280" y="4297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Report Output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9098280" y="47091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Structured analysis report table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31352" y="-1371600"/>
            <a:ext cx="5486400" cy="548640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9445752" y="-457200"/>
            <a:ext cx="3657600" cy="3657600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E2E Testing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914400" y="3520440"/>
            <a:ext cx="228600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7490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Module C — Interactive &amp; Automated Dual-Mode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UI Testing Agent  |  Technical Architecture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817352" y="656539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 / 28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UI Testing Agent  |  Technical Architecture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817352" y="656539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 / 28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Module C: E2E Testing — Dual Mode Architecture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5303520" cy="5029200"/>
          </a:xfrm>
          <a:prstGeom prst="roundRect">
            <a:avLst>
              <a:gd name="adj" fmla="val 2182"/>
            </a:avLst>
          </a:prstGeom>
          <a:solidFill>
            <a:srgbClr val="1E293B"/>
          </a:solidFill>
          <a:ln w="6350">
            <a:solidFill>
              <a:srgbClr val="34D399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2801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C1: Interactive Mode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1691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playwright-cli (MCP Tool)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2148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1.  Open browser → Navigate to route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651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2.  Snapshot DOM → Analyze structure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3154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3.  Click / Fill / Select interactions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3657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4.  Eval JS → Verify state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4160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5.  Screenshot → Visual evidence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4663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6.  Resize viewport → Responsive test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5166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7.  Auto-generates test code snippets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0" y="1097280"/>
            <a:ext cx="5303520" cy="5029200"/>
          </a:xfrm>
          <a:prstGeom prst="roundRect">
            <a:avLst>
              <a:gd name="adj" fmla="val 2182"/>
            </a:avLst>
          </a:prstGeom>
          <a:solidFill>
            <a:srgbClr val="1E293B"/>
          </a:solidFill>
          <a:ln w="63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75120" y="12801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C2: Automated Mode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75120" y="1691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 File Generation → Playwright Test Runner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75120" y="2148840"/>
            <a:ext cx="1280160" cy="320040"/>
          </a:xfrm>
          <a:prstGeom prst="roundRect">
            <a:avLst>
              <a:gd name="adj" fmla="val 48571"/>
            </a:avLst>
          </a:prstGeom>
          <a:solidFill>
            <a:srgbClr val="38BDF8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0" y="21488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Page Load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092440" y="2148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Verify route loading &amp; key content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75120" y="2926080"/>
            <a:ext cx="1280160" cy="320040"/>
          </a:xfrm>
          <a:prstGeom prst="roundRect">
            <a:avLst>
              <a:gd name="adj" fmla="val 48571"/>
            </a:avLst>
          </a:prstGeom>
          <a:solidFill>
            <a:srgbClr val="38BDF8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29260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Navigation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092440" y="2926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Link clicks &amp; URL transitions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675120" y="3703320"/>
            <a:ext cx="1280160" cy="320040"/>
          </a:xfrm>
          <a:prstGeom prst="roundRect">
            <a:avLst>
              <a:gd name="adj" fmla="val 48571"/>
            </a:avLst>
          </a:prstGeom>
          <a:solidFill>
            <a:srgbClr val="38BDF8"/>
          </a:solidFill>
          <a:ln/>
        </p:spPr>
      </p:sp>
      <p:sp>
        <p:nvSpPr>
          <p:cNvPr id="27" name="Text 25"/>
          <p:cNvSpPr/>
          <p:nvPr/>
        </p:nvSpPr>
        <p:spPr>
          <a:xfrm>
            <a:off x="6675120" y="37033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Form/Filter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092440" y="3703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Input fill, submit, verify results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675120" y="4480560"/>
            <a:ext cx="1280160" cy="320040"/>
          </a:xfrm>
          <a:prstGeom prst="roundRect">
            <a:avLst>
              <a:gd name="adj" fmla="val 48571"/>
            </a:avLst>
          </a:prstGeom>
          <a:solidFill>
            <a:srgbClr val="38BDF8"/>
          </a:solidFill>
          <a:ln/>
        </p:spPr>
      </p:sp>
      <p:sp>
        <p:nvSpPr>
          <p:cNvPr id="30" name="Text 28"/>
          <p:cNvSpPr/>
          <p:nvPr/>
        </p:nvSpPr>
        <p:spPr>
          <a:xfrm>
            <a:off x="6675120" y="44805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i18n Switch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092440" y="44805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Language toggle &amp; text verification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675120" y="5257800"/>
            <a:ext cx="1280160" cy="320040"/>
          </a:xfrm>
          <a:prstGeom prst="roundRect">
            <a:avLst>
              <a:gd name="adj" fmla="val 48571"/>
            </a:avLst>
          </a:prstGeom>
          <a:solidFill>
            <a:srgbClr val="38BDF8"/>
          </a:solidFill>
          <a:ln/>
        </p:spPr>
      </p:sp>
      <p:sp>
        <p:nvSpPr>
          <p:cNvPr id="33" name="Text 31"/>
          <p:cNvSpPr/>
          <p:nvPr/>
        </p:nvSpPr>
        <p:spPr>
          <a:xfrm>
            <a:off x="6675120" y="52578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User Journey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092440" y="52578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Cross-page end-to-end flow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675120" y="5486400"/>
            <a:ext cx="4754880" cy="411480"/>
          </a:xfrm>
          <a:prstGeom prst="roundRect">
            <a:avLst>
              <a:gd name="adj" fmla="val 26667"/>
            </a:avLst>
          </a:prstGeom>
          <a:solidFill>
            <a:srgbClr val="0F2847"/>
          </a:solidFill>
          <a:ln w="6350">
            <a:solidFill>
              <a:srgbClr val="34D399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858000" y="5532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  Semantic locators: getByRole &gt; getByText &gt; CSS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31352" y="-1371600"/>
            <a:ext cx="5486400" cy="548640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9445752" y="-457200"/>
            <a:ext cx="3657600" cy="3657600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Component Testing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914400" y="3520440"/>
            <a:ext cx="228600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7490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Module D — Isolated Mount &amp; Test with Providers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UI Testing Agent  |  Technical Architecture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817352" y="656539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13 / 28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UI Testing Agent  |  Technical Architecture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817352" y="656539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 / 28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Module D: Component Testing — 3-Step Pipeline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3566160" cy="5029200"/>
          </a:xfrm>
          <a:prstGeom prst="roundRect">
            <a:avLst>
              <a:gd name="adj" fmla="val 3077"/>
            </a:avLst>
          </a:prstGeom>
          <a:solidFill>
            <a:srgbClr val="1E293B"/>
          </a:solidFill>
          <a:ln w="6350">
            <a:solidFill>
              <a:srgbClr val="F472B6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280160"/>
            <a:ext cx="548640" cy="347472"/>
          </a:xfrm>
          <a:prstGeom prst="roundRect">
            <a:avLst>
              <a:gd name="adj" fmla="val 21053"/>
            </a:avLst>
          </a:prstGeom>
          <a:solidFill>
            <a:srgbClr val="F472B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80160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72B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12344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CT Config Generation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18288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Framework-specific playwright-ct.config.ts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377440"/>
            <a:ext cx="54864" cy="32004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2377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React → ct-react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2971800"/>
            <a:ext cx="54864" cy="32004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2971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Vue → ct-vue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566160"/>
            <a:ext cx="54864" cy="32004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3566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Svelte → ct-svelte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4160520"/>
            <a:ext cx="54864" cy="32004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4160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Solid → ct-solid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4754880"/>
            <a:ext cx="54864" cy="32004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4754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Vite CSS config reuse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023360" y="32004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4297680" y="1097280"/>
            <a:ext cx="3566160" cy="5029200"/>
          </a:xfrm>
          <a:prstGeom prst="roundRect">
            <a:avLst>
              <a:gd name="adj" fmla="val 3077"/>
            </a:avLst>
          </a:prstGeom>
          <a:solidFill>
            <a:srgbClr val="1E293B"/>
          </a:solidFill>
          <a:ln w="6350">
            <a:solidFill>
              <a:srgbClr val="818CF8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480560" y="1280160"/>
            <a:ext cx="548640" cy="347472"/>
          </a:xfrm>
          <a:prstGeom prst="roundRect">
            <a:avLst>
              <a:gd name="adj" fmla="val 21053"/>
            </a:avLst>
          </a:prstGeom>
          <a:solidFill>
            <a:srgbClr val="818CF8"/>
          </a:solidFill>
          <a:ln/>
        </p:spPr>
      </p:sp>
      <p:sp>
        <p:nvSpPr>
          <p:cNvPr id="25" name="Text 23"/>
          <p:cNvSpPr/>
          <p:nvPr/>
        </p:nvSpPr>
        <p:spPr>
          <a:xfrm>
            <a:off x="4480560" y="1280160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18C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D2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212080" y="12344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 Fixtures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480560" y="18288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Provider wrappers in test-utils.ts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0" y="2377440"/>
            <a:ext cx="54864" cy="32004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29" name="Text 27"/>
          <p:cNvSpPr/>
          <p:nvPr/>
        </p:nvSpPr>
        <p:spPr>
          <a:xfrm>
            <a:off x="4800600" y="2377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MemoryRouter wrapper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0" y="2971800"/>
            <a:ext cx="54864" cy="32004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31" name="Text 29"/>
          <p:cNvSpPr/>
          <p:nvPr/>
        </p:nvSpPr>
        <p:spPr>
          <a:xfrm>
            <a:off x="4800600" y="2971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I18nextProvider setup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0" y="3566160"/>
            <a:ext cx="54864" cy="32004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33" name="Text 31"/>
          <p:cNvSpPr/>
          <p:nvPr/>
        </p:nvSpPr>
        <p:spPr>
          <a:xfrm>
            <a:off x="4800600" y="3566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Context/Store providers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0" y="4160520"/>
            <a:ext cx="54864" cy="32004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35" name="Text 33"/>
          <p:cNvSpPr/>
          <p:nvPr/>
        </p:nvSpPr>
        <p:spPr>
          <a:xfrm>
            <a:off x="4800600" y="4160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Combined TestWrapper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0" y="4754880"/>
            <a:ext cx="54864" cy="32004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37" name="Text 35"/>
          <p:cNvSpPr/>
          <p:nvPr/>
        </p:nvSpPr>
        <p:spPr>
          <a:xfrm>
            <a:off x="4800600" y="4754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Mock data factories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863840" y="32004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2400" dirty="0"/>
          </a:p>
        </p:txBody>
      </p:sp>
      <p:sp>
        <p:nvSpPr>
          <p:cNvPr id="39" name="Shape 37"/>
          <p:cNvSpPr/>
          <p:nvPr/>
        </p:nvSpPr>
        <p:spPr>
          <a:xfrm>
            <a:off x="8138160" y="1097280"/>
            <a:ext cx="3566160" cy="5029200"/>
          </a:xfrm>
          <a:prstGeom prst="roundRect">
            <a:avLst>
              <a:gd name="adj" fmla="val 3077"/>
            </a:avLst>
          </a:prstGeom>
          <a:solidFill>
            <a:srgbClr val="1E293B"/>
          </a:solidFill>
          <a:ln w="6350">
            <a:solidFill>
              <a:srgbClr val="34D399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321040" y="1280160"/>
            <a:ext cx="548640" cy="347472"/>
          </a:xfrm>
          <a:prstGeom prst="roundRect">
            <a:avLst>
              <a:gd name="adj" fmla="val 21053"/>
            </a:avLst>
          </a:prstGeom>
          <a:solidFill>
            <a:srgbClr val="34D399"/>
          </a:solidFill>
          <a:ln/>
        </p:spPr>
      </p:sp>
      <p:sp>
        <p:nvSpPr>
          <p:cNvPr id="41" name="Text 39"/>
          <p:cNvSpPr/>
          <p:nvPr/>
        </p:nvSpPr>
        <p:spPr>
          <a:xfrm>
            <a:off x="8321040" y="1280160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D3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9052560" y="12344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 Generation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8321040" y="18288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Per-component spec files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412480" y="2377440"/>
            <a:ext cx="54864" cy="32004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45" name="Text 43"/>
          <p:cNvSpPr/>
          <p:nvPr/>
        </p:nvSpPr>
        <p:spPr>
          <a:xfrm>
            <a:off x="8641080" y="2377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Rendering test (mount)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412480" y="2971800"/>
            <a:ext cx="54864" cy="32004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47" name="Text 45"/>
          <p:cNvSpPr/>
          <p:nvPr/>
        </p:nvSpPr>
        <p:spPr>
          <a:xfrm>
            <a:off x="8641080" y="2971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Props variation test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412480" y="3566160"/>
            <a:ext cx="54864" cy="32004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49" name="Text 47"/>
          <p:cNvSpPr/>
          <p:nvPr/>
        </p:nvSpPr>
        <p:spPr>
          <a:xfrm>
            <a:off x="8641080" y="3566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Event handler test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412480" y="4160520"/>
            <a:ext cx="54864" cy="32004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51" name="Text 49"/>
          <p:cNvSpPr/>
          <p:nvPr/>
        </p:nvSpPr>
        <p:spPr>
          <a:xfrm>
            <a:off x="8641080" y="4160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Conditional rendering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412480" y="4754880"/>
            <a:ext cx="54864" cy="32004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53" name="Text 51"/>
          <p:cNvSpPr/>
          <p:nvPr/>
        </p:nvSpPr>
        <p:spPr>
          <a:xfrm>
            <a:off x="8641080" y="4754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State transition test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57200" y="6217920"/>
            <a:ext cx="11247120" cy="365760"/>
          </a:xfrm>
          <a:prstGeom prst="roundRect">
            <a:avLst>
              <a:gd name="adj" fmla="val 30000"/>
            </a:avLst>
          </a:prstGeom>
          <a:solidFill>
            <a:srgbClr val="0F2847"/>
          </a:solidFill>
          <a:ln w="6350">
            <a:solidFill>
              <a:srgbClr val="F472B6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731520" y="623620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923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⚠  CT runs locally only — requires Vite dev server for component mounting (not compatible with Azure cloud)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31352" y="-1371600"/>
            <a:ext cx="5486400" cy="548640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9445752" y="-457200"/>
            <a:ext cx="3657600" cy="3657600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07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Visual Regression Testing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914400" y="3520440"/>
            <a:ext cx="228600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7490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Module E — Multi-Viewport Pixel Comparison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UI Testing Agent  |  Technical Architecture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817352" y="656539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 / 28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UI Testing Agent  |  Technical Architecture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817352" y="656539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16 / 28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Module E: Visual Regression — 3 Testing Modes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3566160" cy="4114800"/>
          </a:xfrm>
          <a:prstGeom prst="roundRect">
            <a:avLst>
              <a:gd name="adj" fmla="val 3077"/>
            </a:avLst>
          </a:prstGeom>
          <a:solidFill>
            <a:srgbClr val="1E293B"/>
          </a:solidFill>
          <a:ln w="6350">
            <a:solidFill>
              <a:srgbClr val="FB923C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280160"/>
            <a:ext cx="548640" cy="347472"/>
          </a:xfrm>
          <a:prstGeom prst="roundRect">
            <a:avLst>
              <a:gd name="adj" fmla="val 21053"/>
            </a:avLst>
          </a:prstGeom>
          <a:solidFill>
            <a:srgbClr val="FB923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80160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923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12344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Interactive Visual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18288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Quick visual checks via playwright-cli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23774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▸  Manual screenshot capture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8803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▸  Desktop / Tablet / Mobile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33832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▸  Resize viewport on-the-fly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38862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▸  External diff comparison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97680" y="1097280"/>
            <a:ext cx="3566160" cy="4114800"/>
          </a:xfrm>
          <a:prstGeom prst="roundRect">
            <a:avLst>
              <a:gd name="adj" fmla="val 3077"/>
            </a:avLst>
          </a:prstGeom>
          <a:solidFill>
            <a:srgbClr val="1E293B"/>
          </a:solidFill>
          <a:ln w="63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80560" y="1280160"/>
            <a:ext cx="548640" cy="347472"/>
          </a:xfrm>
          <a:prstGeom prst="roundRect">
            <a:avLst>
              <a:gd name="adj" fmla="val 21053"/>
            </a:avLst>
          </a:prstGeom>
          <a:solidFill>
            <a:srgbClr val="38BDF8"/>
          </a:solidFill>
          <a:ln/>
        </p:spPr>
      </p:sp>
      <p:sp>
        <p:nvSpPr>
          <p:cNvPr id="18" name="Text 16"/>
          <p:cNvSpPr/>
          <p:nvPr/>
        </p:nvSpPr>
        <p:spPr>
          <a:xfrm>
            <a:off x="4480560" y="1280160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212080" y="12344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Automated Visual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480560" y="18288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toHaveScreenshot() baseline comparison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0" y="23774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▸  Page-level full screenshots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0" y="28803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▸  Responsive viewport matrix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0" y="33832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▸  i18n language variants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0" y="38862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▸  maxDiffPixelRatio: 0.01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138160" y="1097280"/>
            <a:ext cx="3566160" cy="4114800"/>
          </a:xfrm>
          <a:prstGeom prst="roundRect">
            <a:avLst>
              <a:gd name="adj" fmla="val 3077"/>
            </a:avLst>
          </a:prstGeom>
          <a:solidFill>
            <a:srgbClr val="1E293B"/>
          </a:solidFill>
          <a:ln w="6350">
            <a:solidFill>
              <a:srgbClr val="0078D4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321040" y="1280160"/>
            <a:ext cx="548640" cy="347472"/>
          </a:xfrm>
          <a:prstGeom prst="roundRect">
            <a:avLst>
              <a:gd name="adj" fmla="val 21053"/>
            </a:avLst>
          </a:prstGeom>
          <a:solidFill>
            <a:srgbClr val="0078D4"/>
          </a:solidFill>
          <a:ln/>
        </p:spPr>
      </p:sp>
      <p:sp>
        <p:nvSpPr>
          <p:cNvPr id="27" name="Text 25"/>
          <p:cNvSpPr/>
          <p:nvPr/>
        </p:nvSpPr>
        <p:spPr>
          <a:xfrm>
            <a:off x="8321040" y="1280160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8D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052560" y="12344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Azure Cloud Visual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321040" y="18288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Consistent baselines on Linux containers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412480" y="23774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▸  No "works on my machine"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412480" y="28803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▸  Same OS font rendering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412480" y="33832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▸  Team-wide shared baselines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412480" y="38862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▸  CI-first baseline strategy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5394960"/>
            <a:ext cx="11247120" cy="109728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31520" y="5486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Responsive Viewport Matrix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31520" y="5897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📱  Mobile  (375×812)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389120" y="5897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📱  Tablet  (768×1024)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046720" y="5897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🖥  Desktop  (1280×720)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31352" y="-1371600"/>
            <a:ext cx="5486400" cy="548640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9445752" y="-457200"/>
            <a:ext cx="3657600" cy="3657600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08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Configuration Generation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914400" y="3520440"/>
            <a:ext cx="228600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7490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Module F — 6 Auto-Generated Config Items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UI Testing Agent  |  Technical Architecture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817352" y="656539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17 / 28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UI Testing Agent  |  Technical Architecture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817352" y="656539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18 / 28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Module F: Configuration Auto-Generation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63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280160"/>
            <a:ext cx="502920" cy="320040"/>
          </a:xfrm>
          <a:prstGeom prst="roundRect">
            <a:avLst>
              <a:gd name="adj" fmla="val 17143"/>
            </a:avLst>
          </a:prstGeom>
          <a:solidFill>
            <a:srgbClr val="38BDF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8016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25880" y="12344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playwright.config.ts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25880" y="164592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E2E + Visual projects, webServer, baseURL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auto-discovered from Vite config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09728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6350">
            <a:solidFill>
              <a:srgbClr val="818CF8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0" y="1280160"/>
            <a:ext cx="502920" cy="320040"/>
          </a:xfrm>
          <a:prstGeom prst="roundRect">
            <a:avLst>
              <a:gd name="adj" fmla="val 17143"/>
            </a:avLst>
          </a:prstGeom>
          <a:solidFill>
            <a:srgbClr val="818CF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28016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086600" y="12344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playwright-ct.config.ts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086600" y="164592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Component testing config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Framework-specific CT + Vite CSS reuse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83464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6350">
            <a:solidFill>
              <a:srgbClr val="34D399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3017520"/>
            <a:ext cx="502920" cy="320040"/>
          </a:xfrm>
          <a:prstGeom prst="roundRect">
            <a:avLst>
              <a:gd name="adj" fmla="val 17143"/>
            </a:avLst>
          </a:prstGeom>
          <a:solidFill>
            <a:srgbClr val="34D399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01752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325880" y="29718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scripts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25880" y="338328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 test scripts: e2e, visual, ct, all,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update-snapshots, azure variants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17920" y="283464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6350">
            <a:solidFill>
              <a:srgbClr val="F472B6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0" y="3017520"/>
            <a:ext cx="502920" cy="320040"/>
          </a:xfrm>
          <a:prstGeom prst="roundRect">
            <a:avLst>
              <a:gd name="adj" fmla="val 17143"/>
            </a:avLst>
          </a:prstGeom>
          <a:solidFill>
            <a:srgbClr val="F472B6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301752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086600" y="29718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.gitignore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086600" y="338328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test-results/, playwright-report/,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blob-report/, .playwright/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57200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6350">
            <a:solidFill>
              <a:srgbClr val="0078D4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40080" y="4754880"/>
            <a:ext cx="502920" cy="320040"/>
          </a:xfrm>
          <a:prstGeom prst="roundRect">
            <a:avLst>
              <a:gd name="adj" fmla="val 17143"/>
            </a:avLst>
          </a:prstGeom>
          <a:solidFill>
            <a:srgbClr val="0078D4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75488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8D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325880" y="4709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playwright.service.config.ts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325880" y="512064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Azure PT: getServiceConfig, ServiceOS.LINUX,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 workers, Azure reporter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17920" y="457200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6350">
            <a:solidFill>
              <a:srgbClr val="50E6FF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400800" y="4754880"/>
            <a:ext cx="502920" cy="320040"/>
          </a:xfrm>
          <a:prstGeom prst="roundRect">
            <a:avLst>
              <a:gd name="adj" fmla="val 17143"/>
            </a:avLst>
          </a:prstGeom>
          <a:solidFill>
            <a:srgbClr val="50E6FF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0" y="475488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0E6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F6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086600" y="4709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 Actions workflow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086600" y="512064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playwright-azure.yml: CI pipeline for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Azure cloud test execution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31352" y="-1371600"/>
            <a:ext cx="5486400" cy="548640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9445752" y="-457200"/>
            <a:ext cx="3657600" cy="3657600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09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Azure Cloud Integration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914400" y="3520440"/>
            <a:ext cx="228600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7490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Module G — Playwright Workspace Cloud Execution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UI Testing Agent  |  Technical Architecture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817352" y="656539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19 / 28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UI Testing Agent  |  Technical Architecture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817352" y="656539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 / 28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Module G: Azure Playwright Workspace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11247120" cy="1005840"/>
          </a:xfrm>
          <a:prstGeom prst="roundRect">
            <a:avLst>
              <a:gd name="adj" fmla="val 10909"/>
            </a:avLst>
          </a:prstGeom>
          <a:solidFill>
            <a:srgbClr val="1A0F00"/>
          </a:solidFill>
          <a:ln w="6350">
            <a:solidFill>
              <a:srgbClr val="FB923C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097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923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⚠  Service Migration Notice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1463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@azure/microsoft-playwright-testing  →  RETIRED (2026-03-08)    |    @azure/playwright v1.1.2  →  NEW REPLACEMENT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3566160" cy="1737360"/>
          </a:xfrm>
          <a:prstGeom prst="roundRect">
            <a:avLst>
              <a:gd name="adj" fmla="val 6316"/>
            </a:avLst>
          </a:prstGeom>
          <a:solidFill>
            <a:srgbClr val="1E293B"/>
          </a:solidFill>
          <a:ln w="6350">
            <a:solidFill>
              <a:srgbClr val="0078D4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94360" y="2423160"/>
            <a:ext cx="502920" cy="320040"/>
          </a:xfrm>
          <a:prstGeom prst="roundRect">
            <a:avLst>
              <a:gd name="adj" fmla="val 17143"/>
            </a:avLst>
          </a:prstGeom>
          <a:solidFill>
            <a:srgbClr val="0078D4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42316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8D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34440" y="239572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Setup Guide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2880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Portal → Workspace → Service URL → Auth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97680" y="2286000"/>
            <a:ext cx="3566160" cy="1737360"/>
          </a:xfrm>
          <a:prstGeom prst="roundRect">
            <a:avLst>
              <a:gd name="adj" fmla="val 6316"/>
            </a:avLst>
          </a:prstGeom>
          <a:solidFill>
            <a:srgbClr val="1E293B"/>
          </a:solidFill>
          <a:ln w="63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34840" y="2423160"/>
            <a:ext cx="502920" cy="320040"/>
          </a:xfrm>
          <a:prstGeom prst="roundRect">
            <a:avLst>
              <a:gd name="adj" fmla="val 17143"/>
            </a:avLst>
          </a:prstGeom>
          <a:solidFill>
            <a:srgbClr val="38BDF8"/>
          </a:solidFill>
          <a:ln/>
        </p:spPr>
      </p:sp>
      <p:sp>
        <p:nvSpPr>
          <p:cNvPr id="17" name="Text 15"/>
          <p:cNvSpPr/>
          <p:nvPr/>
        </p:nvSpPr>
        <p:spPr>
          <a:xfrm>
            <a:off x="4434840" y="242316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74920" y="239572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Service Config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434840" y="2880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getServiceConfig + ServiceOS.LINUX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138160" y="2286000"/>
            <a:ext cx="3566160" cy="1737360"/>
          </a:xfrm>
          <a:prstGeom prst="roundRect">
            <a:avLst>
              <a:gd name="adj" fmla="val 6316"/>
            </a:avLst>
          </a:prstGeom>
          <a:solidFill>
            <a:srgbClr val="1E293B"/>
          </a:solidFill>
          <a:ln w="6350">
            <a:solidFill>
              <a:srgbClr val="818CF8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75320" y="2423160"/>
            <a:ext cx="502920" cy="320040"/>
          </a:xfrm>
          <a:prstGeom prst="roundRect">
            <a:avLst>
              <a:gd name="adj" fmla="val 17143"/>
            </a:avLst>
          </a:prstGeom>
          <a:solidFill>
            <a:srgbClr val="818CF8"/>
          </a:solidFill>
          <a:ln/>
        </p:spPr>
      </p:sp>
      <p:sp>
        <p:nvSpPr>
          <p:cNvPr id="22" name="Text 20"/>
          <p:cNvSpPr/>
          <p:nvPr/>
        </p:nvSpPr>
        <p:spPr>
          <a:xfrm>
            <a:off x="8275320" y="242316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915400" y="239572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Cloud Execution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75320" y="2880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Remote browsers, up to 50 workers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297680"/>
            <a:ext cx="3566160" cy="1737360"/>
          </a:xfrm>
          <a:prstGeom prst="roundRect">
            <a:avLst>
              <a:gd name="adj" fmla="val 6316"/>
            </a:avLst>
          </a:prstGeom>
          <a:solidFill>
            <a:srgbClr val="1E293B"/>
          </a:solidFill>
          <a:ln w="6350">
            <a:solidFill>
              <a:srgbClr val="34D399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4360" y="4434840"/>
            <a:ext cx="502920" cy="320040"/>
          </a:xfrm>
          <a:prstGeom prst="roundRect">
            <a:avLst>
              <a:gd name="adj" fmla="val 17143"/>
            </a:avLst>
          </a:prstGeom>
          <a:solidFill>
            <a:srgbClr val="34D399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443484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234440" y="440740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CI/CD Pipeline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94360" y="4892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GitHub Actions with Azure secrets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297680" y="4297680"/>
            <a:ext cx="3566160" cy="1737360"/>
          </a:xfrm>
          <a:prstGeom prst="roundRect">
            <a:avLst>
              <a:gd name="adj" fmla="val 6316"/>
            </a:avLst>
          </a:prstGeom>
          <a:solidFill>
            <a:srgbClr val="1E293B"/>
          </a:solidFill>
          <a:ln w="6350">
            <a:solidFill>
              <a:srgbClr val="F472B6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434840" y="4434840"/>
            <a:ext cx="502920" cy="320040"/>
          </a:xfrm>
          <a:prstGeom prst="roundRect">
            <a:avLst>
              <a:gd name="adj" fmla="val 17143"/>
            </a:avLst>
          </a:prstGeom>
          <a:solidFill>
            <a:srgbClr val="F472B6"/>
          </a:solidFill>
          <a:ln/>
        </p:spPr>
      </p:sp>
      <p:sp>
        <p:nvSpPr>
          <p:cNvPr id="32" name="Text 30"/>
          <p:cNvSpPr/>
          <p:nvPr/>
        </p:nvSpPr>
        <p:spPr>
          <a:xfrm>
            <a:off x="4434840" y="443484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74920" y="440740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Portal Reporting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434840" y="4892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Dashboard, traces, video playback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138160" y="4297680"/>
            <a:ext cx="3566160" cy="1737360"/>
          </a:xfrm>
          <a:prstGeom prst="roundRect">
            <a:avLst>
              <a:gd name="adj" fmla="val 6316"/>
            </a:avLst>
          </a:prstGeom>
          <a:solidFill>
            <a:srgbClr val="1E293B"/>
          </a:solidFill>
          <a:ln w="6350">
            <a:solidFill>
              <a:srgbClr val="FB923C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275320" y="4434840"/>
            <a:ext cx="502920" cy="320040"/>
          </a:xfrm>
          <a:prstGeom prst="roundRect">
            <a:avLst>
              <a:gd name="adj" fmla="val 17143"/>
            </a:avLst>
          </a:prstGeom>
          <a:solidFill>
            <a:srgbClr val="FB923C"/>
          </a:solidFill>
          <a:ln/>
        </p:spPr>
      </p:sp>
      <p:sp>
        <p:nvSpPr>
          <p:cNvPr id="37" name="Text 35"/>
          <p:cNvSpPr/>
          <p:nvPr/>
        </p:nvSpPr>
        <p:spPr>
          <a:xfrm>
            <a:off x="8275320" y="443484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923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915400" y="440740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Cost Management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275320" y="4892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100 min free, pay-per-minute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6263640"/>
            <a:ext cx="11247120" cy="411480"/>
          </a:xfrm>
          <a:prstGeom prst="roundRect">
            <a:avLst>
              <a:gd name="adj" fmla="val 26667"/>
            </a:avLst>
          </a:prstGeom>
          <a:solidFill>
            <a:srgbClr val="0F2847"/>
          </a:solidFill>
          <a:ln w="6350">
            <a:solidFill>
              <a:srgbClr val="0078D4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31520" y="629107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0E6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E2E + Visual → Cloud-capable  |  Component Testing → Local only  |  Auth: Entra ID (recommended) or Access Token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UI Testing Agent  |  Technical Architecture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817352" y="656539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21 / 28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Local vs Azure Cloud Execution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40080" y="1097280"/>
            <a:ext cx="2286000" cy="45720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097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Setting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926080" y="1097280"/>
            <a:ext cx="3840480" cy="45720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0" name="Text 8"/>
          <p:cNvSpPr/>
          <p:nvPr/>
        </p:nvSpPr>
        <p:spPr>
          <a:xfrm>
            <a:off x="2926080" y="1097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Local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766560" y="1097280"/>
            <a:ext cx="4754880" cy="45720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2" name="Text 10"/>
          <p:cNvSpPr/>
          <p:nvPr/>
        </p:nvSpPr>
        <p:spPr>
          <a:xfrm>
            <a:off x="6766560" y="10972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Azure PT Cloud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1554480"/>
            <a:ext cx="2286000" cy="502920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15544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Config File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926080" y="1554480"/>
            <a:ext cx="3840480" cy="502920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63240" y="15544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playwright.config.ts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66560" y="1554480"/>
            <a:ext cx="4754880" cy="502920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03720" y="155448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playwright.service.config.ts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2057400"/>
            <a:ext cx="2286000" cy="502920"/>
          </a:xfrm>
          <a:prstGeom prst="rect">
            <a:avLst/>
          </a:prstGeom>
          <a:solidFill>
            <a:srgbClr val="162033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20574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Browsers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926080" y="2057400"/>
            <a:ext cx="3840480" cy="502920"/>
          </a:xfrm>
          <a:prstGeom prst="rect">
            <a:avLst/>
          </a:prstGeom>
          <a:solidFill>
            <a:srgbClr val="162033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63240" y="20574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Local binaries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766560" y="2057400"/>
            <a:ext cx="4754880" cy="502920"/>
          </a:xfrm>
          <a:prstGeom prst="rect">
            <a:avLst/>
          </a:prstGeom>
          <a:solidFill>
            <a:srgbClr val="162033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03720" y="205740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Azure-managed (always latest)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" y="2560320"/>
            <a:ext cx="2286000" cy="502920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25603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Workers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926080" y="2560320"/>
            <a:ext cx="3840480" cy="502920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63240" y="25603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CPU cores (default)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766560" y="2560320"/>
            <a:ext cx="4754880" cy="502920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03720" y="256032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Up to 50 parallel cloud browsers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0080" y="3063240"/>
            <a:ext cx="2286000" cy="502920"/>
          </a:xfrm>
          <a:prstGeom prst="rect">
            <a:avLst/>
          </a:prstGeom>
          <a:solidFill>
            <a:srgbClr val="162033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30632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OS Environment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926080" y="3063240"/>
            <a:ext cx="3840480" cy="502920"/>
          </a:xfrm>
          <a:prstGeom prst="rect">
            <a:avLst/>
          </a:prstGeom>
          <a:solidFill>
            <a:srgbClr val="162033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63240" y="30632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Host machine (macOS/Win/Linux)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766560" y="3063240"/>
            <a:ext cx="4754880" cy="502920"/>
          </a:xfrm>
          <a:prstGeom prst="rect">
            <a:avLst/>
          </a:prstGeom>
          <a:solidFill>
            <a:srgbClr val="162033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03720" y="306324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Linux containers (consistent)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40080" y="3566160"/>
            <a:ext cx="2286000" cy="502920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" y="35661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Network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926080" y="3566160"/>
            <a:ext cx="3840480" cy="502920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63240" y="35661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Direct localhost access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766560" y="3566160"/>
            <a:ext cx="4754880" cy="502920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03720" y="356616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exposeNetwork: &lt;loopback&gt; required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40080" y="4069080"/>
            <a:ext cx="2286000" cy="502920"/>
          </a:xfrm>
          <a:prstGeom prst="rect">
            <a:avLst/>
          </a:prstGeom>
          <a:solidFill>
            <a:srgbClr val="162033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7240" y="40690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Visual Baselines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926080" y="4069080"/>
            <a:ext cx="3840480" cy="502920"/>
          </a:xfrm>
          <a:prstGeom prst="rect">
            <a:avLst/>
          </a:prstGeom>
          <a:solidFill>
            <a:srgbClr val="162033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063240" y="40690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OS-dependent rendering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766560" y="4069080"/>
            <a:ext cx="4754880" cy="502920"/>
          </a:xfrm>
          <a:prstGeom prst="rect">
            <a:avLst/>
          </a:prstGeom>
          <a:solidFill>
            <a:srgbClr val="162033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03720" y="406908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Consistent across team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40080" y="4572000"/>
            <a:ext cx="2286000" cy="502920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77240" y="45720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Reporting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926080" y="4572000"/>
            <a:ext cx="3840480" cy="502920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063240" y="45720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Local HTML report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766560" y="4572000"/>
            <a:ext cx="4754880" cy="502920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903720" y="457200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Azure Portal dashboard + local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40080" y="5074920"/>
            <a:ext cx="2286000" cy="502920"/>
          </a:xfrm>
          <a:prstGeom prst="rect">
            <a:avLst/>
          </a:prstGeom>
          <a:solidFill>
            <a:srgbClr val="162033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77240" y="50749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Cost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926080" y="5074920"/>
            <a:ext cx="3840480" cy="502920"/>
          </a:xfrm>
          <a:prstGeom prst="rect">
            <a:avLst/>
          </a:prstGeom>
          <a:solidFill>
            <a:srgbClr val="162033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063240" y="50749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Free (local resources)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766560" y="5074920"/>
            <a:ext cx="4754880" cy="502920"/>
          </a:xfrm>
          <a:prstGeom prst="rect">
            <a:avLst/>
          </a:prstGeom>
          <a:solidFill>
            <a:srgbClr val="162033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903720" y="507492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100 min/month free, then pay-per-min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31352" y="-1371600"/>
            <a:ext cx="5486400" cy="548640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9445752" y="-457200"/>
            <a:ext cx="3657600" cy="3657600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CI/CD Pipeline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914400" y="3520440"/>
            <a:ext cx="228600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7490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GitHub Actions + Azure Cloud Integration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UI Testing Agent  |  Technical Architecture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817352" y="656539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22 / 28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UI Testing Agent  |  Technical Architecture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817352" y="656539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23 / 28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CI/CD Pipeline: GitHub Actions + Azure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1783080" cy="2011680"/>
          </a:xfrm>
          <a:prstGeom prst="roundRect">
            <a:avLst>
              <a:gd name="adj" fmla="val 6154"/>
            </a:avLst>
          </a:prstGeom>
          <a:solidFill>
            <a:srgbClr val="1E293B"/>
          </a:solidFill>
          <a:ln w="6350">
            <a:solidFill>
              <a:srgbClr val="F1F5F9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1234440"/>
            <a:ext cx="457200" cy="457200"/>
          </a:xfrm>
          <a:prstGeom prst="ellipse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182880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Trigger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219456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push / PR to main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workflow_dispatch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057400" y="182880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240280" y="1097280"/>
            <a:ext cx="1783080" cy="2011680"/>
          </a:xfrm>
          <a:prstGeom prst="roundRect">
            <a:avLst>
              <a:gd name="adj" fmla="val 6154"/>
            </a:avLst>
          </a:prstGeom>
          <a:solidFill>
            <a:srgbClr val="1E293B"/>
          </a:solidFill>
          <a:ln w="63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880360" y="1234440"/>
            <a:ext cx="457200" cy="45720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8036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331720" y="182880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Setup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331720" y="219456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Node.js 22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npm ci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023360" y="182880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206240" y="1097280"/>
            <a:ext cx="1783080" cy="2011680"/>
          </a:xfrm>
          <a:prstGeom prst="roundRect">
            <a:avLst>
              <a:gd name="adj" fmla="val 6154"/>
            </a:avLst>
          </a:prstGeom>
          <a:solidFill>
            <a:srgbClr val="1E293B"/>
          </a:solidFill>
          <a:ln w="6350">
            <a:solidFill>
              <a:srgbClr val="818CF8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1234440"/>
            <a:ext cx="457200" cy="457200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297680" y="182880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Install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297680" y="219456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Playwright browsers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--with-deps chromium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89320" y="182880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72200" y="1097280"/>
            <a:ext cx="1783080" cy="2011680"/>
          </a:xfrm>
          <a:prstGeom prst="roundRect">
            <a:avLst>
              <a:gd name="adj" fmla="val 6154"/>
            </a:avLst>
          </a:prstGeom>
          <a:solidFill>
            <a:srgbClr val="1E293B"/>
          </a:solidFill>
          <a:ln w="6350">
            <a:solidFill>
              <a:srgbClr val="34D399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12280" y="1234440"/>
            <a:ext cx="457200" cy="4572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1228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63640" y="182880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E2E Tests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63640" y="219456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Azure cloud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--project=e2e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955280" y="182880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138160" y="1097280"/>
            <a:ext cx="1783080" cy="2011680"/>
          </a:xfrm>
          <a:prstGeom prst="roundRect">
            <a:avLst>
              <a:gd name="adj" fmla="val 6154"/>
            </a:avLst>
          </a:prstGeom>
          <a:solidFill>
            <a:srgbClr val="1E293B"/>
          </a:solidFill>
          <a:ln w="6350">
            <a:solidFill>
              <a:srgbClr val="F472B6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778240" y="1234440"/>
            <a:ext cx="457200" cy="457200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7824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72B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229600" y="182880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Visual Tests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229600" y="219456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Azure cloud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--project=visual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921240" y="182880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0104120" y="1097280"/>
            <a:ext cx="1783080" cy="2011680"/>
          </a:xfrm>
          <a:prstGeom prst="roundRect">
            <a:avLst>
              <a:gd name="adj" fmla="val 6154"/>
            </a:avLst>
          </a:prstGeom>
          <a:solidFill>
            <a:srgbClr val="1E293B"/>
          </a:solidFill>
          <a:ln w="6350">
            <a:solidFill>
              <a:srgbClr val="FB923C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10744200" y="1234440"/>
            <a:ext cx="457200" cy="45720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74420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0195560" y="182880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Artifacts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0195560" y="219456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Upload reports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14-day retention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57200" y="3474720"/>
            <a:ext cx="5303520" cy="2286000"/>
          </a:xfrm>
          <a:prstGeom prst="roundRect">
            <a:avLst>
              <a:gd name="adj" fmla="val 4800"/>
            </a:avLst>
          </a:prstGeom>
          <a:solidFill>
            <a:srgbClr val="1E293B"/>
          </a:solidFill>
          <a:ln w="6350">
            <a:solidFill>
              <a:srgbClr val="FB923C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31520" y="3611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🔐  Required GitHub Secrets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822960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PLAYWRIGHT_SERVICE_URL — Workspace region endpoint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22960" y="4617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PLAYWRIGHT_SERVICE_ACCESS_TOKEN — Auth token (if not using Entra ID)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400800" y="3474720"/>
            <a:ext cx="5303520" cy="2286000"/>
          </a:xfrm>
          <a:prstGeom prst="roundRect">
            <a:avLst>
              <a:gd name="adj" fmla="val 4800"/>
            </a:avLst>
          </a:prstGeom>
          <a:solidFill>
            <a:srgbClr val="1E293B"/>
          </a:solidFill>
          <a:ln w="6350">
            <a:solidFill>
              <a:srgbClr val="34D399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6675120" y="3611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📁  Workflow Files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858000" y="4160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deploy.yml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858000" y="4434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Build &amp; deploy to GitHub Pages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858000" y="4800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playwright-azure.yml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858000" y="50749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Azure PT E2E + Visual tests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31352" y="-1371600"/>
            <a:ext cx="5486400" cy="548640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9445752" y="-457200"/>
            <a:ext cx="3657600" cy="3657600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TravelVista Demo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914400" y="3520440"/>
            <a:ext cx="228600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7490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React 19 SPA — Live Testing Showcase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UI Testing Agent  |  Technical Architecture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817352" y="656539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24 / 28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UI Testing Agent  |  Technical Architecture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817352" y="656539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25 / 28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TravelVista — Project Profile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1737360" cy="109728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63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0972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React 19.2.4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5087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UI Framework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377440" y="1005840"/>
            <a:ext cx="1737360" cy="109728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6350">
            <a:solidFill>
              <a:srgbClr val="818CF8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68880" y="10972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Vite 8.0.0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68880" y="15087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18C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Build Tool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97680" y="1005840"/>
            <a:ext cx="1737360" cy="109728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6350">
            <a:solidFill>
              <a:srgbClr val="34D399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389120" y="10972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TypeScript 5.9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89120" y="15087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Type Safety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17920" y="1005840"/>
            <a:ext cx="1737360" cy="109728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6350">
            <a:solidFill>
              <a:srgbClr val="F472B6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09360" y="10972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Tailwind 4.2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09360" y="15087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72B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CSS Framework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138160" y="1005840"/>
            <a:ext cx="1737360" cy="109728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6350">
            <a:solidFill>
              <a:srgbClr val="FB923C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29600" y="10972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React Router 7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0" y="15087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 SPA Routes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0058400" y="1005840"/>
            <a:ext cx="1737360" cy="109728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63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149840" y="10972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react-i18next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149840" y="15087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zh / en bilingual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2377440"/>
            <a:ext cx="5303520" cy="3200400"/>
          </a:xfrm>
          <a:prstGeom prst="roundRect">
            <a:avLst>
              <a:gd name="adj" fmla="val 3429"/>
            </a:avLst>
          </a:prstGeom>
          <a:solidFill>
            <a:srgbClr val="1E293B"/>
          </a:solidFill>
          <a:ln w="63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31520" y="2514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Routes (4 Pages)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31520" y="30175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468880" y="3017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HomePage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1520" y="32461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Hero carousel, search, category filter, featured destinations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31520" y="36118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/destinations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468880" y="3611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DestinationsPage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31520" y="38404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All destinations grid with search &amp; filter bar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31520" y="4206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/destinations/:id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468880" y="4206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DestinationDetailPage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31520" y="44348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Single destination details, reviews, related items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31520" y="4800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/about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468880" y="4800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AboutPage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31520" y="50292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Team members, company intro, mission statement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400800" y="2377440"/>
            <a:ext cx="5303520" cy="3200400"/>
          </a:xfrm>
          <a:prstGeom prst="roundRect">
            <a:avLst>
              <a:gd name="adj" fmla="val 3429"/>
            </a:avLst>
          </a:prstGeom>
          <a:solidFill>
            <a:srgbClr val="1E293B"/>
          </a:solidFill>
          <a:ln w="6350">
            <a:solidFill>
              <a:srgbClr val="818CF8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675120" y="2514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Components (7 Shared)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675120" y="29718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Navbar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412480" y="29718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Navigation, lang toggle, mobile menu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675120" y="33832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Carousel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412480" y="33832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Hero image slider with indicators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675120" y="3794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SearchBar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412480" y="37947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Keyword search input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675120" y="4206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FilterBar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412480" y="42062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Category filter buttons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675120" y="46177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DestinationCard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412480" y="46177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Destination preview card with rating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675120" y="50292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Footer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8412480" y="50292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Site-wide footer with links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675120" y="54406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Layout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8412480" y="54406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Page layout wrapper with Navbar + Footer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57200" y="5760720"/>
            <a:ext cx="11247120" cy="73152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731520" y="58064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 Scripts: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2103120" y="58064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test:e2e  |  test:visual  |  test:ct  |  test:all  |  test:update-snapshots  |  test:azure  |  test:azure:e2e  |  test:azure:visual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31520" y="614476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 scripts covering all test modes: local E2E, visual, component, and Azure cloud variants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31352" y="-1371600"/>
            <a:ext cx="5486400" cy="548640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9445752" y="-457200"/>
            <a:ext cx="3657600" cy="3657600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Gap Analysis &amp; Roadmap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914400" y="3520440"/>
            <a:ext cx="228600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7490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Uncovered Test Dimensions &amp; Expansion Plan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UI Testing Agent  |  Technical Architecture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817352" y="656539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26 / 28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UI Testing Agent  |  Technical Architecture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817352" y="656539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27 / 28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Gap Analysis: 8 Uncovered Test Dimensions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2697480" cy="2148840"/>
          </a:xfrm>
          <a:prstGeom prst="roundRect">
            <a:avLst>
              <a:gd name="adj" fmla="val 5106"/>
            </a:avLst>
          </a:prstGeom>
          <a:solidFill>
            <a:srgbClr val="1E293B"/>
          </a:solidFill>
          <a:ln w="6350">
            <a:solidFill>
              <a:srgbClr val="F472B6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143000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F472B6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14300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72B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5544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Accessibility (a11y)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057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WCAG 2.1 AA, axe-core scan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005840"/>
            <a:ext cx="2697480" cy="2148840"/>
          </a:xfrm>
          <a:prstGeom prst="roundRect">
            <a:avLst>
              <a:gd name="adj" fmla="val 5106"/>
            </a:avLst>
          </a:prstGeom>
          <a:solidFill>
            <a:srgbClr val="1E293B"/>
          </a:solidFill>
          <a:ln w="6350">
            <a:solidFill>
              <a:srgbClr val="F472B6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37560" y="1143000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F472B6"/>
          </a:solidFill>
          <a:ln/>
        </p:spPr>
      </p:sp>
      <p:sp>
        <p:nvSpPr>
          <p:cNvPr id="14" name="Text 12"/>
          <p:cNvSpPr/>
          <p:nvPr/>
        </p:nvSpPr>
        <p:spPr>
          <a:xfrm>
            <a:off x="3337560" y="114300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72B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37560" y="15544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Cross-Browser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37560" y="2057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Firefox, WebKit, Mobile Safari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1005840"/>
            <a:ext cx="2697480" cy="2148840"/>
          </a:xfrm>
          <a:prstGeom prst="roundRect">
            <a:avLst>
              <a:gd name="adj" fmla="val 5106"/>
            </a:avLst>
          </a:prstGeom>
          <a:solidFill>
            <a:srgbClr val="1E293B"/>
          </a:solidFill>
          <a:ln w="6350">
            <a:solidFill>
              <a:srgbClr val="FB923C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63640" y="1143000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114300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923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63640" y="15544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Network Mock/Intercept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63640" y="2057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API mock, offline, slow 3G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052560" y="1005840"/>
            <a:ext cx="2697480" cy="2148840"/>
          </a:xfrm>
          <a:prstGeom prst="roundRect">
            <a:avLst>
              <a:gd name="adj" fmla="val 5106"/>
            </a:avLst>
          </a:prstGeom>
          <a:solidFill>
            <a:srgbClr val="1E293B"/>
          </a:solidFill>
          <a:ln w="6350">
            <a:solidFill>
              <a:srgbClr val="FB923C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189720" y="1143000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24" name="Text 22"/>
          <p:cNvSpPr/>
          <p:nvPr/>
        </p:nvSpPr>
        <p:spPr>
          <a:xfrm>
            <a:off x="9189720" y="114300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923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189720" y="15544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Console Error Detection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89720" y="2057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Zero console.error policy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474720"/>
            <a:ext cx="2697480" cy="2148840"/>
          </a:xfrm>
          <a:prstGeom prst="roundRect">
            <a:avLst>
              <a:gd name="adj" fmla="val 5106"/>
            </a:avLst>
          </a:prstGeom>
          <a:solidFill>
            <a:srgbClr val="1E293B"/>
          </a:solidFill>
          <a:ln w="63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11480" y="3611880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/>
        </p:spPr>
      </p:sp>
      <p:sp>
        <p:nvSpPr>
          <p:cNvPr id="29" name="Text 27"/>
          <p:cNvSpPr/>
          <p:nvPr/>
        </p:nvSpPr>
        <p:spPr>
          <a:xfrm>
            <a:off x="411480" y="361188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11480" y="40233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Error Boundary Testing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11480" y="45262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React ErrorBoundary fallback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0" y="3474720"/>
            <a:ext cx="2697480" cy="2148840"/>
          </a:xfrm>
          <a:prstGeom prst="roundRect">
            <a:avLst>
              <a:gd name="adj" fmla="val 5106"/>
            </a:avLst>
          </a:prstGeom>
          <a:solidFill>
            <a:srgbClr val="1E293B"/>
          </a:solidFill>
          <a:ln w="63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337560" y="3611880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/>
        </p:spPr>
      </p:sp>
      <p:sp>
        <p:nvSpPr>
          <p:cNvPr id="34" name="Text 32"/>
          <p:cNvSpPr/>
          <p:nvPr/>
        </p:nvSpPr>
        <p:spPr>
          <a:xfrm>
            <a:off x="3337560" y="361188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337560" y="40233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Performance Testing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337560" y="45262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LCP, CLS, FID metrics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126480" y="3474720"/>
            <a:ext cx="2697480" cy="2148840"/>
          </a:xfrm>
          <a:prstGeom prst="roundRect">
            <a:avLst>
              <a:gd name="adj" fmla="val 5106"/>
            </a:avLst>
          </a:prstGeom>
          <a:solidFill>
            <a:srgbClr val="1E293B"/>
          </a:solidFill>
          <a:ln w="6350">
            <a:solidFill>
              <a:srgbClr val="818CF8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263640" y="3611880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818CF8"/>
          </a:solidFill>
          <a:ln/>
        </p:spPr>
      </p:sp>
      <p:sp>
        <p:nvSpPr>
          <p:cNvPr id="39" name="Text 37"/>
          <p:cNvSpPr/>
          <p:nvPr/>
        </p:nvSpPr>
        <p:spPr>
          <a:xfrm>
            <a:off x="6263640" y="361188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P3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63640" y="40233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State Persistence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263640" y="45262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localStorage, sessionStorage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9052560" y="3474720"/>
            <a:ext cx="2697480" cy="2148840"/>
          </a:xfrm>
          <a:prstGeom prst="roundRect">
            <a:avLst>
              <a:gd name="adj" fmla="val 5106"/>
            </a:avLst>
          </a:prstGeom>
          <a:solidFill>
            <a:srgbClr val="1E293B"/>
          </a:solidFill>
          <a:ln w="6350">
            <a:solidFill>
              <a:srgbClr val="818CF8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9189720" y="3611880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818CF8"/>
          </a:solidFill>
          <a:ln/>
        </p:spPr>
      </p:sp>
      <p:sp>
        <p:nvSpPr>
          <p:cNvPr id="44" name="Text 42"/>
          <p:cNvSpPr/>
          <p:nvPr/>
        </p:nvSpPr>
        <p:spPr>
          <a:xfrm>
            <a:off x="9189720" y="361188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P3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9189720" y="40233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Dark Mode / Theme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9189720" y="45262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prefers-color-scheme tests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" y="5989320"/>
            <a:ext cx="11247120" cy="502920"/>
          </a:xfrm>
          <a:prstGeom prst="roundRect">
            <a:avLst>
              <a:gd name="adj" fmla="val 21818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731520" y="60350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Priority: 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1645920" y="609904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F472B6"/>
          </a:solidFill>
          <a:ln/>
        </p:spPr>
      </p:sp>
      <p:sp>
        <p:nvSpPr>
          <p:cNvPr id="50" name="Text 48"/>
          <p:cNvSpPr/>
          <p:nvPr/>
        </p:nvSpPr>
        <p:spPr>
          <a:xfrm>
            <a:off x="1920240" y="6035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72B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P0 Critical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206240" y="609904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FB923C"/>
          </a:solidFill>
          <a:ln/>
        </p:spPr>
      </p:sp>
      <p:sp>
        <p:nvSpPr>
          <p:cNvPr id="52" name="Text 50"/>
          <p:cNvSpPr/>
          <p:nvPr/>
        </p:nvSpPr>
        <p:spPr>
          <a:xfrm>
            <a:off x="4480560" y="6035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923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P1 High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766560" y="609904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38BDF8"/>
          </a:solidFill>
          <a:ln/>
        </p:spPr>
      </p:sp>
      <p:sp>
        <p:nvSpPr>
          <p:cNvPr id="54" name="Text 52"/>
          <p:cNvSpPr/>
          <p:nvPr/>
        </p:nvSpPr>
        <p:spPr>
          <a:xfrm>
            <a:off x="7040880" y="6035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P2 Medium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9326880" y="609904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818CF8"/>
          </a:solidFill>
          <a:ln/>
        </p:spPr>
      </p:sp>
      <p:sp>
        <p:nvSpPr>
          <p:cNvPr id="56" name="Text 54"/>
          <p:cNvSpPr/>
          <p:nvPr/>
        </p:nvSpPr>
        <p:spPr>
          <a:xfrm>
            <a:off x="9601200" y="6035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18C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P3 Nice-to-have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1828800"/>
            <a:ext cx="8229600" cy="822960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8531352" y="2286000"/>
            <a:ext cx="7315200" cy="7315200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4572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280160"/>
            <a:ext cx="10515600" cy="54864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63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129844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🤖  7 modules, 953 lines — fully automated from discovery to reporting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1965960"/>
            <a:ext cx="10515600" cy="54864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6350">
            <a:solidFill>
              <a:srgbClr val="818CF8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198424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🔍  8-dimension auto-discovery eliminates manual project analysis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2651760"/>
            <a:ext cx="10515600" cy="54864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6350">
            <a:solidFill>
              <a:srgbClr val="34D399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267004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🧪  3 test types: E2E + Component + Visual Regression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337560"/>
            <a:ext cx="10515600" cy="54864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6350">
            <a:solidFill>
              <a:srgbClr val="0078D4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335584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☁️  Azure Playwright Workspace for consistent cloud baselines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4023360"/>
            <a:ext cx="10515600" cy="54864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6350">
            <a:solidFill>
              <a:srgbClr val="FB923C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404164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🔄  CI/CD pipeline auto-generated with GitHub Actions integration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4709160"/>
            <a:ext cx="10515600" cy="54864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6350">
            <a:solidFill>
              <a:srgbClr val="F472B6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72744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🚀  8 gap items identified for next-phase expansion (a11y, perf, etc.)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5486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31520" y="5943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① Integrate a11y &amp; cross-browser modules (P0)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89120" y="5943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② Deploy Azure PT pipeline to production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046720" y="5943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③ Expand gap modules incrementally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UI Testing Agent  |  Technical Architecture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817352" y="656539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28 / 28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Universal UI Testing Agent — Technical Architecture</dc:title>
  <dc:subject>AI-Driven Testing Automation</dc:subject>
  <dc:creator>UI Testing Agent</dc:creator>
  <cp:lastModifiedBy>UI Testing Agent</cp:lastModifiedBy>
  <cp:revision>1</cp:revision>
  <dcterms:created xsi:type="dcterms:W3CDTF">2026-03-16T16:13:48Z</dcterms:created>
  <dcterms:modified xsi:type="dcterms:W3CDTF">2026-03-16T16:13:48Z</dcterms:modified>
</cp:coreProperties>
</file>