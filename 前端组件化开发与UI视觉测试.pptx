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image" Target="../media/image-17-5.png"/><Relationship Id="rId6" Type="http://schemas.openxmlformats.org/officeDocument/2006/relationships/image" Target="../media/image-1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image" Target="../media/image-23-3.png"/><Relationship Id="rId4" Type="http://schemas.openxmlformats.org/officeDocument/2006/relationships/image" Target="../media/image-23-4.png"/><Relationship Id="rId5" Type="http://schemas.openxmlformats.org/officeDocument/2006/relationships/image" Target="../media/image-23-5.png"/><Relationship Id="rId6" Type="http://schemas.openxmlformats.org/officeDocument/2006/relationships/image" Target="../media/image-2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前端组件化开发与 UI 视觉测试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731520" y="2011680"/>
            <a:ext cx="7680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从 DOM 到 Components，从 Storybook 到视觉回归测试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731520" y="2926080"/>
            <a:ext cx="7680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组件化开发核心概念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组件文档化与隔离开发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 UI 视觉回归测试工具全景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44805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2026.03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7498080" y="1097280"/>
            <a:ext cx="548640" cy="54864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18781" y="1217981"/>
            <a:ext cx="307238" cy="307238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8138160" y="1737360"/>
            <a:ext cx="457200" cy="45720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8744" y="1837944"/>
            <a:ext cx="256032" cy="256032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7680960" y="228600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1486" y="2376526"/>
            <a:ext cx="230429" cy="23042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25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目录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731520" y="1097280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1987" y="1177747"/>
            <a:ext cx="204826" cy="20482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09728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645920" y="10972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前端组件化基础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389120" y="10972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与 Component 的关系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731520" y="1627632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1987" y="1708099"/>
            <a:ext cx="204826" cy="204826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234440" y="162763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645920" y="162763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核心概念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4389120" y="162763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组件的核心元素与语法对照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731520" y="2157984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987" y="2238451"/>
            <a:ext cx="204826" cy="204826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34440" y="2157984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1645920" y="2157984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组件分类全景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4389120" y="2157984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展示/逻辑/布局/导航/输入/展示/反馈组件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731520" y="2688336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1987" y="2768803"/>
            <a:ext cx="204826" cy="204826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234440" y="2688336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1645920" y="2688336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介绍</a:t>
            </a:r>
            <a:endParaRPr lang="en-US" sz="1500" dirty="0"/>
          </a:p>
        </p:txBody>
      </p:sp>
      <p:sp>
        <p:nvSpPr>
          <p:cNvPr id="23" name="Text 17"/>
          <p:cNvSpPr/>
          <p:nvPr/>
        </p:nvSpPr>
        <p:spPr>
          <a:xfrm>
            <a:off x="4389120" y="2688336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组件的独立工作台 + 活文档 + 测试平台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731520" y="3218688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11987" y="3299155"/>
            <a:ext cx="204826" cy="204826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234440" y="3218688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1645920" y="32186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与 React/Vue</a:t>
            </a:r>
            <a:endParaRPr lang="en-US" sz="1500" dirty="0"/>
          </a:p>
        </p:txBody>
      </p:sp>
      <p:sp>
        <p:nvSpPr>
          <p:cNvPr id="28" name="Text 21"/>
          <p:cNvSpPr/>
          <p:nvPr/>
        </p:nvSpPr>
        <p:spPr>
          <a:xfrm>
            <a:off x="4389120" y="3218688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使用差异与最佳实践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731520" y="3749040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1987" y="3829507"/>
            <a:ext cx="204826" cy="20482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1234440" y="3749040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24"/>
          <p:cNvSpPr/>
          <p:nvPr/>
        </p:nvSpPr>
        <p:spPr>
          <a:xfrm>
            <a:off x="1645920" y="37490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视觉测试工具全景</a:t>
            </a:r>
            <a:endParaRPr lang="en-US" sz="1500" dirty="0"/>
          </a:p>
        </p:txBody>
      </p:sp>
      <p:sp>
        <p:nvSpPr>
          <p:cNvPr id="33" name="Text 25"/>
          <p:cNvSpPr/>
          <p:nvPr/>
        </p:nvSpPr>
        <p:spPr>
          <a:xfrm>
            <a:off x="4389120" y="374904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/ Chromatic / Percy / Applitools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31520" y="4279392"/>
            <a:ext cx="365760" cy="36576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11987" y="4359859"/>
            <a:ext cx="204826" cy="204826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1234440" y="4279392"/>
            <a:ext cx="411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28"/>
          <p:cNvSpPr/>
          <p:nvPr/>
        </p:nvSpPr>
        <p:spPr>
          <a:xfrm>
            <a:off x="1645920" y="427939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工具选择与总结</a:t>
            </a:r>
            <a:endParaRPr lang="en-US" sz="1500" dirty="0"/>
          </a:p>
        </p:txBody>
      </p:sp>
      <p:sp>
        <p:nvSpPr>
          <p:cNvPr id="38" name="Text 29"/>
          <p:cNvSpPr/>
          <p:nvPr/>
        </p:nvSpPr>
        <p:spPr>
          <a:xfrm>
            <a:off x="4389120" y="4279392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推荐方案与完整工作流</a:t>
            </a:r>
            <a:endParaRPr lang="en-US" sz="1100" dirty="0"/>
          </a:p>
        </p:txBody>
      </p:sp>
      <p:sp>
        <p:nvSpPr>
          <p:cNvPr id="39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25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3B82F6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前端组件化基础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与 Component 的关系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25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前端组件化基础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 DOM？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= Document Object Model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38404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浏览器将 HTML 解析后生成的树形结构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 HTML 标签都是一个 DOM 节点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浏览器用它来计算布局、绘制像素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响应用户交互（点击、滚动）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846320" y="1097280"/>
            <a:ext cx="3840480" cy="3200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120640" y="123444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浏览器中的 DOM 树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120640" y="164592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&lt;body&gt;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id="app"&gt;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&lt;nav class="navbar"&gt;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&lt;a href="/"&gt;首页&lt;/a&gt;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&lt;/nav&gt;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&lt;main&gt;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&lt;div class="card"&gt;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&lt;h3&gt;巴黎&lt;/h3&gt;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&lt;/main&gt;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&lt;/body&gt;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731520" y="420624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你在浏览器 Elements 面板中看到的就是 DOM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25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前端组件化基础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什么是组件（Component）？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4572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 = 可复用的 UI 构建块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645920"/>
            <a:ext cx="45720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一个函数/对象，描述“在某些数据下 UI 应该长什么样”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组件本身不存在于页面上（浏览器看不到 &lt;Card&gt;）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组件渲染出的 &lt;div&gt;、&lt;nav&gt; 等才是真实 DOM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3017520"/>
            <a:ext cx="365760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31089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组件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14400" y="3429000"/>
            <a:ext cx="32918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title })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return &lt;div&gt;{title}&lt;/div&gt;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754880" y="3017520"/>
            <a:ext cx="393192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4937760" y="31089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组件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937760" y="3429000"/>
            <a:ext cx="3566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&lt;div&gt;{{ title }}&lt;/div&gt;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&lt;script setup&gt;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defineProps(['title'])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&lt;/script&gt;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25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前端组件化基础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三层关系：Component → Virtual DOM → Real DOM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28600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1371600"/>
            <a:ext cx="548640" cy="54864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901" y="14923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6868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你写的代码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(JSX / .vue)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291840" y="1188720"/>
            <a:ext cx="228600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4160520" y="1371600"/>
            <a:ext cx="548640" cy="54864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81221" y="1492301"/>
            <a:ext cx="307238" cy="30723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42900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342900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框架内部维护的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轻量级 JS 对象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5852160" y="1188720"/>
            <a:ext cx="2286000" cy="25603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720840" y="1371600"/>
            <a:ext cx="548640" cy="54864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1541" y="1492301"/>
            <a:ext cx="307238" cy="307238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5989320" y="2103120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DOM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5989320" y="25146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浏览器渲染的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元素树</a:t>
            </a:r>
            <a:endParaRPr lang="en-US" sz="1100" dirty="0"/>
          </a:p>
        </p:txBody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80360" y="2103120"/>
            <a:ext cx="365760" cy="365760"/>
          </a:xfrm>
          <a:prstGeom prst="rect">
            <a:avLst/>
          </a:prstGeom>
        </p:spPr>
      </p:pic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440680" y="2103120"/>
            <a:ext cx="365760" cy="36576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组件是“蓝图”，DOM 是“实物”。组件描述“要什么”，DOM 是“最终呈现的东西”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25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前端组件化基础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类比理解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46888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Component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建筑图纸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9144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可复用，描述结构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0" y="1188720"/>
            <a:ext cx="246888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5760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模型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6576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轻量预览，计算差异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17920" y="1188720"/>
            <a:ext cx="2468880" cy="164592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00800" y="132588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DOM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737360"/>
            <a:ext cx="2103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实体建筑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400800" y="21945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真正矗立在那里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3200400"/>
            <a:ext cx="7680960" cy="128016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914400" y="329184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关键要点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914400" y="365760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组件不等于 DOM — 组件是 JS 函数，DOM 是浏览器节点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一个组件可以渲染 0 个、1 个或多个 DOM 节点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组件复用 ≠ DOM 复用 — 每次使用组件都创建新 DOM 实例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DOM 负责对比差异，最小化真实 DOM 更新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25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61DAF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61DAF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核心概念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组件的核心元素与语法对照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25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核心概念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组件核心元素总览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468880" cy="1371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37160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926" y="1462126"/>
            <a:ext cx="230429" cy="230429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4630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模板/JSX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46304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描述 UI 结构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474720" y="1188720"/>
            <a:ext cx="2468880" cy="1371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3657600" y="137160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8126" y="1462126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2062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 State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420624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驱动 UI 变化的数据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217920" y="1188720"/>
            <a:ext cx="2468880" cy="1371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0" y="137160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1326" y="1462126"/>
            <a:ext cx="230429" cy="230429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949440" y="137160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6949440" y="16916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父组件传入的参数</a:t>
            </a:r>
            <a:endParaRPr lang="en-US" sz="1000" dirty="0"/>
          </a:p>
        </p:txBody>
      </p:sp>
      <p:sp>
        <p:nvSpPr>
          <p:cNvPr id="21" name="Shape 16"/>
          <p:cNvSpPr/>
          <p:nvPr/>
        </p:nvSpPr>
        <p:spPr>
          <a:xfrm>
            <a:off x="731520" y="2834640"/>
            <a:ext cx="2468880" cy="1371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914400" y="301752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926" y="3108046"/>
            <a:ext cx="230429" cy="230429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46304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 Events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146304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用户交互的响应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3474720" y="2834640"/>
            <a:ext cx="2468880" cy="1371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1"/>
          <p:cNvSpPr/>
          <p:nvPr/>
        </p:nvSpPr>
        <p:spPr>
          <a:xfrm>
            <a:off x="3657600" y="301752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48126" y="3108046"/>
            <a:ext cx="230429" cy="230429"/>
          </a:xfrm>
          <a:prstGeom prst="rect">
            <a:avLst/>
          </a:prstGeom>
        </p:spPr>
      </p:pic>
      <p:sp>
        <p:nvSpPr>
          <p:cNvPr id="29" name="Text 22"/>
          <p:cNvSpPr/>
          <p:nvPr/>
        </p:nvSpPr>
        <p:spPr>
          <a:xfrm>
            <a:off x="420624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</a:t>
            </a:r>
            <a:endParaRPr lang="en-US" sz="1300" dirty="0"/>
          </a:p>
        </p:txBody>
      </p:sp>
      <p:sp>
        <p:nvSpPr>
          <p:cNvPr id="30" name="Text 23"/>
          <p:cNvSpPr/>
          <p:nvPr/>
        </p:nvSpPr>
        <p:spPr>
          <a:xfrm>
            <a:off x="420624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创建→挂载→更新→销毁</a:t>
            </a:r>
            <a:endParaRPr lang="en-US" sz="1000" dirty="0"/>
          </a:p>
        </p:txBody>
      </p:sp>
      <p:sp>
        <p:nvSpPr>
          <p:cNvPr id="31" name="Shape 24"/>
          <p:cNvSpPr/>
          <p:nvPr/>
        </p:nvSpPr>
        <p:spPr>
          <a:xfrm>
            <a:off x="6217920" y="2834640"/>
            <a:ext cx="2468880" cy="13716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Shape 25"/>
          <p:cNvSpPr/>
          <p:nvPr/>
        </p:nvSpPr>
        <p:spPr>
          <a:xfrm>
            <a:off x="6400800" y="301752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3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1326" y="3108046"/>
            <a:ext cx="230429" cy="230429"/>
          </a:xfrm>
          <a:prstGeom prst="rect">
            <a:avLst/>
          </a:prstGeom>
        </p:spPr>
      </p:pic>
      <p:sp>
        <p:nvSpPr>
          <p:cNvPr id="34" name="Text 26"/>
          <p:cNvSpPr/>
          <p:nvPr/>
        </p:nvSpPr>
        <p:spPr>
          <a:xfrm>
            <a:off x="6949440" y="3017520"/>
            <a:ext cx="1554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样式 Styles</a:t>
            </a:r>
            <a:endParaRPr lang="en-US" sz="1300" dirty="0"/>
          </a:p>
        </p:txBody>
      </p:sp>
      <p:sp>
        <p:nvSpPr>
          <p:cNvPr id="35" name="Text 27"/>
          <p:cNvSpPr/>
          <p:nvPr/>
        </p:nvSpPr>
        <p:spPr>
          <a:xfrm>
            <a:off x="6949440" y="333756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/ Scoped / Tailwind</a:t>
            </a:r>
            <a:endParaRPr lang="en-US" sz="1000" dirty="0"/>
          </a:p>
        </p:txBody>
      </p:sp>
      <p:sp>
        <p:nvSpPr>
          <p:cNvPr id="36" name="Text 28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25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核心概念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vs Vue 语法对照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元素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UI 描述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状态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useState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ref / reactive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计算值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useMemo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computed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属性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 (函数参数)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defineProps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onClick={fn}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@click="fn"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子传父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 传回调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defineEmits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双向绑定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受控组件模式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v-model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生命周期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useEffect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onMounted/watch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路由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react-router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vue-router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089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全局状态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Zustand/Context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Pinia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25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核心概念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模板 / JSX — 描述 UI 长什么样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657600" cy="2926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2801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— JSX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645920"/>
            <a:ext cx="329184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return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className="card"&gt;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{isLoading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? &lt;Spinner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 &lt;Content data={data} /&gt;}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{items.map(item =&gt;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&lt;Item key={item.id}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)}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188720"/>
            <a:ext cx="3931920" cy="29260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28016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— Template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645920"/>
            <a:ext cx="35661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&lt;template&gt;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&lt;div class="card"&gt;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&lt;Spinner v-if="isLoading"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&lt;Content v-else :data="data"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&lt;Item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v-for="item in items"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:key="item.id"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&lt;/div&gt;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&lt;/template&gt;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核心思想一致：声明式渲染 — 告诉框架“要什么”，框架负责“怎么做”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25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 核心概念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状态（State）与 事件（Events）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状态管理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15087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[count, setCount]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= useState(0)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count = ref(0)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4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事件处理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937760" y="15087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React: 事件就是 Props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&lt;Child onSave={fn} /&gt;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Vue: emit 机制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&lt;Child @save="fn"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emit('save', data)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365760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0175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Props — 父传子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914400" y="3337560"/>
            <a:ext cx="3291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React: 函数参数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function Card({ title }) {...}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Vue: defineProps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 props = defineProps({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title: String })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754880" y="2926080"/>
            <a:ext cx="3931920" cy="15544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937760" y="30175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生命周期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4937760" y="3337560"/>
            <a:ext cx="35661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React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useEffect(() =&gt; { ... }, [])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Vue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onMounted(() =&gt; { ... })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onUnmounted(() =&gt; { ... })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25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42B883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42B883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组件分类全景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 / 逻辑 / 布局 / 导航 / 输入 / 展示 / 反馈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25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组件分类全景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按职责分类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2468880" cy="28346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1600200" y="1371600"/>
            <a:ext cx="548640" cy="54864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20901" y="1492301"/>
            <a:ext cx="307238" cy="30723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91440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展示组件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91440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（哑组件）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00584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只负责渲染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接收 Props → 输出 UI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无状态或极少状态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3474720" y="1188720"/>
            <a:ext cx="2468880" cy="28346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4343400" y="1371600"/>
            <a:ext cx="548640" cy="54864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4101" y="1492301"/>
            <a:ext cx="307238" cy="307238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65760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容器/逻辑组件</a:t>
            </a:r>
            <a:endParaRPr lang="en-US" sz="1400" dirty="0"/>
          </a:p>
        </p:txBody>
      </p:sp>
      <p:sp>
        <p:nvSpPr>
          <p:cNvPr id="16" name="Text 12"/>
          <p:cNvSpPr/>
          <p:nvPr/>
        </p:nvSpPr>
        <p:spPr>
          <a:xfrm>
            <a:off x="365760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（智能组件）</a:t>
            </a:r>
            <a:endParaRPr lang="en-US" sz="1000" dirty="0"/>
          </a:p>
        </p:txBody>
      </p:sp>
      <p:sp>
        <p:nvSpPr>
          <p:cNvPr id="17" name="Text 13"/>
          <p:cNvSpPr/>
          <p:nvPr/>
        </p:nvSpPr>
        <p:spPr>
          <a:xfrm>
            <a:off x="374904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管理状态，调用 API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把数据传给展示组件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不关心渲染细节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6217920" y="1188720"/>
            <a:ext cx="2468880" cy="28346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7086600" y="1371600"/>
            <a:ext cx="548640" cy="54864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7301" y="1492301"/>
            <a:ext cx="307238" cy="307238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00800" y="210312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页面组件</a:t>
            </a:r>
            <a:endParaRPr lang="en-US" sz="1400" dirty="0"/>
          </a:p>
        </p:txBody>
      </p:sp>
      <p:sp>
        <p:nvSpPr>
          <p:cNvPr id="22" name="Text 17"/>
          <p:cNvSpPr/>
          <p:nvPr/>
        </p:nvSpPr>
        <p:spPr>
          <a:xfrm>
            <a:off x="6400800" y="242316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（路由级别）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6492240" y="2743200"/>
            <a:ext cx="1920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对应一个 URL 路径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组合多个子组件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构成完整页面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25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组件分类全景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按功能分类（UI 组件库标准分类）</a:t>
            </a:r>
            <a:endParaRPr lang="en-US" sz="26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6035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分类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典型组件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3B82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布局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Layout, Grid, Container, Flex, Sidebar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61DAF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导航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Navbar, Tabs, Breadcrumb, Pagination, Menu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0B98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数据录入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Input, Select, Checkbox, DatePicker, Upload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数据展示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Card, Table, List, Carousel, Avatar, Tag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478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反馈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Modal, Toast, Alert, Spinner, Skeleton, Progress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8B5CF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通用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Button, Icon, Typography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参考: Ant Design (70+)  |  MUI (60+)  |  Element Plus (70+)  |  shadcn/ui (40+)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F4785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F4785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介绍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组件的独立工作台 + 活文档 + 测试平台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25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介绍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是什么？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09728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4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开源的 UI 组件开发与文档化工具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31520" y="15544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在隔离环境中独立开发、测试和展示 UI 组件，无需启动整个应用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31520" y="2103120"/>
            <a:ext cx="2468880" cy="1005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68680" y="2194560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24" y="2271004"/>
            <a:ext cx="194584" cy="194584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258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Stories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13258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每个组件的不同状态/变体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3474720" y="2103120"/>
            <a:ext cx="2468880" cy="1005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3611880" y="2194560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324" y="2271004"/>
            <a:ext cx="194584" cy="194584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40690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Controls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40690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实时调整 Props 参数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2103120"/>
            <a:ext cx="2468880" cy="1005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2194560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524" y="2271004"/>
            <a:ext cx="194584" cy="1945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219456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</a:t>
            </a:r>
            <a:endParaRPr lang="en-US" sz="1200" dirty="0"/>
          </a:p>
        </p:txBody>
      </p:sp>
      <p:sp>
        <p:nvSpPr>
          <p:cNvPr id="22" name="Text 17"/>
          <p:cNvSpPr/>
          <p:nvPr/>
        </p:nvSpPr>
        <p:spPr>
          <a:xfrm>
            <a:off x="6812280" y="2514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记录事件回调日志</a:t>
            </a:r>
            <a:endParaRPr lang="en-US" sz="1000" dirty="0"/>
          </a:p>
        </p:txBody>
      </p:sp>
      <p:sp>
        <p:nvSpPr>
          <p:cNvPr id="23" name="Shape 18"/>
          <p:cNvSpPr/>
          <p:nvPr/>
        </p:nvSpPr>
        <p:spPr>
          <a:xfrm>
            <a:off x="731520" y="3291840"/>
            <a:ext cx="2468880" cy="1005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868680" y="3383280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4" y="3459724"/>
            <a:ext cx="194584" cy="194584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32588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Docs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32588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自动生成组件 API 文档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474720" y="3291840"/>
            <a:ext cx="2468880" cy="1005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3"/>
          <p:cNvSpPr/>
          <p:nvPr/>
        </p:nvSpPr>
        <p:spPr>
          <a:xfrm>
            <a:off x="3611880" y="3383280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324" y="3459724"/>
            <a:ext cx="194584" cy="194584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406908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Viewport</a:t>
            </a:r>
            <a:endParaRPr lang="en-US" sz="1200" dirty="0"/>
          </a:p>
        </p:txBody>
      </p:sp>
      <p:sp>
        <p:nvSpPr>
          <p:cNvPr id="32" name="Text 25"/>
          <p:cNvSpPr/>
          <p:nvPr/>
        </p:nvSpPr>
        <p:spPr>
          <a:xfrm>
            <a:off x="406908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模拟不同屏幕尺寸</a:t>
            </a:r>
            <a:endParaRPr lang="en-US" sz="1000" dirty="0"/>
          </a:p>
        </p:txBody>
      </p:sp>
      <p:sp>
        <p:nvSpPr>
          <p:cNvPr id="33" name="Shape 26"/>
          <p:cNvSpPr/>
          <p:nvPr/>
        </p:nvSpPr>
        <p:spPr>
          <a:xfrm>
            <a:off x="6217920" y="3291840"/>
            <a:ext cx="2468880" cy="100584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4" name="Shape 27"/>
          <p:cNvSpPr/>
          <p:nvPr/>
        </p:nvSpPr>
        <p:spPr>
          <a:xfrm>
            <a:off x="6355080" y="3383280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3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524" y="3459724"/>
            <a:ext cx="194584" cy="194584"/>
          </a:xfrm>
          <a:prstGeom prst="rect">
            <a:avLst/>
          </a:prstGeom>
        </p:spPr>
      </p:pic>
      <p:sp>
        <p:nvSpPr>
          <p:cNvPr id="36" name="Text 28"/>
          <p:cNvSpPr/>
          <p:nvPr/>
        </p:nvSpPr>
        <p:spPr>
          <a:xfrm>
            <a:off x="6812280" y="3383280"/>
            <a:ext cx="1645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A11y</a:t>
            </a:r>
            <a:endParaRPr lang="en-US" sz="1200" dirty="0"/>
          </a:p>
        </p:txBody>
      </p:sp>
      <p:sp>
        <p:nvSpPr>
          <p:cNvPr id="37" name="Text 29"/>
          <p:cNvSpPr/>
          <p:nvPr/>
        </p:nvSpPr>
        <p:spPr>
          <a:xfrm>
            <a:off x="6812280" y="3703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内置可访问性检查</a:t>
            </a:r>
            <a:endParaRPr lang="en-US" sz="1000" dirty="0"/>
          </a:p>
        </p:txBody>
      </p:sp>
      <p:sp>
        <p:nvSpPr>
          <p:cNvPr id="38" name="Text 3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25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介绍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React/Vue 负责“造”组件，Storybook 负责“晒”组件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188720"/>
            <a:ext cx="347472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32588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/ Vue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914400" y="1691640"/>
            <a:ext cx="3108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厨房 + 食材 + 烹饪方法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14400" y="210312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用来构建组件的框架/库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组件的逻辑、渲染、状态管理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产出：可运行的应用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必须有（没它组件不存在）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54880" y="1188720"/>
            <a:ext cx="3931920" cy="2743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937760" y="1325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4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937760" y="169164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= 试菜台 + 菜品展示柜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937760" y="2103120"/>
            <a:ext cx="35661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展示和测试组件的工具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组件的隔离预览、文档、调试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产出：组件文档站 + 测试报告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可选的（没它应用照样跑）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31520" y="4114800"/>
            <a:ext cx="7680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两者是互补关系，不是竞争关系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25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F59E0B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与 React/Vue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使用差异与最佳实践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25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与 React/Vue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 文件写法对比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3657600" cy="3200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1887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1DA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(.stories.tsx)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155448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Button } from './Button'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Primary: Story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args: { label: '点击'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自定义渲染: 直接写 JSX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render: (args) =&gt; (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 {...args} /&gt;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54880" y="1097280"/>
            <a:ext cx="3931920" cy="3200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937760" y="118872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B88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Vue (.stories.ts)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937760" y="1554480"/>
            <a:ext cx="356616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Button from './Button.vue'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const Primary: Story = 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args: { label: '点击'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自定义渲染: 返回组件选项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render: (args) =&gt; ({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components: { Button },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template: `&lt;Button v-bind="args"/&gt;`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25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与 React/Vue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使用差异总结</a:t>
            </a:r>
            <a:endParaRPr lang="en-US" sz="26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2926080"/>
                <a:gridCol w="292608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维度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React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Vue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render 函数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直接写 JSX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返回组件选项对象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 传递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&lt;Comp {...args} /&gt;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&lt;Comp v-bind="args" /&gt;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事件处理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props 即事件，自动识别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需要 argTypes 声明 emit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插槽/Children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children 更简洁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v-slot 语法稍复杂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类型推断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TSX 原生支持，优秀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.vue 文件需额外处理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社区生态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最成熟，示例最多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很好，偶尔需自行适配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编写体验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JSX 天然契合 Storybook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写法略显冗长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731520" y="429768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结论: Storybook 核心体验非常接近，但 React JSX 写法更简洁自然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/ 25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1371600"/>
            <a:ext cx="1371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400" b="1" dirty="0">
                <a:solidFill>
                  <a:srgbClr val="10B981">
                    <a:alpha val="70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6400" dirty="0"/>
          </a:p>
        </p:txBody>
      </p:sp>
      <p:sp>
        <p:nvSpPr>
          <p:cNvPr id="4" name="Text 2"/>
          <p:cNvSpPr/>
          <p:nvPr/>
        </p:nvSpPr>
        <p:spPr>
          <a:xfrm>
            <a:off x="2286000" y="14630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视觉测试工具全景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2286000" y="22860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/ Chromatic / Percy / Applitools / BackstopJS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/ 25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视觉测试工具全景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主流视觉测试工具</a:t>
            </a:r>
            <a:endParaRPr lang="en-US" sz="2600" dirty="0"/>
          </a:p>
        </p:txBody>
      </p:sp>
      <p:sp>
        <p:nvSpPr>
          <p:cNvPr id="6" name="Shape 4"/>
          <p:cNvSpPr/>
          <p:nvPr/>
        </p:nvSpPr>
        <p:spPr>
          <a:xfrm>
            <a:off x="731520" y="1097280"/>
            <a:ext cx="2468880" cy="1600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68680" y="1207008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5124" y="1283452"/>
            <a:ext cx="194584" cy="194584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2588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EAD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2377440" y="1207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86868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toHaveScreenshot()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像素级截图对比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跨浏览器支持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3474720" y="1097280"/>
            <a:ext cx="2468880" cy="1600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3611880" y="1207008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88324" y="1283452"/>
            <a:ext cx="194584" cy="194584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06908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4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Chromatic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5120640" y="1207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17" name="Text 13"/>
          <p:cNvSpPr/>
          <p:nvPr/>
        </p:nvSpPr>
        <p:spPr>
          <a:xfrm>
            <a:off x="361188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生态首选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Review UI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自动检测变化</a:t>
            </a:r>
            <a:endParaRPr lang="en-US" sz="1000" dirty="0"/>
          </a:p>
        </p:txBody>
      </p:sp>
      <p:sp>
        <p:nvSpPr>
          <p:cNvPr id="18" name="Shape 14"/>
          <p:cNvSpPr/>
          <p:nvPr/>
        </p:nvSpPr>
        <p:spPr>
          <a:xfrm>
            <a:off x="6217920" y="1097280"/>
            <a:ext cx="2468880" cy="1600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9" name="Shape 15"/>
          <p:cNvSpPr/>
          <p:nvPr/>
        </p:nvSpPr>
        <p:spPr>
          <a:xfrm>
            <a:off x="6355080" y="1207008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524" y="1283452"/>
            <a:ext cx="194584" cy="19458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812280" y="12070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Percy</a:t>
            </a:r>
            <a:endParaRPr lang="en-US" sz="1300" dirty="0"/>
          </a:p>
        </p:txBody>
      </p:sp>
      <p:sp>
        <p:nvSpPr>
          <p:cNvPr id="22" name="Text 17"/>
          <p:cNvSpPr/>
          <p:nvPr/>
        </p:nvSpPr>
        <p:spPr>
          <a:xfrm>
            <a:off x="7863840" y="12070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SaaS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355080" y="16002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BrowserStack 旗下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智能对比算法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多框架支持</a:t>
            </a:r>
            <a:endParaRPr lang="en-US" sz="1000" dirty="0"/>
          </a:p>
        </p:txBody>
      </p:sp>
      <p:sp>
        <p:nvSpPr>
          <p:cNvPr id="24" name="Shape 19"/>
          <p:cNvSpPr/>
          <p:nvPr/>
        </p:nvSpPr>
        <p:spPr>
          <a:xfrm>
            <a:off x="731520" y="2926080"/>
            <a:ext cx="2468880" cy="1600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0"/>
          <p:cNvSpPr/>
          <p:nvPr/>
        </p:nvSpPr>
        <p:spPr>
          <a:xfrm>
            <a:off x="868680" y="3035808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5124" y="3112252"/>
            <a:ext cx="194584" cy="194584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132588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Applitools</a:t>
            </a:r>
            <a:endParaRPr lang="en-US" sz="1300" dirty="0"/>
          </a:p>
        </p:txBody>
      </p:sp>
      <p:sp>
        <p:nvSpPr>
          <p:cNvPr id="28" name="Text 22"/>
          <p:cNvSpPr/>
          <p:nvPr/>
        </p:nvSpPr>
        <p:spPr>
          <a:xfrm>
            <a:off x="2377440" y="3035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SaaS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86868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AI 驱动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像人眼识别差异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多对比模式</a:t>
            </a:r>
            <a:endParaRPr lang="en-US" sz="1000" dirty="0"/>
          </a:p>
        </p:txBody>
      </p:sp>
      <p:sp>
        <p:nvSpPr>
          <p:cNvPr id="30" name="Shape 24"/>
          <p:cNvSpPr/>
          <p:nvPr/>
        </p:nvSpPr>
        <p:spPr>
          <a:xfrm>
            <a:off x="3474720" y="2926080"/>
            <a:ext cx="2468880" cy="1600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1" name="Shape 25"/>
          <p:cNvSpPr/>
          <p:nvPr/>
        </p:nvSpPr>
        <p:spPr>
          <a:xfrm>
            <a:off x="3611880" y="3035808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3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88324" y="3112252"/>
            <a:ext cx="194584" cy="194584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406908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BackstopJS</a:t>
            </a:r>
            <a:endParaRPr lang="en-US" sz="1300" dirty="0"/>
          </a:p>
        </p:txBody>
      </p:sp>
      <p:sp>
        <p:nvSpPr>
          <p:cNvPr id="34" name="Text 27"/>
          <p:cNvSpPr/>
          <p:nvPr/>
        </p:nvSpPr>
        <p:spPr>
          <a:xfrm>
            <a:off x="5120640" y="3035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</a:t>
            </a:r>
            <a:endParaRPr lang="en-US" sz="900" dirty="0"/>
          </a:p>
        </p:txBody>
      </p:sp>
      <p:sp>
        <p:nvSpPr>
          <p:cNvPr id="35" name="Text 28"/>
          <p:cNvSpPr/>
          <p:nvPr/>
        </p:nvSpPr>
        <p:spPr>
          <a:xfrm>
            <a:off x="361188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完全免费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配置简单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内置 HTML 报告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6217920" y="2926080"/>
            <a:ext cx="2468880" cy="16002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7" name="Shape 30"/>
          <p:cNvSpPr/>
          <p:nvPr/>
        </p:nvSpPr>
        <p:spPr>
          <a:xfrm>
            <a:off x="6355080" y="3035808"/>
            <a:ext cx="347472" cy="347472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38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31524" y="3112252"/>
            <a:ext cx="194584" cy="19458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6812280" y="30358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Lost Pixel</a:t>
            </a:r>
            <a:endParaRPr lang="en-US" sz="1300" dirty="0"/>
          </a:p>
        </p:txBody>
      </p:sp>
      <p:sp>
        <p:nvSpPr>
          <p:cNvPr id="40" name="Text 32"/>
          <p:cNvSpPr/>
          <p:nvPr/>
        </p:nvSpPr>
        <p:spPr>
          <a:xfrm>
            <a:off x="7863840" y="3035808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开源+SaaS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6355080" y="342900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支持 Storybook + 页面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简洁的 GitHub 集成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开源版功能完整</a:t>
            </a:r>
            <a:endParaRPr lang="en-US" sz="1000" dirty="0"/>
          </a:p>
        </p:txBody>
      </p:sp>
      <p:sp>
        <p:nvSpPr>
          <p:cNvPr id="42" name="Text 34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 / 25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457200" cy="457200"/>
          </a:xfrm>
          <a:prstGeom prst="roundRect">
            <a:avLst>
              <a:gd name="adj" fmla="val 16000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1143000" y="320040"/>
            <a:ext cx="6858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视觉测试工具全景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工具对比一览</a:t>
            </a:r>
            <a:endParaRPr lang="en-US" sz="26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097280"/>
          <a:ext cx="768096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097280"/>
                <a:gridCol w="1097280"/>
                <a:gridCol w="1463040"/>
                <a:gridCol w="256032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工具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类型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AI 对比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免费方案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适用场景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563EB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Playwright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完全免费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E2E + 组件测试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Chromatic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有限额度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Storybook 组件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Percy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⚠️ 智能算法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多框架通用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Applitools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Visual AI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企业级大规模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BackstopJS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完全免费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轻量级快速上手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Lost Pixel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开源+SaaS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❌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✅ 开源版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Storybook + 页面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33415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731520" y="3657600"/>
            <a:ext cx="7680960" cy="9144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91440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选择建议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914400" y="39776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轻量起步 → Playwright（免费、内置） 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团队 Review → Chromatic/Percy   </a:t>
            </a:r>
            <a:pPr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减误报 → Applitools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/ 25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B11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3B82F6"/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27432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总结 — 完整工作流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097280"/>
            <a:ext cx="1920240" cy="2286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40080" y="1188720"/>
            <a:ext cx="320040" cy="320040"/>
          </a:xfrm>
          <a:prstGeom prst="ellipse">
            <a:avLst/>
          </a:prstGeom>
          <a:solidFill>
            <a:srgbClr val="61DAF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1188720" y="118872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279246" y="1279246"/>
            <a:ext cx="230429" cy="23042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4008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组件开发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40080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React/Vue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编写组件代码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2743200" y="1097280"/>
            <a:ext cx="1920240" cy="2286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>
            <a:off x="2834640" y="1188720"/>
            <a:ext cx="320040" cy="320040"/>
          </a:xfrm>
          <a:prstGeom prst="ellipse">
            <a:avLst/>
          </a:prstGeom>
          <a:solidFill>
            <a:srgbClr val="FF4785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3383280" y="118872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73806" y="1279246"/>
            <a:ext cx="230429" cy="23042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283464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文档化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2834640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隔离预览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自动文档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937760" y="1097280"/>
            <a:ext cx="1920240" cy="2286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17" name="Text 13"/>
          <p:cNvSpPr/>
          <p:nvPr/>
        </p:nvSpPr>
        <p:spPr>
          <a:xfrm>
            <a:off x="5029200" y="1188720"/>
            <a:ext cx="320040" cy="320040"/>
          </a:xfrm>
          <a:prstGeom prst="ellipse">
            <a:avLst/>
          </a:prstGeom>
          <a:solidFill>
            <a:srgbClr val="10B98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8" name="Shape 14"/>
          <p:cNvSpPr/>
          <p:nvPr/>
        </p:nvSpPr>
        <p:spPr>
          <a:xfrm>
            <a:off x="5577840" y="118872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8366" y="1279246"/>
            <a:ext cx="230429" cy="230429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502920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视觉测试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5029200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截图对比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回归检测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7132320" y="1097280"/>
            <a:ext cx="1920240" cy="228600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23" name="Text 18"/>
          <p:cNvSpPr/>
          <p:nvPr/>
        </p:nvSpPr>
        <p:spPr>
          <a:xfrm>
            <a:off x="7223760" y="1188720"/>
            <a:ext cx="320040" cy="320040"/>
          </a:xfrm>
          <a:prstGeom prst="ellipse">
            <a:avLst/>
          </a:prstGeom>
          <a:solidFill>
            <a:srgbClr val="F59E0B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1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4" name="Shape 19"/>
          <p:cNvSpPr/>
          <p:nvPr/>
        </p:nvSpPr>
        <p:spPr>
          <a:xfrm>
            <a:off x="7772400" y="1188720"/>
            <a:ext cx="411480" cy="411480"/>
          </a:xfrm>
          <a:prstGeom prst="ellipse">
            <a:avLst/>
          </a:prstGeom>
          <a:solidFill>
            <a:srgbClr val="1A2332"/>
          </a:solidFill>
          <a:ln/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926" y="1279246"/>
            <a:ext cx="230429" cy="230429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7223760" y="1737360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CI/CD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自动化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7223760" y="2377440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持续集成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自动验证</a:t>
            </a:r>
            <a:endParaRPr lang="en-US" sz="1000" dirty="0"/>
          </a:p>
        </p:txBody>
      </p:sp>
      <p:pic>
        <p:nvPicPr>
          <p:cNvPr id="2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331720" y="2011680"/>
            <a:ext cx="320040" cy="320040"/>
          </a:xfrm>
          <a:prstGeom prst="rect">
            <a:avLst/>
          </a:prstGeom>
        </p:spPr>
      </p:pic>
      <p:pic>
        <p:nvPicPr>
          <p:cNvPr id="29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26280" y="2011680"/>
            <a:ext cx="320040" cy="320040"/>
          </a:xfrm>
          <a:prstGeom prst="rect">
            <a:avLst/>
          </a:prstGeom>
        </p:spPr>
      </p:pic>
      <p:pic>
        <p:nvPicPr>
          <p:cNvPr id="30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720840" y="2011680"/>
            <a:ext cx="320040" cy="320040"/>
          </a:xfrm>
          <a:prstGeom prst="rect">
            <a:avLst/>
          </a:prstGeom>
        </p:spPr>
      </p:pic>
      <p:sp>
        <p:nvSpPr>
          <p:cNvPr id="31" name="Shape 22"/>
          <p:cNvSpPr/>
          <p:nvPr/>
        </p:nvSpPr>
        <p:spPr>
          <a:xfrm>
            <a:off x="731520" y="3657600"/>
            <a:ext cx="7680960" cy="1097280"/>
          </a:xfrm>
          <a:prstGeom prst="rect">
            <a:avLst/>
          </a:prstGeom>
          <a:solidFill>
            <a:srgbClr val="1A2332"/>
          </a:solidFill>
          <a:ln/>
          <a:effectLst>
            <a:outerShdw sx="100000" sy="100000" kx="0" ky="0" algn="bl" rotWithShape="0" blurRad="76200" dist="25400" dir="8100000">
              <a:srgbClr val="000000">
                <a:alpha val="18000"/>
              </a:srgbClr>
            </a:outerShdw>
          </a:effectLst>
        </p:spPr>
      </p:sp>
      <p:sp>
        <p:nvSpPr>
          <p:cNvPr id="32" name="Text 23"/>
          <p:cNvSpPr/>
          <p:nvPr/>
        </p:nvSpPr>
        <p:spPr>
          <a:xfrm>
            <a:off x="914400" y="37033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B82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核心要点</a:t>
            </a:r>
            <a:endParaRPr lang="en-US" sz="1300" dirty="0"/>
          </a:p>
        </p:txBody>
      </p:sp>
      <p:sp>
        <p:nvSpPr>
          <p:cNvPr id="33" name="Text 24"/>
          <p:cNvSpPr/>
          <p:nvPr/>
        </p:nvSpPr>
        <p:spPr>
          <a:xfrm>
            <a:off x="914400" y="397764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 是浏览器的标准，Component 是框架的抽象 — 组件渲染出 DOM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React/Vue 核心思想一致（组件化 + 响应式 + 声明式），只是语法不同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Storybook 是组件的“配套工具” — 造组件用框架，晒组件用 Storybook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视觉测试从 Playwright 免费方案起步，按需升级到 Chromatic/Applitools</a:t>
            </a:r>
            <a:endParaRPr lang="en-US" sz="1100" dirty="0"/>
          </a:p>
        </p:txBody>
      </p:sp>
      <p:sp>
        <p:nvSpPr>
          <p:cNvPr id="34" name="Text 25"/>
          <p:cNvSpPr/>
          <p:nvPr/>
        </p:nvSpPr>
        <p:spPr>
          <a:xfrm>
            <a:off x="7772400" y="475488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/ 25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前端组件化开发与 UI 视觉测试</dc:title>
  <dc:subject>PptxGenJS Presentation</dc:subject>
  <dc:creator>Frontend Testing Guide</dc:creator>
  <cp:lastModifiedBy>Frontend Testing Guide</cp:lastModifiedBy>
  <cp:revision>1</cp:revision>
  <dcterms:created xsi:type="dcterms:W3CDTF">2026-03-17T14:41:15Z</dcterms:created>
  <dcterms:modified xsi:type="dcterms:W3CDTF">2026-03-17T14:41:15Z</dcterms:modified>
</cp:coreProperties>
</file>